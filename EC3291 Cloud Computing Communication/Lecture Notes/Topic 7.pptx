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85"/>
    <p:restoredTop sz="94682"/>
  </p:normalViewPr>
  <p:slideViewPr>
    <p:cSldViewPr snapToGrid="0">
      <p:cViewPr varScale="1">
        <p:scale>
          <a:sx n="119" d="100"/>
          <a:sy n="119" d="100"/>
        </p:scale>
        <p:origin x="44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8A19CE82-605F-4B1F-9FD9-3D692EB8C5DD}"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E8D2E71D-1D12-412E-B1A0-C1E795005086}">
      <dgm:prSet/>
      <dgm:spPr/>
      <dgm:t>
        <a:bodyPr/>
        <a:lstStyle/>
        <a:p>
          <a:r>
            <a:rPr lang="en-MY" b="1"/>
            <a:t>On-demand Self-Service</a:t>
          </a:r>
          <a:r>
            <a:rPr lang="en-MY"/>
            <a:t>: Users can provision resources as needed.</a:t>
          </a:r>
          <a:endParaRPr lang="en-US"/>
        </a:p>
      </dgm:t>
    </dgm:pt>
    <dgm:pt modelId="{C54EAB87-6AF2-45AE-B75F-32BFB0830C11}" type="parTrans" cxnId="{342FAB30-98D7-40B7-AEBF-EE9A09FBCD4F}">
      <dgm:prSet/>
      <dgm:spPr/>
      <dgm:t>
        <a:bodyPr/>
        <a:lstStyle/>
        <a:p>
          <a:endParaRPr lang="en-US"/>
        </a:p>
      </dgm:t>
    </dgm:pt>
    <dgm:pt modelId="{2390F07E-24D8-4316-9C84-5505840FEC38}" type="sibTrans" cxnId="{342FAB30-98D7-40B7-AEBF-EE9A09FBCD4F}">
      <dgm:prSet/>
      <dgm:spPr/>
      <dgm:t>
        <a:bodyPr/>
        <a:lstStyle/>
        <a:p>
          <a:endParaRPr lang="en-US"/>
        </a:p>
      </dgm:t>
    </dgm:pt>
    <dgm:pt modelId="{7AE20A57-4EFC-46EF-857F-8D9BE3EF88E9}">
      <dgm:prSet/>
      <dgm:spPr/>
      <dgm:t>
        <a:bodyPr/>
        <a:lstStyle/>
        <a:p>
          <a:r>
            <a:rPr lang="en-MY" b="1"/>
            <a:t>Resource Pooling</a:t>
          </a:r>
          <a:r>
            <a:rPr lang="en-MY"/>
            <a:t>: Providers pool computing resources to serve multiple clients.</a:t>
          </a:r>
          <a:endParaRPr lang="en-US"/>
        </a:p>
      </dgm:t>
    </dgm:pt>
    <dgm:pt modelId="{14A9710D-8F97-42D0-A615-BC6407882E6B}" type="parTrans" cxnId="{AF725E6F-1E8A-4525-9F1A-436C8B176217}">
      <dgm:prSet/>
      <dgm:spPr/>
      <dgm:t>
        <a:bodyPr/>
        <a:lstStyle/>
        <a:p>
          <a:endParaRPr lang="en-US"/>
        </a:p>
      </dgm:t>
    </dgm:pt>
    <dgm:pt modelId="{11E8FAEA-CB53-4EE3-98BE-F58B7CC5C4FB}" type="sibTrans" cxnId="{AF725E6F-1E8A-4525-9F1A-436C8B176217}">
      <dgm:prSet/>
      <dgm:spPr/>
      <dgm:t>
        <a:bodyPr/>
        <a:lstStyle/>
        <a:p>
          <a:endParaRPr lang="en-US"/>
        </a:p>
      </dgm:t>
    </dgm:pt>
    <dgm:pt modelId="{8219AF18-95D3-4AE7-8DE1-10FA86F218B4}">
      <dgm:prSet/>
      <dgm:spPr/>
      <dgm:t>
        <a:bodyPr/>
        <a:lstStyle/>
        <a:p>
          <a:r>
            <a:rPr lang="en-MY" b="1"/>
            <a:t>Rapid Elasticity</a:t>
          </a:r>
          <a:r>
            <a:rPr lang="en-MY"/>
            <a:t>: Scale resources up or down quickly.</a:t>
          </a:r>
          <a:endParaRPr lang="en-US"/>
        </a:p>
      </dgm:t>
    </dgm:pt>
    <dgm:pt modelId="{6339FD81-7C21-4325-9B6C-55C883600BE7}" type="parTrans" cxnId="{EFA52681-3748-4A5E-958A-BC317E607CB5}">
      <dgm:prSet/>
      <dgm:spPr/>
      <dgm:t>
        <a:bodyPr/>
        <a:lstStyle/>
        <a:p>
          <a:endParaRPr lang="en-US"/>
        </a:p>
      </dgm:t>
    </dgm:pt>
    <dgm:pt modelId="{9326CB69-65AF-46B3-959A-FAA37979271B}" type="sibTrans" cxnId="{EFA52681-3748-4A5E-958A-BC317E607CB5}">
      <dgm:prSet/>
      <dgm:spPr/>
      <dgm:t>
        <a:bodyPr/>
        <a:lstStyle/>
        <a:p>
          <a:endParaRPr lang="en-US"/>
        </a:p>
      </dgm:t>
    </dgm:pt>
    <dgm:pt modelId="{75D79494-B9A3-4DCA-B6B5-37C3972BDD1B}">
      <dgm:prSet/>
      <dgm:spPr/>
      <dgm:t>
        <a:bodyPr/>
        <a:lstStyle/>
        <a:p>
          <a:r>
            <a:rPr lang="en-MY" b="1"/>
            <a:t>Measured Service</a:t>
          </a:r>
          <a:r>
            <a:rPr lang="en-MY"/>
            <a:t>: Pay only for what you use. These features enable agility and cost-efficiency.</a:t>
          </a:r>
          <a:endParaRPr lang="en-US"/>
        </a:p>
      </dgm:t>
    </dgm:pt>
    <dgm:pt modelId="{4DF63FC3-E496-41F2-8B46-63D59393CE4D}" type="parTrans" cxnId="{F6EAD47F-9160-424A-82C9-4E109915F8AF}">
      <dgm:prSet/>
      <dgm:spPr/>
      <dgm:t>
        <a:bodyPr/>
        <a:lstStyle/>
        <a:p>
          <a:endParaRPr lang="en-US"/>
        </a:p>
      </dgm:t>
    </dgm:pt>
    <dgm:pt modelId="{8385A468-5032-4076-ABD5-65F4594A7FAC}" type="sibTrans" cxnId="{F6EAD47F-9160-424A-82C9-4E109915F8AF}">
      <dgm:prSet/>
      <dgm:spPr/>
      <dgm:t>
        <a:bodyPr/>
        <a:lstStyle/>
        <a:p>
          <a:endParaRPr lang="en-US"/>
        </a:p>
      </dgm:t>
    </dgm:pt>
    <dgm:pt modelId="{C313AA0B-03C6-424D-9116-9DFC2AA68D9F}" type="pres">
      <dgm:prSet presAssocID="{8A19CE82-605F-4B1F-9FD9-3D692EB8C5DD}" presName="root" presStyleCnt="0">
        <dgm:presLayoutVars>
          <dgm:dir/>
          <dgm:resizeHandles val="exact"/>
        </dgm:presLayoutVars>
      </dgm:prSet>
      <dgm:spPr/>
    </dgm:pt>
    <dgm:pt modelId="{359FE1AA-A0F8-49FD-9227-0F183F2365B9}" type="pres">
      <dgm:prSet presAssocID="{E8D2E71D-1D12-412E-B1A0-C1E795005086}" presName="compNode" presStyleCnt="0"/>
      <dgm:spPr/>
    </dgm:pt>
    <dgm:pt modelId="{11D1CAF2-B47A-4A02-B736-6516D90D1FDE}" type="pres">
      <dgm:prSet presAssocID="{E8D2E71D-1D12-412E-B1A0-C1E795005086}" presName="bgRect" presStyleLbl="bgShp" presStyleIdx="0" presStyleCnt="4"/>
      <dgm:spPr/>
    </dgm:pt>
    <dgm:pt modelId="{A503F973-2E7A-49B2-A88A-3B741507D792}" type="pres">
      <dgm:prSet presAssocID="{E8D2E71D-1D12-412E-B1A0-C1E79500508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irefighter"/>
        </a:ext>
      </dgm:extLst>
    </dgm:pt>
    <dgm:pt modelId="{7E61EE5B-1C58-4540-8556-ADA8E3A158A1}" type="pres">
      <dgm:prSet presAssocID="{E8D2E71D-1D12-412E-B1A0-C1E795005086}" presName="spaceRect" presStyleCnt="0"/>
      <dgm:spPr/>
    </dgm:pt>
    <dgm:pt modelId="{77CA12A2-1C58-4A57-B35E-A2778B966B22}" type="pres">
      <dgm:prSet presAssocID="{E8D2E71D-1D12-412E-B1A0-C1E795005086}" presName="parTx" presStyleLbl="revTx" presStyleIdx="0" presStyleCnt="4">
        <dgm:presLayoutVars>
          <dgm:chMax val="0"/>
          <dgm:chPref val="0"/>
        </dgm:presLayoutVars>
      </dgm:prSet>
      <dgm:spPr/>
    </dgm:pt>
    <dgm:pt modelId="{3E7BBDAA-0D21-4CDA-B1D1-57409A849F38}" type="pres">
      <dgm:prSet presAssocID="{2390F07E-24D8-4316-9C84-5505840FEC38}" presName="sibTrans" presStyleCnt="0"/>
      <dgm:spPr/>
    </dgm:pt>
    <dgm:pt modelId="{235E1A4E-ECA9-409B-A464-FF43FC8F0F3D}" type="pres">
      <dgm:prSet presAssocID="{7AE20A57-4EFC-46EF-857F-8D9BE3EF88E9}" presName="compNode" presStyleCnt="0"/>
      <dgm:spPr/>
    </dgm:pt>
    <dgm:pt modelId="{A04B86BE-1AA9-400D-B017-06F4A97E1D26}" type="pres">
      <dgm:prSet presAssocID="{7AE20A57-4EFC-46EF-857F-8D9BE3EF88E9}" presName="bgRect" presStyleLbl="bgShp" presStyleIdx="1" presStyleCnt="4"/>
      <dgm:spPr/>
    </dgm:pt>
    <dgm:pt modelId="{13F845AA-F7B5-4AB0-8944-1A0F5E02C793}" type="pres">
      <dgm:prSet presAssocID="{7AE20A57-4EFC-46EF-857F-8D9BE3EF88E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erver"/>
        </a:ext>
      </dgm:extLst>
    </dgm:pt>
    <dgm:pt modelId="{77891EDF-4BBC-40F1-AA9E-8C153463C799}" type="pres">
      <dgm:prSet presAssocID="{7AE20A57-4EFC-46EF-857F-8D9BE3EF88E9}" presName="spaceRect" presStyleCnt="0"/>
      <dgm:spPr/>
    </dgm:pt>
    <dgm:pt modelId="{11F36799-C3C2-4445-9120-A24579C38EEB}" type="pres">
      <dgm:prSet presAssocID="{7AE20A57-4EFC-46EF-857F-8D9BE3EF88E9}" presName="parTx" presStyleLbl="revTx" presStyleIdx="1" presStyleCnt="4">
        <dgm:presLayoutVars>
          <dgm:chMax val="0"/>
          <dgm:chPref val="0"/>
        </dgm:presLayoutVars>
      </dgm:prSet>
      <dgm:spPr/>
    </dgm:pt>
    <dgm:pt modelId="{F9CDA9A5-6F5C-4B45-829D-64B608805A29}" type="pres">
      <dgm:prSet presAssocID="{11E8FAEA-CB53-4EE3-98BE-F58B7CC5C4FB}" presName="sibTrans" presStyleCnt="0"/>
      <dgm:spPr/>
    </dgm:pt>
    <dgm:pt modelId="{8BAFF477-101C-473E-82B5-BAD99C79F495}" type="pres">
      <dgm:prSet presAssocID="{8219AF18-95D3-4AE7-8DE1-10FA86F218B4}" presName="compNode" presStyleCnt="0"/>
      <dgm:spPr/>
    </dgm:pt>
    <dgm:pt modelId="{89D69FFC-F8AC-4445-A60D-25CAADC352C0}" type="pres">
      <dgm:prSet presAssocID="{8219AF18-95D3-4AE7-8DE1-10FA86F218B4}" presName="bgRect" presStyleLbl="bgShp" presStyleIdx="2" presStyleCnt="4"/>
      <dgm:spPr/>
    </dgm:pt>
    <dgm:pt modelId="{95B8AB6E-3155-472D-BF76-05A69F7E65B0}" type="pres">
      <dgm:prSet presAssocID="{8219AF18-95D3-4AE7-8DE1-10FA86F218B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ow Temperature"/>
        </a:ext>
      </dgm:extLst>
    </dgm:pt>
    <dgm:pt modelId="{6FAB3518-22C4-46C8-AE6C-FFD66F426ED5}" type="pres">
      <dgm:prSet presAssocID="{8219AF18-95D3-4AE7-8DE1-10FA86F218B4}" presName="spaceRect" presStyleCnt="0"/>
      <dgm:spPr/>
    </dgm:pt>
    <dgm:pt modelId="{75AD39F4-F876-4CE2-B8A2-28F777FDFF25}" type="pres">
      <dgm:prSet presAssocID="{8219AF18-95D3-4AE7-8DE1-10FA86F218B4}" presName="parTx" presStyleLbl="revTx" presStyleIdx="2" presStyleCnt="4">
        <dgm:presLayoutVars>
          <dgm:chMax val="0"/>
          <dgm:chPref val="0"/>
        </dgm:presLayoutVars>
      </dgm:prSet>
      <dgm:spPr/>
    </dgm:pt>
    <dgm:pt modelId="{83B14F7E-EDFF-4ADF-91C7-CAF38EF93921}" type="pres">
      <dgm:prSet presAssocID="{9326CB69-65AF-46B3-959A-FAA37979271B}" presName="sibTrans" presStyleCnt="0"/>
      <dgm:spPr/>
    </dgm:pt>
    <dgm:pt modelId="{0A82BA76-25B6-4B82-8B23-1640E3868826}" type="pres">
      <dgm:prSet presAssocID="{75D79494-B9A3-4DCA-B6B5-37C3972BDD1B}" presName="compNode" presStyleCnt="0"/>
      <dgm:spPr/>
    </dgm:pt>
    <dgm:pt modelId="{A68A106D-FAB7-4FE2-A004-0FCE8AC758BB}" type="pres">
      <dgm:prSet presAssocID="{75D79494-B9A3-4DCA-B6B5-37C3972BDD1B}" presName="bgRect" presStyleLbl="bgShp" presStyleIdx="3" presStyleCnt="4"/>
      <dgm:spPr/>
    </dgm:pt>
    <dgm:pt modelId="{A782142C-0308-40FB-BD1E-8686741A3F8C}" type="pres">
      <dgm:prSet presAssocID="{75D79494-B9A3-4DCA-B6B5-37C3972BDD1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un"/>
        </a:ext>
      </dgm:extLst>
    </dgm:pt>
    <dgm:pt modelId="{B270C242-C164-42D8-9C3A-92C9D77426CA}" type="pres">
      <dgm:prSet presAssocID="{75D79494-B9A3-4DCA-B6B5-37C3972BDD1B}" presName="spaceRect" presStyleCnt="0"/>
      <dgm:spPr/>
    </dgm:pt>
    <dgm:pt modelId="{11453B01-6C52-4D4A-BD95-7E63F5D350A7}" type="pres">
      <dgm:prSet presAssocID="{75D79494-B9A3-4DCA-B6B5-37C3972BDD1B}" presName="parTx" presStyleLbl="revTx" presStyleIdx="3" presStyleCnt="4">
        <dgm:presLayoutVars>
          <dgm:chMax val="0"/>
          <dgm:chPref val="0"/>
        </dgm:presLayoutVars>
      </dgm:prSet>
      <dgm:spPr/>
    </dgm:pt>
  </dgm:ptLst>
  <dgm:cxnLst>
    <dgm:cxn modelId="{669DD129-AE0A-46EF-AC54-7FA17A47106D}" type="presOf" srcId="{8A19CE82-605F-4B1F-9FD9-3D692EB8C5DD}" destId="{C313AA0B-03C6-424D-9116-9DFC2AA68D9F}" srcOrd="0" destOrd="0" presId="urn:microsoft.com/office/officeart/2018/2/layout/IconVerticalSolidList"/>
    <dgm:cxn modelId="{342FAB30-98D7-40B7-AEBF-EE9A09FBCD4F}" srcId="{8A19CE82-605F-4B1F-9FD9-3D692EB8C5DD}" destId="{E8D2E71D-1D12-412E-B1A0-C1E795005086}" srcOrd="0" destOrd="0" parTransId="{C54EAB87-6AF2-45AE-B75F-32BFB0830C11}" sibTransId="{2390F07E-24D8-4316-9C84-5505840FEC38}"/>
    <dgm:cxn modelId="{EE741C3A-ACCD-4503-9FF9-CE0929A0F723}" type="presOf" srcId="{8219AF18-95D3-4AE7-8DE1-10FA86F218B4}" destId="{75AD39F4-F876-4CE2-B8A2-28F777FDFF25}" srcOrd="0" destOrd="0" presId="urn:microsoft.com/office/officeart/2018/2/layout/IconVerticalSolidList"/>
    <dgm:cxn modelId="{97A88D64-9644-42A6-AC26-90316B4D50CB}" type="presOf" srcId="{E8D2E71D-1D12-412E-B1A0-C1E795005086}" destId="{77CA12A2-1C58-4A57-B35E-A2778B966B22}" srcOrd="0" destOrd="0" presId="urn:microsoft.com/office/officeart/2018/2/layout/IconVerticalSolidList"/>
    <dgm:cxn modelId="{AF725E6F-1E8A-4525-9F1A-436C8B176217}" srcId="{8A19CE82-605F-4B1F-9FD9-3D692EB8C5DD}" destId="{7AE20A57-4EFC-46EF-857F-8D9BE3EF88E9}" srcOrd="1" destOrd="0" parTransId="{14A9710D-8F97-42D0-A615-BC6407882E6B}" sibTransId="{11E8FAEA-CB53-4EE3-98BE-F58B7CC5C4FB}"/>
    <dgm:cxn modelId="{F6EAD47F-9160-424A-82C9-4E109915F8AF}" srcId="{8A19CE82-605F-4B1F-9FD9-3D692EB8C5DD}" destId="{75D79494-B9A3-4DCA-B6B5-37C3972BDD1B}" srcOrd="3" destOrd="0" parTransId="{4DF63FC3-E496-41F2-8B46-63D59393CE4D}" sibTransId="{8385A468-5032-4076-ABD5-65F4594A7FAC}"/>
    <dgm:cxn modelId="{EFA52681-3748-4A5E-958A-BC317E607CB5}" srcId="{8A19CE82-605F-4B1F-9FD9-3D692EB8C5DD}" destId="{8219AF18-95D3-4AE7-8DE1-10FA86F218B4}" srcOrd="2" destOrd="0" parTransId="{6339FD81-7C21-4325-9B6C-55C883600BE7}" sibTransId="{9326CB69-65AF-46B3-959A-FAA37979271B}"/>
    <dgm:cxn modelId="{D9E43A97-E04E-4BFE-8A2F-59DC7570B48C}" type="presOf" srcId="{75D79494-B9A3-4DCA-B6B5-37C3972BDD1B}" destId="{11453B01-6C52-4D4A-BD95-7E63F5D350A7}" srcOrd="0" destOrd="0" presId="urn:microsoft.com/office/officeart/2018/2/layout/IconVerticalSolidList"/>
    <dgm:cxn modelId="{7CC2C0FB-3F97-4367-9A20-AEEDF8DC52DE}" type="presOf" srcId="{7AE20A57-4EFC-46EF-857F-8D9BE3EF88E9}" destId="{11F36799-C3C2-4445-9120-A24579C38EEB}" srcOrd="0" destOrd="0" presId="urn:microsoft.com/office/officeart/2018/2/layout/IconVerticalSolidList"/>
    <dgm:cxn modelId="{12DFEC70-13B0-438D-ABEB-9DBF586F1061}" type="presParOf" srcId="{C313AA0B-03C6-424D-9116-9DFC2AA68D9F}" destId="{359FE1AA-A0F8-49FD-9227-0F183F2365B9}" srcOrd="0" destOrd="0" presId="urn:microsoft.com/office/officeart/2018/2/layout/IconVerticalSolidList"/>
    <dgm:cxn modelId="{79C28E70-493A-40A3-B1C4-F510A3B7ACE9}" type="presParOf" srcId="{359FE1AA-A0F8-49FD-9227-0F183F2365B9}" destId="{11D1CAF2-B47A-4A02-B736-6516D90D1FDE}" srcOrd="0" destOrd="0" presId="urn:microsoft.com/office/officeart/2018/2/layout/IconVerticalSolidList"/>
    <dgm:cxn modelId="{693F47C0-08A3-41A3-A739-D0F3A9321E19}" type="presParOf" srcId="{359FE1AA-A0F8-49FD-9227-0F183F2365B9}" destId="{A503F973-2E7A-49B2-A88A-3B741507D792}" srcOrd="1" destOrd="0" presId="urn:microsoft.com/office/officeart/2018/2/layout/IconVerticalSolidList"/>
    <dgm:cxn modelId="{AE905477-558B-490D-9F0E-6947AC3A5FC7}" type="presParOf" srcId="{359FE1AA-A0F8-49FD-9227-0F183F2365B9}" destId="{7E61EE5B-1C58-4540-8556-ADA8E3A158A1}" srcOrd="2" destOrd="0" presId="urn:microsoft.com/office/officeart/2018/2/layout/IconVerticalSolidList"/>
    <dgm:cxn modelId="{0883C61F-EB4B-4C9F-8B97-E1426524D2FF}" type="presParOf" srcId="{359FE1AA-A0F8-49FD-9227-0F183F2365B9}" destId="{77CA12A2-1C58-4A57-B35E-A2778B966B22}" srcOrd="3" destOrd="0" presId="urn:microsoft.com/office/officeart/2018/2/layout/IconVerticalSolidList"/>
    <dgm:cxn modelId="{345DEEBE-CC78-4857-A0D6-874382954EDE}" type="presParOf" srcId="{C313AA0B-03C6-424D-9116-9DFC2AA68D9F}" destId="{3E7BBDAA-0D21-4CDA-B1D1-57409A849F38}" srcOrd="1" destOrd="0" presId="urn:microsoft.com/office/officeart/2018/2/layout/IconVerticalSolidList"/>
    <dgm:cxn modelId="{BCB0A590-403C-4675-B9BE-B08A897BD55A}" type="presParOf" srcId="{C313AA0B-03C6-424D-9116-9DFC2AA68D9F}" destId="{235E1A4E-ECA9-409B-A464-FF43FC8F0F3D}" srcOrd="2" destOrd="0" presId="urn:microsoft.com/office/officeart/2018/2/layout/IconVerticalSolidList"/>
    <dgm:cxn modelId="{BA254862-3ADF-4712-B1AA-A13B82A946C4}" type="presParOf" srcId="{235E1A4E-ECA9-409B-A464-FF43FC8F0F3D}" destId="{A04B86BE-1AA9-400D-B017-06F4A97E1D26}" srcOrd="0" destOrd="0" presId="urn:microsoft.com/office/officeart/2018/2/layout/IconVerticalSolidList"/>
    <dgm:cxn modelId="{E292186C-50A5-40BC-9E60-C63746522E6C}" type="presParOf" srcId="{235E1A4E-ECA9-409B-A464-FF43FC8F0F3D}" destId="{13F845AA-F7B5-4AB0-8944-1A0F5E02C793}" srcOrd="1" destOrd="0" presId="urn:microsoft.com/office/officeart/2018/2/layout/IconVerticalSolidList"/>
    <dgm:cxn modelId="{EF216D25-2B30-4FB7-9989-D9B393F4807C}" type="presParOf" srcId="{235E1A4E-ECA9-409B-A464-FF43FC8F0F3D}" destId="{77891EDF-4BBC-40F1-AA9E-8C153463C799}" srcOrd="2" destOrd="0" presId="urn:microsoft.com/office/officeart/2018/2/layout/IconVerticalSolidList"/>
    <dgm:cxn modelId="{26D8AAF9-7BAE-4676-8644-13BB297700BF}" type="presParOf" srcId="{235E1A4E-ECA9-409B-A464-FF43FC8F0F3D}" destId="{11F36799-C3C2-4445-9120-A24579C38EEB}" srcOrd="3" destOrd="0" presId="urn:microsoft.com/office/officeart/2018/2/layout/IconVerticalSolidList"/>
    <dgm:cxn modelId="{0ADF9186-A9F3-48E8-914D-09F696A384A5}" type="presParOf" srcId="{C313AA0B-03C6-424D-9116-9DFC2AA68D9F}" destId="{F9CDA9A5-6F5C-4B45-829D-64B608805A29}" srcOrd="3" destOrd="0" presId="urn:microsoft.com/office/officeart/2018/2/layout/IconVerticalSolidList"/>
    <dgm:cxn modelId="{390E5404-362B-46BC-8AC8-6664E064C395}" type="presParOf" srcId="{C313AA0B-03C6-424D-9116-9DFC2AA68D9F}" destId="{8BAFF477-101C-473E-82B5-BAD99C79F495}" srcOrd="4" destOrd="0" presId="urn:microsoft.com/office/officeart/2018/2/layout/IconVerticalSolidList"/>
    <dgm:cxn modelId="{4A4982AE-8C58-4491-8BEB-8AD30F73736A}" type="presParOf" srcId="{8BAFF477-101C-473E-82B5-BAD99C79F495}" destId="{89D69FFC-F8AC-4445-A60D-25CAADC352C0}" srcOrd="0" destOrd="0" presId="urn:microsoft.com/office/officeart/2018/2/layout/IconVerticalSolidList"/>
    <dgm:cxn modelId="{FF18097F-9ADB-4C4F-9DEA-B72867514B0B}" type="presParOf" srcId="{8BAFF477-101C-473E-82B5-BAD99C79F495}" destId="{95B8AB6E-3155-472D-BF76-05A69F7E65B0}" srcOrd="1" destOrd="0" presId="urn:microsoft.com/office/officeart/2018/2/layout/IconVerticalSolidList"/>
    <dgm:cxn modelId="{C4C39C81-5C87-42F1-8D69-680A12BBC988}" type="presParOf" srcId="{8BAFF477-101C-473E-82B5-BAD99C79F495}" destId="{6FAB3518-22C4-46C8-AE6C-FFD66F426ED5}" srcOrd="2" destOrd="0" presId="urn:microsoft.com/office/officeart/2018/2/layout/IconVerticalSolidList"/>
    <dgm:cxn modelId="{99BBB1CB-9E37-49F8-9D28-5F2F0152B55F}" type="presParOf" srcId="{8BAFF477-101C-473E-82B5-BAD99C79F495}" destId="{75AD39F4-F876-4CE2-B8A2-28F777FDFF25}" srcOrd="3" destOrd="0" presId="urn:microsoft.com/office/officeart/2018/2/layout/IconVerticalSolidList"/>
    <dgm:cxn modelId="{EF0E54A0-653B-49D6-8713-68217A9370FB}" type="presParOf" srcId="{C313AA0B-03C6-424D-9116-9DFC2AA68D9F}" destId="{83B14F7E-EDFF-4ADF-91C7-CAF38EF93921}" srcOrd="5" destOrd="0" presId="urn:microsoft.com/office/officeart/2018/2/layout/IconVerticalSolidList"/>
    <dgm:cxn modelId="{D1A24855-FC64-435B-B33A-EE16B1A3ED31}" type="presParOf" srcId="{C313AA0B-03C6-424D-9116-9DFC2AA68D9F}" destId="{0A82BA76-25B6-4B82-8B23-1640E3868826}" srcOrd="6" destOrd="0" presId="urn:microsoft.com/office/officeart/2018/2/layout/IconVerticalSolidList"/>
    <dgm:cxn modelId="{F0D62401-2D35-4A70-A612-8A7E7B5AA0A3}" type="presParOf" srcId="{0A82BA76-25B6-4B82-8B23-1640E3868826}" destId="{A68A106D-FAB7-4FE2-A004-0FCE8AC758BB}" srcOrd="0" destOrd="0" presId="urn:microsoft.com/office/officeart/2018/2/layout/IconVerticalSolidList"/>
    <dgm:cxn modelId="{DCDDC77E-B999-4FA0-95DC-27F3F0B7D8ED}" type="presParOf" srcId="{0A82BA76-25B6-4B82-8B23-1640E3868826}" destId="{A782142C-0308-40FB-BD1E-8686741A3F8C}" srcOrd="1" destOrd="0" presId="urn:microsoft.com/office/officeart/2018/2/layout/IconVerticalSolidList"/>
    <dgm:cxn modelId="{7EBFF212-308B-4E5B-9662-C9510A302816}" type="presParOf" srcId="{0A82BA76-25B6-4B82-8B23-1640E3868826}" destId="{B270C242-C164-42D8-9C3A-92C9D77426CA}" srcOrd="2" destOrd="0" presId="urn:microsoft.com/office/officeart/2018/2/layout/IconVerticalSolidList"/>
    <dgm:cxn modelId="{D24DC58F-D3BE-4B16-B796-CFDCD9158EAA}" type="presParOf" srcId="{0A82BA76-25B6-4B82-8B23-1640E3868826}" destId="{11453B01-6C52-4D4A-BD95-7E63F5D350A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D1CAF2-B47A-4A02-B736-6516D90D1FDE}">
      <dsp:nvSpPr>
        <dsp:cNvPr id="0" name=""/>
        <dsp:cNvSpPr/>
      </dsp:nvSpPr>
      <dsp:spPr>
        <a:xfrm>
          <a:off x="0" y="2288"/>
          <a:ext cx="6364224" cy="115984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03F973-2E7A-49B2-A88A-3B741507D792}">
      <dsp:nvSpPr>
        <dsp:cNvPr id="0" name=""/>
        <dsp:cNvSpPr/>
      </dsp:nvSpPr>
      <dsp:spPr>
        <a:xfrm>
          <a:off x="350852" y="263253"/>
          <a:ext cx="637913" cy="6379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CA12A2-1C58-4A57-B35E-A2778B966B22}">
      <dsp:nvSpPr>
        <dsp:cNvPr id="0" name=""/>
        <dsp:cNvSpPr/>
      </dsp:nvSpPr>
      <dsp:spPr>
        <a:xfrm>
          <a:off x="1339618" y="2288"/>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MY" sz="2100" b="1" kern="1200"/>
            <a:t>On-demand Self-Service</a:t>
          </a:r>
          <a:r>
            <a:rPr lang="en-MY" sz="2100" kern="1200"/>
            <a:t>: Users can provision resources as needed.</a:t>
          </a:r>
          <a:endParaRPr lang="en-US" sz="2100" kern="1200"/>
        </a:p>
      </dsp:txBody>
      <dsp:txXfrm>
        <a:off x="1339618" y="2288"/>
        <a:ext cx="5024605" cy="1159843"/>
      </dsp:txXfrm>
    </dsp:sp>
    <dsp:sp modelId="{A04B86BE-1AA9-400D-B017-06F4A97E1D26}">
      <dsp:nvSpPr>
        <dsp:cNvPr id="0" name=""/>
        <dsp:cNvSpPr/>
      </dsp:nvSpPr>
      <dsp:spPr>
        <a:xfrm>
          <a:off x="0" y="1452092"/>
          <a:ext cx="6364224" cy="115984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F845AA-F7B5-4AB0-8944-1A0F5E02C793}">
      <dsp:nvSpPr>
        <dsp:cNvPr id="0" name=""/>
        <dsp:cNvSpPr/>
      </dsp:nvSpPr>
      <dsp:spPr>
        <a:xfrm>
          <a:off x="350852" y="1713057"/>
          <a:ext cx="637913" cy="637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F36799-C3C2-4445-9120-A24579C38EEB}">
      <dsp:nvSpPr>
        <dsp:cNvPr id="0" name=""/>
        <dsp:cNvSpPr/>
      </dsp:nvSpPr>
      <dsp:spPr>
        <a:xfrm>
          <a:off x="1339618" y="1452092"/>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MY" sz="2100" b="1" kern="1200"/>
            <a:t>Resource Pooling</a:t>
          </a:r>
          <a:r>
            <a:rPr lang="en-MY" sz="2100" kern="1200"/>
            <a:t>: Providers pool computing resources to serve multiple clients.</a:t>
          </a:r>
          <a:endParaRPr lang="en-US" sz="2100" kern="1200"/>
        </a:p>
      </dsp:txBody>
      <dsp:txXfrm>
        <a:off x="1339618" y="1452092"/>
        <a:ext cx="5024605" cy="1159843"/>
      </dsp:txXfrm>
    </dsp:sp>
    <dsp:sp modelId="{89D69FFC-F8AC-4445-A60D-25CAADC352C0}">
      <dsp:nvSpPr>
        <dsp:cNvPr id="0" name=""/>
        <dsp:cNvSpPr/>
      </dsp:nvSpPr>
      <dsp:spPr>
        <a:xfrm>
          <a:off x="0" y="2901896"/>
          <a:ext cx="6364224" cy="115984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B8AB6E-3155-472D-BF76-05A69F7E65B0}">
      <dsp:nvSpPr>
        <dsp:cNvPr id="0" name=""/>
        <dsp:cNvSpPr/>
      </dsp:nvSpPr>
      <dsp:spPr>
        <a:xfrm>
          <a:off x="350852" y="3162861"/>
          <a:ext cx="637913" cy="637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5AD39F4-F876-4CE2-B8A2-28F777FDFF25}">
      <dsp:nvSpPr>
        <dsp:cNvPr id="0" name=""/>
        <dsp:cNvSpPr/>
      </dsp:nvSpPr>
      <dsp:spPr>
        <a:xfrm>
          <a:off x="1339618" y="2901896"/>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MY" sz="2100" b="1" kern="1200"/>
            <a:t>Rapid Elasticity</a:t>
          </a:r>
          <a:r>
            <a:rPr lang="en-MY" sz="2100" kern="1200"/>
            <a:t>: Scale resources up or down quickly.</a:t>
          </a:r>
          <a:endParaRPr lang="en-US" sz="2100" kern="1200"/>
        </a:p>
      </dsp:txBody>
      <dsp:txXfrm>
        <a:off x="1339618" y="2901896"/>
        <a:ext cx="5024605" cy="1159843"/>
      </dsp:txXfrm>
    </dsp:sp>
    <dsp:sp modelId="{A68A106D-FAB7-4FE2-A004-0FCE8AC758BB}">
      <dsp:nvSpPr>
        <dsp:cNvPr id="0" name=""/>
        <dsp:cNvSpPr/>
      </dsp:nvSpPr>
      <dsp:spPr>
        <a:xfrm>
          <a:off x="0" y="4351700"/>
          <a:ext cx="6364224" cy="115984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82142C-0308-40FB-BD1E-8686741A3F8C}">
      <dsp:nvSpPr>
        <dsp:cNvPr id="0" name=""/>
        <dsp:cNvSpPr/>
      </dsp:nvSpPr>
      <dsp:spPr>
        <a:xfrm>
          <a:off x="350852" y="4612665"/>
          <a:ext cx="637913" cy="637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453B01-6C52-4D4A-BD95-7E63F5D350A7}">
      <dsp:nvSpPr>
        <dsp:cNvPr id="0" name=""/>
        <dsp:cNvSpPr/>
      </dsp:nvSpPr>
      <dsp:spPr>
        <a:xfrm>
          <a:off x="1339618" y="4351700"/>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MY" sz="2100" b="1" kern="1200"/>
            <a:t>Measured Service</a:t>
          </a:r>
          <a:r>
            <a:rPr lang="en-MY" sz="2100" kern="1200"/>
            <a:t>: Pay only for what you use. These features enable agility and cost-efficiency.</a:t>
          </a:r>
          <a:endParaRPr lang="en-US" sz="2100" kern="1200"/>
        </a:p>
      </dsp:txBody>
      <dsp:txXfrm>
        <a:off x="1339618" y="4351700"/>
        <a:ext cx="5024605" cy="115984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014C2-8097-9BBE-A5FC-3C5F0CB3315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A52CA6CB-5F48-4B76-DBD8-71E7C54554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A2A3EAA-D7FC-ECF2-1BB6-64A14394B04A}"/>
              </a:ext>
            </a:extLst>
          </p:cNvPr>
          <p:cNvSpPr>
            <a:spLocks noGrp="1"/>
          </p:cNvSpPr>
          <p:nvPr>
            <p:ph type="dt" sz="half" idx="10"/>
          </p:nvPr>
        </p:nvSpPr>
        <p:spPr/>
        <p:txBody>
          <a:bodyPr/>
          <a:lstStyle/>
          <a:p>
            <a:fld id="{A5E613CD-D21A-F143-ACC2-3EE1D5BDBD7E}" type="datetimeFigureOut">
              <a:rPr lang="en-US" smtClean="0"/>
              <a:t>4/22/25</a:t>
            </a:fld>
            <a:endParaRPr lang="en-US"/>
          </a:p>
        </p:txBody>
      </p:sp>
      <p:sp>
        <p:nvSpPr>
          <p:cNvPr id="5" name="Footer Placeholder 4">
            <a:extLst>
              <a:ext uri="{FF2B5EF4-FFF2-40B4-BE49-F238E27FC236}">
                <a16:creationId xmlns:a16="http://schemas.microsoft.com/office/drawing/2014/main" id="{3BF01B8C-E9D3-1D71-DC11-28439FE926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2E9E58-34E3-0972-A306-69438A1FF735}"/>
              </a:ext>
            </a:extLst>
          </p:cNvPr>
          <p:cNvSpPr>
            <a:spLocks noGrp="1"/>
          </p:cNvSpPr>
          <p:nvPr>
            <p:ph type="sldNum" sz="quarter" idx="12"/>
          </p:nvPr>
        </p:nvSpPr>
        <p:spPr/>
        <p:txBody>
          <a:bodyPr/>
          <a:lstStyle/>
          <a:p>
            <a:fld id="{C04F97C7-F271-E449-8FE2-389AEA73B4DF}" type="slidenum">
              <a:rPr lang="en-US" smtClean="0"/>
              <a:t>‹#›</a:t>
            </a:fld>
            <a:endParaRPr lang="en-US"/>
          </a:p>
        </p:txBody>
      </p:sp>
    </p:spTree>
    <p:extLst>
      <p:ext uri="{BB962C8B-B14F-4D97-AF65-F5344CB8AC3E}">
        <p14:creationId xmlns:p14="http://schemas.microsoft.com/office/powerpoint/2010/main" val="1278522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4A16C-515F-BCFB-4407-005E8EABD62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09EC566-1CA5-7821-B66D-7006EAAB2F2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C95E14B-2FA1-7006-23D0-2EFDF923AB5C}"/>
              </a:ext>
            </a:extLst>
          </p:cNvPr>
          <p:cNvSpPr>
            <a:spLocks noGrp="1"/>
          </p:cNvSpPr>
          <p:nvPr>
            <p:ph type="dt" sz="half" idx="10"/>
          </p:nvPr>
        </p:nvSpPr>
        <p:spPr/>
        <p:txBody>
          <a:bodyPr/>
          <a:lstStyle/>
          <a:p>
            <a:fld id="{A5E613CD-D21A-F143-ACC2-3EE1D5BDBD7E}" type="datetimeFigureOut">
              <a:rPr lang="en-US" smtClean="0"/>
              <a:t>4/22/25</a:t>
            </a:fld>
            <a:endParaRPr lang="en-US"/>
          </a:p>
        </p:txBody>
      </p:sp>
      <p:sp>
        <p:nvSpPr>
          <p:cNvPr id="5" name="Footer Placeholder 4">
            <a:extLst>
              <a:ext uri="{FF2B5EF4-FFF2-40B4-BE49-F238E27FC236}">
                <a16:creationId xmlns:a16="http://schemas.microsoft.com/office/drawing/2014/main" id="{EAD21BD8-49BF-A0B8-3514-ECE356FAD7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74B3F8-8A3C-72FC-9BCC-3A40958DAE10}"/>
              </a:ext>
            </a:extLst>
          </p:cNvPr>
          <p:cNvSpPr>
            <a:spLocks noGrp="1"/>
          </p:cNvSpPr>
          <p:nvPr>
            <p:ph type="sldNum" sz="quarter" idx="12"/>
          </p:nvPr>
        </p:nvSpPr>
        <p:spPr/>
        <p:txBody>
          <a:bodyPr/>
          <a:lstStyle/>
          <a:p>
            <a:fld id="{C04F97C7-F271-E449-8FE2-389AEA73B4DF}" type="slidenum">
              <a:rPr lang="en-US" smtClean="0"/>
              <a:t>‹#›</a:t>
            </a:fld>
            <a:endParaRPr lang="en-US"/>
          </a:p>
        </p:txBody>
      </p:sp>
    </p:spTree>
    <p:extLst>
      <p:ext uri="{BB962C8B-B14F-4D97-AF65-F5344CB8AC3E}">
        <p14:creationId xmlns:p14="http://schemas.microsoft.com/office/powerpoint/2010/main" val="859870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0BFA4-4882-2A06-2C65-29231938A6D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BE70CFD-29BB-3BE7-C232-E822835B41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C52103E-4DF0-C5D7-85FA-CF981392BDC5}"/>
              </a:ext>
            </a:extLst>
          </p:cNvPr>
          <p:cNvSpPr>
            <a:spLocks noGrp="1"/>
          </p:cNvSpPr>
          <p:nvPr>
            <p:ph type="dt" sz="half" idx="10"/>
          </p:nvPr>
        </p:nvSpPr>
        <p:spPr/>
        <p:txBody>
          <a:bodyPr/>
          <a:lstStyle/>
          <a:p>
            <a:fld id="{A5E613CD-D21A-F143-ACC2-3EE1D5BDBD7E}" type="datetimeFigureOut">
              <a:rPr lang="en-US" smtClean="0"/>
              <a:t>4/22/25</a:t>
            </a:fld>
            <a:endParaRPr lang="en-US"/>
          </a:p>
        </p:txBody>
      </p:sp>
      <p:sp>
        <p:nvSpPr>
          <p:cNvPr id="5" name="Footer Placeholder 4">
            <a:extLst>
              <a:ext uri="{FF2B5EF4-FFF2-40B4-BE49-F238E27FC236}">
                <a16:creationId xmlns:a16="http://schemas.microsoft.com/office/drawing/2014/main" id="{E273F0C0-150C-7CBA-7631-EC3C8820E2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71085-0D90-FCA4-4DCC-37AF6921BC2C}"/>
              </a:ext>
            </a:extLst>
          </p:cNvPr>
          <p:cNvSpPr>
            <a:spLocks noGrp="1"/>
          </p:cNvSpPr>
          <p:nvPr>
            <p:ph type="sldNum" sz="quarter" idx="12"/>
          </p:nvPr>
        </p:nvSpPr>
        <p:spPr/>
        <p:txBody>
          <a:bodyPr/>
          <a:lstStyle/>
          <a:p>
            <a:fld id="{C04F97C7-F271-E449-8FE2-389AEA73B4DF}" type="slidenum">
              <a:rPr lang="en-US" smtClean="0"/>
              <a:t>‹#›</a:t>
            </a:fld>
            <a:endParaRPr lang="en-US"/>
          </a:p>
        </p:txBody>
      </p:sp>
    </p:spTree>
    <p:extLst>
      <p:ext uri="{BB962C8B-B14F-4D97-AF65-F5344CB8AC3E}">
        <p14:creationId xmlns:p14="http://schemas.microsoft.com/office/powerpoint/2010/main" val="171278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40375-C99C-49B1-13D6-6D211D417F9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F6C475C-DC0D-14B3-2932-43B77C2429F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8105231F-49D6-7431-59E0-B1A43A2A5C0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AD6BFE5-E9CD-2ADA-223F-D84C4B076052}"/>
              </a:ext>
            </a:extLst>
          </p:cNvPr>
          <p:cNvSpPr>
            <a:spLocks noGrp="1"/>
          </p:cNvSpPr>
          <p:nvPr>
            <p:ph type="dt" sz="half" idx="10"/>
          </p:nvPr>
        </p:nvSpPr>
        <p:spPr/>
        <p:txBody>
          <a:bodyPr/>
          <a:lstStyle/>
          <a:p>
            <a:fld id="{A5E613CD-D21A-F143-ACC2-3EE1D5BDBD7E}" type="datetimeFigureOut">
              <a:rPr lang="en-US" smtClean="0"/>
              <a:t>4/22/25</a:t>
            </a:fld>
            <a:endParaRPr lang="en-US"/>
          </a:p>
        </p:txBody>
      </p:sp>
      <p:sp>
        <p:nvSpPr>
          <p:cNvPr id="6" name="Footer Placeholder 5">
            <a:extLst>
              <a:ext uri="{FF2B5EF4-FFF2-40B4-BE49-F238E27FC236}">
                <a16:creationId xmlns:a16="http://schemas.microsoft.com/office/drawing/2014/main" id="{41915C48-F788-1563-900F-D0F5F4ECBE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BA8BCF-2330-11F8-4D9E-60C3BE16F30D}"/>
              </a:ext>
            </a:extLst>
          </p:cNvPr>
          <p:cNvSpPr>
            <a:spLocks noGrp="1"/>
          </p:cNvSpPr>
          <p:nvPr>
            <p:ph type="sldNum" sz="quarter" idx="12"/>
          </p:nvPr>
        </p:nvSpPr>
        <p:spPr/>
        <p:txBody>
          <a:bodyPr/>
          <a:lstStyle/>
          <a:p>
            <a:fld id="{C04F97C7-F271-E449-8FE2-389AEA73B4DF}" type="slidenum">
              <a:rPr lang="en-US" smtClean="0"/>
              <a:t>‹#›</a:t>
            </a:fld>
            <a:endParaRPr lang="en-US"/>
          </a:p>
        </p:txBody>
      </p:sp>
    </p:spTree>
    <p:extLst>
      <p:ext uri="{BB962C8B-B14F-4D97-AF65-F5344CB8AC3E}">
        <p14:creationId xmlns:p14="http://schemas.microsoft.com/office/powerpoint/2010/main" val="558330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689FC-5290-125C-5DFA-379E78638A8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761CB7B-486E-2004-302F-DFAC2E2047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42E03A3-648A-9A0F-7014-C1C8A2B4D19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5093325-73E4-3B94-9DB4-7325F73501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13E3FB0-569A-3D48-6675-56ABD771174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004A3DE3-7B0A-C713-CFDD-2E18FC957BCB}"/>
              </a:ext>
            </a:extLst>
          </p:cNvPr>
          <p:cNvSpPr>
            <a:spLocks noGrp="1"/>
          </p:cNvSpPr>
          <p:nvPr>
            <p:ph type="dt" sz="half" idx="10"/>
          </p:nvPr>
        </p:nvSpPr>
        <p:spPr/>
        <p:txBody>
          <a:bodyPr/>
          <a:lstStyle/>
          <a:p>
            <a:fld id="{A5E613CD-D21A-F143-ACC2-3EE1D5BDBD7E}" type="datetimeFigureOut">
              <a:rPr lang="en-US" smtClean="0"/>
              <a:t>4/22/25</a:t>
            </a:fld>
            <a:endParaRPr lang="en-US"/>
          </a:p>
        </p:txBody>
      </p:sp>
      <p:sp>
        <p:nvSpPr>
          <p:cNvPr id="8" name="Footer Placeholder 7">
            <a:extLst>
              <a:ext uri="{FF2B5EF4-FFF2-40B4-BE49-F238E27FC236}">
                <a16:creationId xmlns:a16="http://schemas.microsoft.com/office/drawing/2014/main" id="{88940CCA-0B34-94BB-CB88-5E807BD1654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9C9CDC5-DC95-89A1-5DD5-C8589DFF70A6}"/>
              </a:ext>
            </a:extLst>
          </p:cNvPr>
          <p:cNvSpPr>
            <a:spLocks noGrp="1"/>
          </p:cNvSpPr>
          <p:nvPr>
            <p:ph type="sldNum" sz="quarter" idx="12"/>
          </p:nvPr>
        </p:nvSpPr>
        <p:spPr/>
        <p:txBody>
          <a:bodyPr/>
          <a:lstStyle/>
          <a:p>
            <a:fld id="{C04F97C7-F271-E449-8FE2-389AEA73B4DF}" type="slidenum">
              <a:rPr lang="en-US" smtClean="0"/>
              <a:t>‹#›</a:t>
            </a:fld>
            <a:endParaRPr lang="en-US"/>
          </a:p>
        </p:txBody>
      </p:sp>
    </p:spTree>
    <p:extLst>
      <p:ext uri="{BB962C8B-B14F-4D97-AF65-F5344CB8AC3E}">
        <p14:creationId xmlns:p14="http://schemas.microsoft.com/office/powerpoint/2010/main" val="2518720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CF683-527F-261D-9F94-0D0E7D801E3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EED74C40-D0F6-EF11-5546-294AD9E03822}"/>
              </a:ext>
            </a:extLst>
          </p:cNvPr>
          <p:cNvSpPr>
            <a:spLocks noGrp="1"/>
          </p:cNvSpPr>
          <p:nvPr>
            <p:ph type="dt" sz="half" idx="10"/>
          </p:nvPr>
        </p:nvSpPr>
        <p:spPr/>
        <p:txBody>
          <a:bodyPr/>
          <a:lstStyle/>
          <a:p>
            <a:fld id="{A5E613CD-D21A-F143-ACC2-3EE1D5BDBD7E}" type="datetimeFigureOut">
              <a:rPr lang="en-US" smtClean="0"/>
              <a:t>4/22/25</a:t>
            </a:fld>
            <a:endParaRPr lang="en-US"/>
          </a:p>
        </p:txBody>
      </p:sp>
      <p:sp>
        <p:nvSpPr>
          <p:cNvPr id="4" name="Footer Placeholder 3">
            <a:extLst>
              <a:ext uri="{FF2B5EF4-FFF2-40B4-BE49-F238E27FC236}">
                <a16:creationId xmlns:a16="http://schemas.microsoft.com/office/drawing/2014/main" id="{1F7FFC34-2B54-47E5-B93A-A4959AC505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3AA5B90-6DD4-11CE-EFE1-9630B8BA5177}"/>
              </a:ext>
            </a:extLst>
          </p:cNvPr>
          <p:cNvSpPr>
            <a:spLocks noGrp="1"/>
          </p:cNvSpPr>
          <p:nvPr>
            <p:ph type="sldNum" sz="quarter" idx="12"/>
          </p:nvPr>
        </p:nvSpPr>
        <p:spPr/>
        <p:txBody>
          <a:bodyPr/>
          <a:lstStyle/>
          <a:p>
            <a:fld id="{C04F97C7-F271-E449-8FE2-389AEA73B4DF}" type="slidenum">
              <a:rPr lang="en-US" smtClean="0"/>
              <a:t>‹#›</a:t>
            </a:fld>
            <a:endParaRPr lang="en-US"/>
          </a:p>
        </p:txBody>
      </p:sp>
    </p:spTree>
    <p:extLst>
      <p:ext uri="{BB962C8B-B14F-4D97-AF65-F5344CB8AC3E}">
        <p14:creationId xmlns:p14="http://schemas.microsoft.com/office/powerpoint/2010/main" val="3636767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1DCDAA-386D-D6A4-592F-CD4237E741D0}"/>
              </a:ext>
            </a:extLst>
          </p:cNvPr>
          <p:cNvSpPr>
            <a:spLocks noGrp="1"/>
          </p:cNvSpPr>
          <p:nvPr>
            <p:ph type="dt" sz="half" idx="10"/>
          </p:nvPr>
        </p:nvSpPr>
        <p:spPr/>
        <p:txBody>
          <a:bodyPr/>
          <a:lstStyle/>
          <a:p>
            <a:fld id="{A5E613CD-D21A-F143-ACC2-3EE1D5BDBD7E}" type="datetimeFigureOut">
              <a:rPr lang="en-US" smtClean="0"/>
              <a:t>4/22/25</a:t>
            </a:fld>
            <a:endParaRPr lang="en-US"/>
          </a:p>
        </p:txBody>
      </p:sp>
      <p:sp>
        <p:nvSpPr>
          <p:cNvPr id="3" name="Footer Placeholder 2">
            <a:extLst>
              <a:ext uri="{FF2B5EF4-FFF2-40B4-BE49-F238E27FC236}">
                <a16:creationId xmlns:a16="http://schemas.microsoft.com/office/drawing/2014/main" id="{47ABA02E-F646-E009-424E-204E21DE907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B218ECB-57EB-365E-6DCA-B383641336B2}"/>
              </a:ext>
            </a:extLst>
          </p:cNvPr>
          <p:cNvSpPr>
            <a:spLocks noGrp="1"/>
          </p:cNvSpPr>
          <p:nvPr>
            <p:ph type="sldNum" sz="quarter" idx="12"/>
          </p:nvPr>
        </p:nvSpPr>
        <p:spPr/>
        <p:txBody>
          <a:bodyPr/>
          <a:lstStyle/>
          <a:p>
            <a:fld id="{C04F97C7-F271-E449-8FE2-389AEA73B4DF}" type="slidenum">
              <a:rPr lang="en-US" smtClean="0"/>
              <a:t>‹#›</a:t>
            </a:fld>
            <a:endParaRPr lang="en-US"/>
          </a:p>
        </p:txBody>
      </p:sp>
    </p:spTree>
    <p:extLst>
      <p:ext uri="{BB962C8B-B14F-4D97-AF65-F5344CB8AC3E}">
        <p14:creationId xmlns:p14="http://schemas.microsoft.com/office/powerpoint/2010/main" val="3458522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853B2-DB5E-CDDD-1523-8396F8DB35C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8501D61-A80C-AD56-2754-E9883532CC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9D7E26B1-C470-F9F3-649E-D56D94353B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ECA563E-30F0-990F-2B77-FD2EBE29A507}"/>
              </a:ext>
            </a:extLst>
          </p:cNvPr>
          <p:cNvSpPr>
            <a:spLocks noGrp="1"/>
          </p:cNvSpPr>
          <p:nvPr>
            <p:ph type="dt" sz="half" idx="10"/>
          </p:nvPr>
        </p:nvSpPr>
        <p:spPr/>
        <p:txBody>
          <a:bodyPr/>
          <a:lstStyle/>
          <a:p>
            <a:fld id="{A5E613CD-D21A-F143-ACC2-3EE1D5BDBD7E}" type="datetimeFigureOut">
              <a:rPr lang="en-US" smtClean="0"/>
              <a:t>4/22/25</a:t>
            </a:fld>
            <a:endParaRPr lang="en-US"/>
          </a:p>
        </p:txBody>
      </p:sp>
      <p:sp>
        <p:nvSpPr>
          <p:cNvPr id="6" name="Footer Placeholder 5">
            <a:extLst>
              <a:ext uri="{FF2B5EF4-FFF2-40B4-BE49-F238E27FC236}">
                <a16:creationId xmlns:a16="http://schemas.microsoft.com/office/drawing/2014/main" id="{C09ADE1E-AA75-2AE3-A925-327DE478AC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DB0C81-7CE3-AFDA-1550-57CF5F0DD60E}"/>
              </a:ext>
            </a:extLst>
          </p:cNvPr>
          <p:cNvSpPr>
            <a:spLocks noGrp="1"/>
          </p:cNvSpPr>
          <p:nvPr>
            <p:ph type="sldNum" sz="quarter" idx="12"/>
          </p:nvPr>
        </p:nvSpPr>
        <p:spPr/>
        <p:txBody>
          <a:bodyPr/>
          <a:lstStyle/>
          <a:p>
            <a:fld id="{C04F97C7-F271-E449-8FE2-389AEA73B4DF}" type="slidenum">
              <a:rPr lang="en-US" smtClean="0"/>
              <a:t>‹#›</a:t>
            </a:fld>
            <a:endParaRPr lang="en-US"/>
          </a:p>
        </p:txBody>
      </p:sp>
    </p:spTree>
    <p:extLst>
      <p:ext uri="{BB962C8B-B14F-4D97-AF65-F5344CB8AC3E}">
        <p14:creationId xmlns:p14="http://schemas.microsoft.com/office/powerpoint/2010/main" val="220637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76B5A-4434-D8BA-2DFA-5757CE0F043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47A71C1D-9841-560B-A3B3-A5B9D57B69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B7CD121-9870-45EF-BA53-33450E2E69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71042B6-8C9C-B739-96BA-BB2D6BC1D806}"/>
              </a:ext>
            </a:extLst>
          </p:cNvPr>
          <p:cNvSpPr>
            <a:spLocks noGrp="1"/>
          </p:cNvSpPr>
          <p:nvPr>
            <p:ph type="dt" sz="half" idx="10"/>
          </p:nvPr>
        </p:nvSpPr>
        <p:spPr/>
        <p:txBody>
          <a:bodyPr/>
          <a:lstStyle/>
          <a:p>
            <a:fld id="{A5E613CD-D21A-F143-ACC2-3EE1D5BDBD7E}" type="datetimeFigureOut">
              <a:rPr lang="en-US" smtClean="0"/>
              <a:t>4/22/25</a:t>
            </a:fld>
            <a:endParaRPr lang="en-US"/>
          </a:p>
        </p:txBody>
      </p:sp>
      <p:sp>
        <p:nvSpPr>
          <p:cNvPr id="6" name="Footer Placeholder 5">
            <a:extLst>
              <a:ext uri="{FF2B5EF4-FFF2-40B4-BE49-F238E27FC236}">
                <a16:creationId xmlns:a16="http://schemas.microsoft.com/office/drawing/2014/main" id="{0FE3F062-04C2-0C4E-63CA-076951D55F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94E44E-2DA4-A636-11D2-5B7A6BD3E2E5}"/>
              </a:ext>
            </a:extLst>
          </p:cNvPr>
          <p:cNvSpPr>
            <a:spLocks noGrp="1"/>
          </p:cNvSpPr>
          <p:nvPr>
            <p:ph type="sldNum" sz="quarter" idx="12"/>
          </p:nvPr>
        </p:nvSpPr>
        <p:spPr/>
        <p:txBody>
          <a:bodyPr/>
          <a:lstStyle/>
          <a:p>
            <a:fld id="{C04F97C7-F271-E449-8FE2-389AEA73B4DF}" type="slidenum">
              <a:rPr lang="en-US" smtClean="0"/>
              <a:t>‹#›</a:t>
            </a:fld>
            <a:endParaRPr lang="en-US"/>
          </a:p>
        </p:txBody>
      </p:sp>
    </p:spTree>
    <p:extLst>
      <p:ext uri="{BB962C8B-B14F-4D97-AF65-F5344CB8AC3E}">
        <p14:creationId xmlns:p14="http://schemas.microsoft.com/office/powerpoint/2010/main" val="1641804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3774F-AE0A-B5EC-ED6A-536BBF3A3CE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D695F64-08DE-434F-5EE2-F9C4F1DC661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97A735B-BED5-9B7D-5545-113CB48E9AB7}"/>
              </a:ext>
            </a:extLst>
          </p:cNvPr>
          <p:cNvSpPr>
            <a:spLocks noGrp="1"/>
          </p:cNvSpPr>
          <p:nvPr>
            <p:ph type="dt" sz="half" idx="10"/>
          </p:nvPr>
        </p:nvSpPr>
        <p:spPr/>
        <p:txBody>
          <a:bodyPr/>
          <a:lstStyle/>
          <a:p>
            <a:fld id="{A5E613CD-D21A-F143-ACC2-3EE1D5BDBD7E}" type="datetimeFigureOut">
              <a:rPr lang="en-US" smtClean="0"/>
              <a:t>4/22/25</a:t>
            </a:fld>
            <a:endParaRPr lang="en-US"/>
          </a:p>
        </p:txBody>
      </p:sp>
      <p:sp>
        <p:nvSpPr>
          <p:cNvPr id="5" name="Footer Placeholder 4">
            <a:extLst>
              <a:ext uri="{FF2B5EF4-FFF2-40B4-BE49-F238E27FC236}">
                <a16:creationId xmlns:a16="http://schemas.microsoft.com/office/drawing/2014/main" id="{8D22323E-73F2-E152-AB4D-96D83CDB92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13606A-BC3F-7ABD-543C-968DB79F8C2C}"/>
              </a:ext>
            </a:extLst>
          </p:cNvPr>
          <p:cNvSpPr>
            <a:spLocks noGrp="1"/>
          </p:cNvSpPr>
          <p:nvPr>
            <p:ph type="sldNum" sz="quarter" idx="12"/>
          </p:nvPr>
        </p:nvSpPr>
        <p:spPr/>
        <p:txBody>
          <a:bodyPr/>
          <a:lstStyle/>
          <a:p>
            <a:fld id="{C04F97C7-F271-E449-8FE2-389AEA73B4DF}" type="slidenum">
              <a:rPr lang="en-US" smtClean="0"/>
              <a:t>‹#›</a:t>
            </a:fld>
            <a:endParaRPr lang="en-US"/>
          </a:p>
        </p:txBody>
      </p:sp>
    </p:spTree>
    <p:extLst>
      <p:ext uri="{BB962C8B-B14F-4D97-AF65-F5344CB8AC3E}">
        <p14:creationId xmlns:p14="http://schemas.microsoft.com/office/powerpoint/2010/main" val="3055651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B5B110-0410-6874-7E8B-E8676A21102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FB2DE77-25B6-0B71-1AB6-17BF487DD3F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0863FD6-440A-6A52-DB83-082B0984DD4C}"/>
              </a:ext>
            </a:extLst>
          </p:cNvPr>
          <p:cNvSpPr>
            <a:spLocks noGrp="1"/>
          </p:cNvSpPr>
          <p:nvPr>
            <p:ph type="dt" sz="half" idx="10"/>
          </p:nvPr>
        </p:nvSpPr>
        <p:spPr/>
        <p:txBody>
          <a:bodyPr/>
          <a:lstStyle/>
          <a:p>
            <a:fld id="{A5E613CD-D21A-F143-ACC2-3EE1D5BDBD7E}" type="datetimeFigureOut">
              <a:rPr lang="en-US" smtClean="0"/>
              <a:t>4/22/25</a:t>
            </a:fld>
            <a:endParaRPr lang="en-US"/>
          </a:p>
        </p:txBody>
      </p:sp>
      <p:sp>
        <p:nvSpPr>
          <p:cNvPr id="5" name="Footer Placeholder 4">
            <a:extLst>
              <a:ext uri="{FF2B5EF4-FFF2-40B4-BE49-F238E27FC236}">
                <a16:creationId xmlns:a16="http://schemas.microsoft.com/office/drawing/2014/main" id="{57B6CBC3-95AF-931A-E4AD-9D7DD1EF5B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1519CE-179E-25DD-54D8-DD5D8B70AFEA}"/>
              </a:ext>
            </a:extLst>
          </p:cNvPr>
          <p:cNvSpPr>
            <a:spLocks noGrp="1"/>
          </p:cNvSpPr>
          <p:nvPr>
            <p:ph type="sldNum" sz="quarter" idx="12"/>
          </p:nvPr>
        </p:nvSpPr>
        <p:spPr/>
        <p:txBody>
          <a:bodyPr/>
          <a:lstStyle/>
          <a:p>
            <a:fld id="{C04F97C7-F271-E449-8FE2-389AEA73B4DF}" type="slidenum">
              <a:rPr lang="en-US" smtClean="0"/>
              <a:t>‹#›</a:t>
            </a:fld>
            <a:endParaRPr lang="en-US"/>
          </a:p>
        </p:txBody>
      </p:sp>
    </p:spTree>
    <p:extLst>
      <p:ext uri="{BB962C8B-B14F-4D97-AF65-F5344CB8AC3E}">
        <p14:creationId xmlns:p14="http://schemas.microsoft.com/office/powerpoint/2010/main" val="2724373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2CD469-303C-9477-8DD8-6EEF95ADB1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85010F2-3868-5D31-E992-7098BE8A9F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F968255-6067-D4FE-2A7D-F709F7EB9B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E613CD-D21A-F143-ACC2-3EE1D5BDBD7E}" type="datetimeFigureOut">
              <a:rPr lang="en-US" smtClean="0"/>
              <a:t>4/22/25</a:t>
            </a:fld>
            <a:endParaRPr lang="en-US"/>
          </a:p>
        </p:txBody>
      </p:sp>
      <p:sp>
        <p:nvSpPr>
          <p:cNvPr id="5" name="Footer Placeholder 4">
            <a:extLst>
              <a:ext uri="{FF2B5EF4-FFF2-40B4-BE49-F238E27FC236}">
                <a16:creationId xmlns:a16="http://schemas.microsoft.com/office/drawing/2014/main" id="{DAD58C1A-82A8-199E-2A05-21141AAA33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D1D3E5B-8BAA-D2BD-8C79-A174413571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4F97C7-F271-E449-8FE2-389AEA73B4DF}" type="slidenum">
              <a:rPr lang="en-US" smtClean="0"/>
              <a:t>‹#›</a:t>
            </a:fld>
            <a:endParaRPr lang="en-US"/>
          </a:p>
        </p:txBody>
      </p:sp>
    </p:spTree>
    <p:extLst>
      <p:ext uri="{BB962C8B-B14F-4D97-AF65-F5344CB8AC3E}">
        <p14:creationId xmlns:p14="http://schemas.microsoft.com/office/powerpoint/2010/main" val="1521008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6F9EA5-0F99-0BDD-4925-B738E1520963}"/>
              </a:ext>
            </a:extLst>
          </p:cNvPr>
          <p:cNvSpPr>
            <a:spLocks noGrp="1"/>
          </p:cNvSpPr>
          <p:nvPr>
            <p:ph type="ctrTitle"/>
          </p:nvPr>
        </p:nvSpPr>
        <p:spPr>
          <a:xfrm>
            <a:off x="1524000" y="1293338"/>
            <a:ext cx="9144000" cy="3274592"/>
          </a:xfrm>
        </p:spPr>
        <p:txBody>
          <a:bodyPr anchor="ctr">
            <a:normAutofit/>
          </a:bodyPr>
          <a:lstStyle/>
          <a:p>
            <a:r>
              <a:rPr lang="en-US" sz="6700"/>
              <a:t>Topic 7 - </a:t>
            </a:r>
            <a:r>
              <a:rPr lang="en-MY" sz="6700"/>
              <a:t>Infrastructure as a Service (IaaS) Providers</a:t>
            </a:r>
            <a:br>
              <a:rPr lang="en-MY" sz="6700"/>
            </a:br>
            <a:endParaRPr lang="en-US" sz="6700"/>
          </a:p>
        </p:txBody>
      </p:sp>
      <p:sp>
        <p:nvSpPr>
          <p:cNvPr id="3" name="Subtitle 2">
            <a:extLst>
              <a:ext uri="{FF2B5EF4-FFF2-40B4-BE49-F238E27FC236}">
                <a16:creationId xmlns:a16="http://schemas.microsoft.com/office/drawing/2014/main" id="{1C1D4AE7-5697-D378-1A75-7FFEA76010C5}"/>
              </a:ext>
            </a:extLst>
          </p:cNvPr>
          <p:cNvSpPr>
            <a:spLocks noGrp="1"/>
          </p:cNvSpPr>
          <p:nvPr>
            <p:ph type="subTitle" idx="1"/>
          </p:nvPr>
        </p:nvSpPr>
        <p:spPr>
          <a:xfrm>
            <a:off x="1524000" y="5514052"/>
            <a:ext cx="9144000" cy="651910"/>
          </a:xfrm>
        </p:spPr>
        <p:txBody>
          <a:bodyPr anchor="ctr">
            <a:normAutofit/>
          </a:bodyPr>
          <a:lstStyle/>
          <a:p>
            <a:r>
              <a:rPr lang="en-MY" dirty="0"/>
              <a:t>Exploring Features, Technologies, and Leading Providers</a:t>
            </a:r>
            <a:endParaRPr lang="en-US" dirty="0"/>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0474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21AF00-9718-7660-208B-FB8ED126070F}"/>
              </a:ext>
            </a:extLst>
          </p:cNvPr>
          <p:cNvSpPr>
            <a:spLocks noGrp="1"/>
          </p:cNvSpPr>
          <p:nvPr>
            <p:ph type="title"/>
          </p:nvPr>
        </p:nvSpPr>
        <p:spPr>
          <a:xfrm>
            <a:off x="808638" y="386930"/>
            <a:ext cx="9236700" cy="1188950"/>
          </a:xfrm>
        </p:spPr>
        <p:txBody>
          <a:bodyPr anchor="b">
            <a:normAutofit/>
          </a:bodyPr>
          <a:lstStyle/>
          <a:p>
            <a:r>
              <a:rPr lang="en-MY" sz="3800" b="1"/>
              <a:t>Introduction to IaaS</a:t>
            </a:r>
            <a:br>
              <a:rPr lang="en-MY" sz="3800"/>
            </a:br>
            <a:endParaRPr lang="en-US" sz="3800"/>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9284DC0-96BD-2081-1646-16D0BE6B9891}"/>
              </a:ext>
            </a:extLst>
          </p:cNvPr>
          <p:cNvSpPr>
            <a:spLocks noGrp="1"/>
          </p:cNvSpPr>
          <p:nvPr>
            <p:ph idx="1"/>
          </p:nvPr>
        </p:nvSpPr>
        <p:spPr>
          <a:xfrm>
            <a:off x="793660" y="2599509"/>
            <a:ext cx="10143668" cy="3435531"/>
          </a:xfrm>
        </p:spPr>
        <p:txBody>
          <a:bodyPr anchor="ctr">
            <a:normAutofit/>
          </a:bodyPr>
          <a:lstStyle/>
          <a:p>
            <a:r>
              <a:rPr lang="en-MY" sz="2400"/>
              <a:t>Infrastructure as a Service (IaaS) is a form of cloud computing that provides virtualized computing resources over the internet. With IaaS, businesses can rent servers, storage, and networking infrastructure on-demand, rather than owning and maintaining physical data centers. It provides maximum control over operating systems, storage, and deployed applications, making it ideal for system administrators and developers.</a:t>
            </a:r>
          </a:p>
          <a:p>
            <a:r>
              <a:rPr lang="en-MY" sz="2400"/>
              <a:t>This model lays the foundation for understanding how modern cloud infrastructures are structured and consumed, leading into a comparison with other cloud service models.</a:t>
            </a:r>
          </a:p>
          <a:p>
            <a:endParaRPr lang="en-US" sz="2400"/>
          </a:p>
        </p:txBody>
      </p:sp>
    </p:spTree>
    <p:extLst>
      <p:ext uri="{BB962C8B-B14F-4D97-AF65-F5344CB8AC3E}">
        <p14:creationId xmlns:p14="http://schemas.microsoft.com/office/powerpoint/2010/main" val="2953417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A603A4-0966-BA0B-1E86-00B98BD515E5}"/>
              </a:ext>
            </a:extLst>
          </p:cNvPr>
          <p:cNvSpPr>
            <a:spLocks noGrp="1"/>
          </p:cNvSpPr>
          <p:nvPr>
            <p:ph type="title"/>
          </p:nvPr>
        </p:nvSpPr>
        <p:spPr>
          <a:xfrm>
            <a:off x="808638" y="386930"/>
            <a:ext cx="9236700" cy="1188950"/>
          </a:xfrm>
        </p:spPr>
        <p:txBody>
          <a:bodyPr anchor="b">
            <a:normAutofit/>
          </a:bodyPr>
          <a:lstStyle/>
          <a:p>
            <a:r>
              <a:rPr lang="en-MY" sz="3800" b="1"/>
              <a:t>IaaS in Cloud Models</a:t>
            </a:r>
            <a:br>
              <a:rPr lang="en-MY" sz="3800"/>
            </a:br>
            <a:endParaRPr lang="en-US" sz="3800"/>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87D03CE-E9DB-E266-C5A3-99FEA32C3CCC}"/>
              </a:ext>
            </a:extLst>
          </p:cNvPr>
          <p:cNvSpPr>
            <a:spLocks noGrp="1"/>
          </p:cNvSpPr>
          <p:nvPr>
            <p:ph idx="1"/>
          </p:nvPr>
        </p:nvSpPr>
        <p:spPr>
          <a:xfrm>
            <a:off x="793660" y="2599509"/>
            <a:ext cx="10143668" cy="3435531"/>
          </a:xfrm>
        </p:spPr>
        <p:txBody>
          <a:bodyPr anchor="ctr">
            <a:normAutofit/>
          </a:bodyPr>
          <a:lstStyle/>
          <a:p>
            <a:r>
              <a:rPr lang="en-MY" sz="2400"/>
              <a:t>IaaS is one of the three main cloud service models: IaaS, PaaS, and SaaS. It offers the highest level of flexibility and management control. </a:t>
            </a:r>
          </a:p>
          <a:p>
            <a:r>
              <a:rPr lang="en-MY" sz="2400"/>
              <a:t>Understanding IaaS's position helps us appreciate the unique features that make it suitable for specific use cases, which we will now explore.</a:t>
            </a:r>
          </a:p>
          <a:p>
            <a:endParaRPr lang="en-US" sz="2400"/>
          </a:p>
        </p:txBody>
      </p:sp>
    </p:spTree>
    <p:extLst>
      <p:ext uri="{BB962C8B-B14F-4D97-AF65-F5344CB8AC3E}">
        <p14:creationId xmlns:p14="http://schemas.microsoft.com/office/powerpoint/2010/main" val="1143883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25678B5-6E28-A2C3-57C7-91522A17B4D2}"/>
              </a:ext>
            </a:extLst>
          </p:cNvPr>
          <p:cNvSpPr>
            <a:spLocks noGrp="1"/>
          </p:cNvSpPr>
          <p:nvPr>
            <p:ph type="title"/>
          </p:nvPr>
        </p:nvSpPr>
        <p:spPr>
          <a:xfrm>
            <a:off x="621792" y="1161288"/>
            <a:ext cx="3602736" cy="4526280"/>
          </a:xfrm>
        </p:spPr>
        <p:txBody>
          <a:bodyPr>
            <a:normAutofit/>
          </a:bodyPr>
          <a:lstStyle/>
          <a:p>
            <a:r>
              <a:rPr lang="en-MY" sz="4000" b="1"/>
              <a:t>Key Features of IaaS</a:t>
            </a:r>
            <a:br>
              <a:rPr lang="en-MY" sz="4000"/>
            </a:br>
            <a:endParaRPr lang="en-US" sz="4000"/>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B3B024F4-28FA-B02A-B7D3-6C69E837B6D4}"/>
              </a:ext>
            </a:extLst>
          </p:cNvPr>
          <p:cNvGraphicFramePr>
            <a:graphicFrameLocks noGrp="1"/>
          </p:cNvGraphicFramePr>
          <p:nvPr>
            <p:ph idx="1"/>
            <p:extLst>
              <p:ext uri="{D42A27DB-BD31-4B8C-83A1-F6EECF244321}">
                <p14:modId xmlns:p14="http://schemas.microsoft.com/office/powerpoint/2010/main" val="193968824"/>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85101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1D0BB2-0041-0362-CB23-DFFA3150F09C}"/>
              </a:ext>
            </a:extLst>
          </p:cNvPr>
          <p:cNvSpPr>
            <a:spLocks noGrp="1"/>
          </p:cNvSpPr>
          <p:nvPr>
            <p:ph type="title"/>
          </p:nvPr>
        </p:nvSpPr>
        <p:spPr>
          <a:xfrm>
            <a:off x="1043631" y="809898"/>
            <a:ext cx="9942716" cy="1554480"/>
          </a:xfrm>
        </p:spPr>
        <p:txBody>
          <a:bodyPr anchor="ctr">
            <a:normAutofit/>
          </a:bodyPr>
          <a:lstStyle/>
          <a:p>
            <a:r>
              <a:rPr lang="en-MY" sz="4800" b="1"/>
              <a:t>Elasticity and Scalability</a:t>
            </a:r>
            <a:br>
              <a:rPr lang="en-MY" sz="4800"/>
            </a:br>
            <a:endParaRPr lang="en-US" sz="4800"/>
          </a:p>
        </p:txBody>
      </p:sp>
      <p:sp>
        <p:nvSpPr>
          <p:cNvPr id="3" name="Content Placeholder 2">
            <a:extLst>
              <a:ext uri="{FF2B5EF4-FFF2-40B4-BE49-F238E27FC236}">
                <a16:creationId xmlns:a16="http://schemas.microsoft.com/office/drawing/2014/main" id="{615AD817-E1D1-83B9-FB53-C3721E6FA3F1}"/>
              </a:ext>
            </a:extLst>
          </p:cNvPr>
          <p:cNvSpPr>
            <a:spLocks noGrp="1"/>
          </p:cNvSpPr>
          <p:nvPr>
            <p:ph idx="1"/>
          </p:nvPr>
        </p:nvSpPr>
        <p:spPr>
          <a:xfrm>
            <a:off x="1045028" y="3017522"/>
            <a:ext cx="9941319" cy="3124658"/>
          </a:xfrm>
        </p:spPr>
        <p:txBody>
          <a:bodyPr anchor="ctr">
            <a:normAutofit/>
          </a:bodyPr>
          <a:lstStyle/>
          <a:p>
            <a:r>
              <a:rPr lang="en-MY" sz="2400"/>
              <a:t>Elasticity refers to the ability of a system to automatically scale in or out depending on demand. For example, during a major sales event, an e-commerce site can automatically add servers to handle increased traffic, and reduce them once traffic returns to normal—ensuring cost optimization and performance stability.</a:t>
            </a:r>
          </a:p>
          <a:p>
            <a:r>
              <a:rPr lang="en-MY" sz="2400"/>
              <a:t>To enable this kind of flexibility, IaaS depends heavily on virtualization.</a:t>
            </a:r>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4709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08FB79-D417-C2B4-5307-53FB11CF1E21}"/>
              </a:ext>
            </a:extLst>
          </p:cNvPr>
          <p:cNvSpPr>
            <a:spLocks noGrp="1"/>
          </p:cNvSpPr>
          <p:nvPr>
            <p:ph type="title"/>
          </p:nvPr>
        </p:nvSpPr>
        <p:spPr>
          <a:xfrm>
            <a:off x="1043631" y="809898"/>
            <a:ext cx="9942716" cy="1554480"/>
          </a:xfrm>
        </p:spPr>
        <p:txBody>
          <a:bodyPr anchor="ctr">
            <a:normAutofit/>
          </a:bodyPr>
          <a:lstStyle/>
          <a:p>
            <a:r>
              <a:rPr lang="en-MY" sz="4800" b="1"/>
              <a:t>Virtualization Technology</a:t>
            </a:r>
            <a:r>
              <a:rPr lang="en-MY" sz="4800"/>
              <a:t> </a:t>
            </a:r>
            <a:br>
              <a:rPr lang="en-MY" sz="4800"/>
            </a:br>
            <a:endParaRPr lang="en-US" sz="4800"/>
          </a:p>
        </p:txBody>
      </p:sp>
      <p:sp>
        <p:nvSpPr>
          <p:cNvPr id="3" name="Content Placeholder 2">
            <a:extLst>
              <a:ext uri="{FF2B5EF4-FFF2-40B4-BE49-F238E27FC236}">
                <a16:creationId xmlns:a16="http://schemas.microsoft.com/office/drawing/2014/main" id="{AE62D0C7-88E8-FB0E-F6E6-31AEA84C0D72}"/>
              </a:ext>
            </a:extLst>
          </p:cNvPr>
          <p:cNvSpPr>
            <a:spLocks noGrp="1"/>
          </p:cNvSpPr>
          <p:nvPr>
            <p:ph idx="1"/>
          </p:nvPr>
        </p:nvSpPr>
        <p:spPr>
          <a:xfrm>
            <a:off x="1045028" y="3017522"/>
            <a:ext cx="9941319" cy="3124658"/>
          </a:xfrm>
        </p:spPr>
        <p:txBody>
          <a:bodyPr anchor="ctr">
            <a:normAutofit/>
          </a:bodyPr>
          <a:lstStyle/>
          <a:p>
            <a:r>
              <a:rPr lang="en-MY" sz="2400"/>
              <a:t>IaaS heavily relies on virtualization to abstract hardware resources. Virtual machines (VMs) are created on physical servers using hypervisors such as VMware ESXi, Xen, KVM, or Hyper-V. This enables multiple users to share the same physical hardware securely and efficiently, reducing hardware costs and improving scalability.</a:t>
            </a:r>
          </a:p>
          <a:p>
            <a:r>
              <a:rPr lang="en-MY" sz="2400"/>
              <a:t>Since IaaS infrastructure spans the globe, let’s now look at the importance of where this infrastructure is physically located.</a:t>
            </a:r>
          </a:p>
          <a:p>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7903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1C5188-4C3D-A2BA-8245-71D2C9B2BBDF}"/>
              </a:ext>
            </a:extLst>
          </p:cNvPr>
          <p:cNvSpPr>
            <a:spLocks noGrp="1"/>
          </p:cNvSpPr>
          <p:nvPr>
            <p:ph type="title"/>
          </p:nvPr>
        </p:nvSpPr>
        <p:spPr>
          <a:xfrm>
            <a:off x="1043631" y="809898"/>
            <a:ext cx="9942716" cy="1554480"/>
          </a:xfrm>
        </p:spPr>
        <p:txBody>
          <a:bodyPr anchor="ctr">
            <a:normAutofit/>
          </a:bodyPr>
          <a:lstStyle/>
          <a:p>
            <a:r>
              <a:rPr lang="en-MY" sz="4800" b="1"/>
              <a:t>Geographic Presence</a:t>
            </a:r>
            <a:br>
              <a:rPr lang="en-MY" sz="4800"/>
            </a:br>
            <a:endParaRPr lang="en-US" sz="4800"/>
          </a:p>
        </p:txBody>
      </p:sp>
      <p:sp>
        <p:nvSpPr>
          <p:cNvPr id="3" name="Content Placeholder 2">
            <a:extLst>
              <a:ext uri="{FF2B5EF4-FFF2-40B4-BE49-F238E27FC236}">
                <a16:creationId xmlns:a16="http://schemas.microsoft.com/office/drawing/2014/main" id="{661E97C2-0EC3-75EF-C3A0-ADD341AB8601}"/>
              </a:ext>
            </a:extLst>
          </p:cNvPr>
          <p:cNvSpPr>
            <a:spLocks noGrp="1"/>
          </p:cNvSpPr>
          <p:nvPr>
            <p:ph idx="1"/>
          </p:nvPr>
        </p:nvSpPr>
        <p:spPr>
          <a:xfrm>
            <a:off x="1045028" y="3017522"/>
            <a:ext cx="9941319" cy="3124658"/>
          </a:xfrm>
        </p:spPr>
        <p:txBody>
          <a:bodyPr anchor="ctr">
            <a:normAutofit/>
          </a:bodyPr>
          <a:lstStyle/>
          <a:p>
            <a:r>
              <a:rPr lang="en-MY" sz="2400"/>
              <a:t>Most IaaS providers have a global network of data centers. These are grouped into geographic regions and availability zones. The wider the presence, the more options a business has to place data closer to users—reducing latency and meeting data residency laws.</a:t>
            </a:r>
          </a:p>
          <a:p>
            <a:r>
              <a:rPr lang="en-MY" sz="2400"/>
              <a:t>But having global data centers alone isn’t enough—strategic placement plays a crucial role, as we’ll now see.</a:t>
            </a:r>
          </a:p>
          <a:p>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1930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263052-6152-562C-E9BE-09E03BA8FA12}"/>
              </a:ext>
            </a:extLst>
          </p:cNvPr>
          <p:cNvSpPr>
            <a:spLocks noGrp="1"/>
          </p:cNvSpPr>
          <p:nvPr>
            <p:ph type="title"/>
          </p:nvPr>
        </p:nvSpPr>
        <p:spPr>
          <a:xfrm>
            <a:off x="1043631" y="809898"/>
            <a:ext cx="9942716" cy="1554480"/>
          </a:xfrm>
        </p:spPr>
        <p:txBody>
          <a:bodyPr anchor="ctr">
            <a:normAutofit/>
          </a:bodyPr>
          <a:lstStyle/>
          <a:p>
            <a:r>
              <a:rPr lang="en-MY" sz="4800" b="1"/>
              <a:t>Importance of Data Center Location</a:t>
            </a:r>
            <a:r>
              <a:rPr lang="en-MY" sz="4800"/>
              <a:t> </a:t>
            </a:r>
            <a:br>
              <a:rPr lang="en-MY" sz="4800"/>
            </a:br>
            <a:endParaRPr lang="en-US" sz="4800"/>
          </a:p>
        </p:txBody>
      </p:sp>
      <p:sp>
        <p:nvSpPr>
          <p:cNvPr id="3" name="Content Placeholder 2">
            <a:extLst>
              <a:ext uri="{FF2B5EF4-FFF2-40B4-BE49-F238E27FC236}">
                <a16:creationId xmlns:a16="http://schemas.microsoft.com/office/drawing/2014/main" id="{F7D2AB3E-4183-7166-874D-F6B820FF6404}"/>
              </a:ext>
            </a:extLst>
          </p:cNvPr>
          <p:cNvSpPr>
            <a:spLocks noGrp="1"/>
          </p:cNvSpPr>
          <p:nvPr>
            <p:ph idx="1"/>
          </p:nvPr>
        </p:nvSpPr>
        <p:spPr>
          <a:xfrm>
            <a:off x="1045028" y="3017522"/>
            <a:ext cx="9941319" cy="3124658"/>
          </a:xfrm>
        </p:spPr>
        <p:txBody>
          <a:bodyPr anchor="ctr">
            <a:normAutofit/>
          </a:bodyPr>
          <a:lstStyle/>
          <a:p>
            <a:r>
              <a:rPr lang="en-MY" sz="2400"/>
              <a:t>Choosing a data center location is crucial for performance and compliance. For instance, a company targeting Asian customers might choose a Singapore or Tokyo region. Data locality also affects legal compliance, e.g., GDPR compliance in Europe.</a:t>
            </a:r>
          </a:p>
          <a:p>
            <a:r>
              <a:rPr lang="en-MY" sz="2400"/>
              <a:t>Once a location is selected, users need methods to interact with and manage their infrastructure.</a:t>
            </a:r>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8614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9E14FE-4AD8-AC65-036F-06C1543110D7}"/>
              </a:ext>
            </a:extLst>
          </p:cNvPr>
          <p:cNvSpPr>
            <a:spLocks noGrp="1"/>
          </p:cNvSpPr>
          <p:nvPr>
            <p:ph type="title"/>
          </p:nvPr>
        </p:nvSpPr>
        <p:spPr>
          <a:xfrm>
            <a:off x="1043631" y="809898"/>
            <a:ext cx="9942716" cy="1554480"/>
          </a:xfrm>
        </p:spPr>
        <p:txBody>
          <a:bodyPr anchor="ctr">
            <a:normAutofit/>
          </a:bodyPr>
          <a:lstStyle/>
          <a:p>
            <a:r>
              <a:rPr lang="en-MY" b="1" dirty="0"/>
              <a:t>User Interfaces and Access to Servers</a:t>
            </a:r>
            <a:br>
              <a:rPr lang="en-MY" dirty="0"/>
            </a:br>
            <a:endParaRPr lang="en-US" dirty="0"/>
          </a:p>
        </p:txBody>
      </p:sp>
      <p:sp>
        <p:nvSpPr>
          <p:cNvPr id="3" name="Content Placeholder 2">
            <a:extLst>
              <a:ext uri="{FF2B5EF4-FFF2-40B4-BE49-F238E27FC236}">
                <a16:creationId xmlns:a16="http://schemas.microsoft.com/office/drawing/2014/main" id="{46580682-AE8D-1BA5-F29F-1930D2C8FD02}"/>
              </a:ext>
            </a:extLst>
          </p:cNvPr>
          <p:cNvSpPr>
            <a:spLocks noGrp="1"/>
          </p:cNvSpPr>
          <p:nvPr>
            <p:ph idx="1"/>
          </p:nvPr>
        </p:nvSpPr>
        <p:spPr>
          <a:xfrm>
            <a:off x="1045028" y="3017522"/>
            <a:ext cx="9941319" cy="3124658"/>
          </a:xfrm>
        </p:spPr>
        <p:txBody>
          <a:bodyPr anchor="ctr">
            <a:normAutofit/>
          </a:bodyPr>
          <a:lstStyle/>
          <a:p>
            <a:pPr>
              <a:buFont typeface="Arial" panose="020B0604020202020204" pitchFamily="34" charset="0"/>
              <a:buChar char="•"/>
            </a:pPr>
            <a:r>
              <a:rPr lang="en-MY" sz="2400"/>
              <a:t>Web-based dashboards (e.g., AWS Management Console)</a:t>
            </a:r>
          </a:p>
          <a:p>
            <a:pPr>
              <a:buFont typeface="Arial" panose="020B0604020202020204" pitchFamily="34" charset="0"/>
              <a:buChar char="•"/>
            </a:pPr>
            <a:r>
              <a:rPr lang="en-MY" sz="2400"/>
              <a:t>Command-line tools (e.g., Azure CLI, AWS CLI)</a:t>
            </a:r>
          </a:p>
          <a:p>
            <a:pPr>
              <a:buFont typeface="Arial" panose="020B0604020202020204" pitchFamily="34" charset="0"/>
              <a:buChar char="•"/>
            </a:pPr>
            <a:r>
              <a:rPr lang="en-MY" sz="2400"/>
              <a:t>RESTful APIs and SDKs for automation This variety ensures accessibility for both beginners and advanced users.</a:t>
            </a:r>
          </a:p>
          <a:p>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4616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6567BF-88BF-2197-A862-309E8C4A3748}"/>
              </a:ext>
            </a:extLst>
          </p:cNvPr>
          <p:cNvSpPr>
            <a:spLocks noGrp="1"/>
          </p:cNvSpPr>
          <p:nvPr>
            <p:ph type="title"/>
          </p:nvPr>
        </p:nvSpPr>
        <p:spPr>
          <a:xfrm>
            <a:off x="1043631" y="809898"/>
            <a:ext cx="9942716" cy="1554480"/>
          </a:xfrm>
        </p:spPr>
        <p:txBody>
          <a:bodyPr anchor="ctr">
            <a:normAutofit/>
          </a:bodyPr>
          <a:lstStyle/>
          <a:p>
            <a:r>
              <a:rPr lang="en-MY" sz="4800" b="1"/>
              <a:t>Interfaces in Practice</a:t>
            </a:r>
            <a:r>
              <a:rPr lang="en-MY" sz="4800"/>
              <a:t> </a:t>
            </a:r>
            <a:br>
              <a:rPr lang="en-MY" sz="4800"/>
            </a:br>
            <a:endParaRPr lang="en-US" sz="4800"/>
          </a:p>
        </p:txBody>
      </p:sp>
      <p:sp>
        <p:nvSpPr>
          <p:cNvPr id="3" name="Content Placeholder 2">
            <a:extLst>
              <a:ext uri="{FF2B5EF4-FFF2-40B4-BE49-F238E27FC236}">
                <a16:creationId xmlns:a16="http://schemas.microsoft.com/office/drawing/2014/main" id="{8B2AEBAF-00E1-A1BE-0852-753F5D576B76}"/>
              </a:ext>
            </a:extLst>
          </p:cNvPr>
          <p:cNvSpPr>
            <a:spLocks noGrp="1"/>
          </p:cNvSpPr>
          <p:nvPr>
            <p:ph idx="1"/>
          </p:nvPr>
        </p:nvSpPr>
        <p:spPr>
          <a:xfrm>
            <a:off x="1045028" y="3017522"/>
            <a:ext cx="9941319" cy="3124658"/>
          </a:xfrm>
        </p:spPr>
        <p:txBody>
          <a:bodyPr anchor="ctr">
            <a:normAutofit/>
          </a:bodyPr>
          <a:lstStyle/>
          <a:p>
            <a:r>
              <a:rPr lang="en-MY" sz="2400"/>
              <a:t>For example, DevOps teams often use APIs or tools like Terraform to automatically create and manage infrastructure as code. This automation improves consistency and reduces human error in large deployments.</a:t>
            </a:r>
          </a:p>
          <a:p>
            <a:r>
              <a:rPr lang="en-MY" sz="2400"/>
              <a:t>Let’s now consider how some businesses plan ahead and save costs through capacity reservation.</a:t>
            </a:r>
          </a:p>
          <a:p>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588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D896E9-7FD9-0BA0-93CA-17ACA82380B0}"/>
              </a:ext>
            </a:extLst>
          </p:cNvPr>
          <p:cNvSpPr>
            <a:spLocks noGrp="1"/>
          </p:cNvSpPr>
          <p:nvPr>
            <p:ph type="title"/>
          </p:nvPr>
        </p:nvSpPr>
        <p:spPr>
          <a:xfrm>
            <a:off x="1043631" y="809898"/>
            <a:ext cx="9942716" cy="1554480"/>
          </a:xfrm>
        </p:spPr>
        <p:txBody>
          <a:bodyPr anchor="ctr">
            <a:normAutofit/>
          </a:bodyPr>
          <a:lstStyle/>
          <a:p>
            <a:r>
              <a:rPr lang="en-MY" sz="4800" b="1"/>
              <a:t>Advanced Reservation of Capacity</a:t>
            </a:r>
            <a:br>
              <a:rPr lang="en-MY" sz="4800"/>
            </a:br>
            <a:endParaRPr lang="en-US" sz="4800"/>
          </a:p>
        </p:txBody>
      </p:sp>
      <p:sp>
        <p:nvSpPr>
          <p:cNvPr id="3" name="Content Placeholder 2">
            <a:extLst>
              <a:ext uri="{FF2B5EF4-FFF2-40B4-BE49-F238E27FC236}">
                <a16:creationId xmlns:a16="http://schemas.microsoft.com/office/drawing/2014/main" id="{0EB5F34E-28CD-A277-EB23-46A970A6A819}"/>
              </a:ext>
            </a:extLst>
          </p:cNvPr>
          <p:cNvSpPr>
            <a:spLocks noGrp="1"/>
          </p:cNvSpPr>
          <p:nvPr>
            <p:ph idx="1"/>
          </p:nvPr>
        </p:nvSpPr>
        <p:spPr>
          <a:xfrm>
            <a:off x="1045028" y="3017522"/>
            <a:ext cx="9941319" cy="3124658"/>
          </a:xfrm>
        </p:spPr>
        <p:txBody>
          <a:bodyPr anchor="ctr">
            <a:normAutofit/>
          </a:bodyPr>
          <a:lstStyle/>
          <a:p>
            <a:r>
              <a:rPr lang="en-MY" sz="2400"/>
              <a:t>IaaS providers often offer reserved instances at a lower cost compared to on-demand instances. This is useful when you have predictable workloads. For instance, a business with a steady monthly traffic pattern can reserve capacity in advance and save up to 70%.</a:t>
            </a:r>
          </a:p>
          <a:p>
            <a:r>
              <a:rPr lang="en-MY" sz="2400"/>
              <a:t>To see how this works in practice, consider a real-world academic use case.</a:t>
            </a:r>
          </a:p>
          <a:p>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9575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B1EC28-1CB8-74A6-3198-D57ECB71933B}"/>
              </a:ext>
            </a:extLst>
          </p:cNvPr>
          <p:cNvSpPr>
            <a:spLocks noGrp="1"/>
          </p:cNvSpPr>
          <p:nvPr>
            <p:ph type="title"/>
          </p:nvPr>
        </p:nvSpPr>
        <p:spPr>
          <a:xfrm>
            <a:off x="1043631" y="809898"/>
            <a:ext cx="9942716" cy="1554480"/>
          </a:xfrm>
        </p:spPr>
        <p:txBody>
          <a:bodyPr anchor="ctr">
            <a:normAutofit/>
          </a:bodyPr>
          <a:lstStyle/>
          <a:p>
            <a:r>
              <a:rPr lang="en-MY" sz="4800" b="1"/>
              <a:t>Real-World Example of Reservation</a:t>
            </a:r>
            <a:r>
              <a:rPr lang="en-MY" sz="4800"/>
              <a:t> </a:t>
            </a:r>
            <a:br>
              <a:rPr lang="en-MY" sz="4800"/>
            </a:br>
            <a:endParaRPr lang="en-US" sz="4800"/>
          </a:p>
        </p:txBody>
      </p:sp>
      <p:sp>
        <p:nvSpPr>
          <p:cNvPr id="3" name="Content Placeholder 2">
            <a:extLst>
              <a:ext uri="{FF2B5EF4-FFF2-40B4-BE49-F238E27FC236}">
                <a16:creationId xmlns:a16="http://schemas.microsoft.com/office/drawing/2014/main" id="{69B094C3-DAC5-6F3E-2301-DCAFFCC7179F}"/>
              </a:ext>
            </a:extLst>
          </p:cNvPr>
          <p:cNvSpPr>
            <a:spLocks noGrp="1"/>
          </p:cNvSpPr>
          <p:nvPr>
            <p:ph idx="1"/>
          </p:nvPr>
        </p:nvSpPr>
        <p:spPr>
          <a:xfrm>
            <a:off x="1045028" y="3017522"/>
            <a:ext cx="9941319" cy="3124658"/>
          </a:xfrm>
        </p:spPr>
        <p:txBody>
          <a:bodyPr anchor="ctr">
            <a:normAutofit/>
          </a:bodyPr>
          <a:lstStyle/>
          <a:p>
            <a:r>
              <a:rPr lang="en-MY" sz="2400"/>
              <a:t>Imagine a university hosting an exam portal every semester. Since they know the exact dates of high usage, they can reserve capacity in advance, ensuring both cost savings and availability.</a:t>
            </a:r>
          </a:p>
          <a:p>
            <a:r>
              <a:rPr lang="en-MY" sz="2400"/>
              <a:t>But what happens when usage patterns are unpredictable? That’s where auto scaling and load balancing come in.</a:t>
            </a:r>
          </a:p>
          <a:p>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600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ADECBD-D3AD-9F0D-0ECC-99F6A6B4290D}"/>
              </a:ext>
            </a:extLst>
          </p:cNvPr>
          <p:cNvSpPr>
            <a:spLocks noGrp="1"/>
          </p:cNvSpPr>
          <p:nvPr>
            <p:ph type="title"/>
          </p:nvPr>
        </p:nvSpPr>
        <p:spPr>
          <a:xfrm>
            <a:off x="1043631" y="809898"/>
            <a:ext cx="9942716" cy="1554480"/>
          </a:xfrm>
        </p:spPr>
        <p:txBody>
          <a:bodyPr anchor="ctr">
            <a:normAutofit/>
          </a:bodyPr>
          <a:lstStyle/>
          <a:p>
            <a:r>
              <a:rPr lang="en-MY" sz="4800" b="1"/>
              <a:t>Auto Scaling and Load Balancing</a:t>
            </a:r>
            <a:br>
              <a:rPr lang="en-MY" sz="4800"/>
            </a:br>
            <a:endParaRPr lang="en-US" sz="4800"/>
          </a:p>
        </p:txBody>
      </p:sp>
      <p:sp>
        <p:nvSpPr>
          <p:cNvPr id="3" name="Content Placeholder 2">
            <a:extLst>
              <a:ext uri="{FF2B5EF4-FFF2-40B4-BE49-F238E27FC236}">
                <a16:creationId xmlns:a16="http://schemas.microsoft.com/office/drawing/2014/main" id="{37EDFA7C-1C65-A50E-DF67-78705F360854}"/>
              </a:ext>
            </a:extLst>
          </p:cNvPr>
          <p:cNvSpPr>
            <a:spLocks noGrp="1"/>
          </p:cNvSpPr>
          <p:nvPr>
            <p:ph idx="1"/>
          </p:nvPr>
        </p:nvSpPr>
        <p:spPr>
          <a:xfrm>
            <a:off x="1045028" y="3017522"/>
            <a:ext cx="9941319" cy="3124658"/>
          </a:xfrm>
        </p:spPr>
        <p:txBody>
          <a:bodyPr anchor="ctr">
            <a:normAutofit/>
          </a:bodyPr>
          <a:lstStyle/>
          <a:p>
            <a:r>
              <a:rPr lang="en-MY" sz="2400"/>
              <a:t>Auto Scaling automatically adjusts the number of VM instances to meet demand. Load Balancing distributes traffic evenly across instances. Together, they ensure high availability, fault tolerance, and cost efficiency during variable load conditions.</a:t>
            </a:r>
          </a:p>
          <a:p>
            <a:r>
              <a:rPr lang="en-MY" sz="2400"/>
              <a:t>This is especially crucial for applications facing sudden traffic spikes, like e-commerce websites.</a:t>
            </a:r>
          </a:p>
          <a:p>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9211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BFD5B5-F01B-7075-91F8-2865DC05EE24}"/>
              </a:ext>
            </a:extLst>
          </p:cNvPr>
          <p:cNvSpPr>
            <a:spLocks noGrp="1"/>
          </p:cNvSpPr>
          <p:nvPr>
            <p:ph type="title"/>
          </p:nvPr>
        </p:nvSpPr>
        <p:spPr>
          <a:xfrm>
            <a:off x="1043631" y="809898"/>
            <a:ext cx="9942716" cy="1554480"/>
          </a:xfrm>
        </p:spPr>
        <p:txBody>
          <a:bodyPr anchor="ctr">
            <a:normAutofit/>
          </a:bodyPr>
          <a:lstStyle/>
          <a:p>
            <a:r>
              <a:rPr lang="en-MY" sz="4800" b="1"/>
              <a:t>E-commerce Example</a:t>
            </a:r>
            <a:r>
              <a:rPr lang="en-MY" sz="4800"/>
              <a:t> </a:t>
            </a:r>
            <a:br>
              <a:rPr lang="en-MY" sz="4800"/>
            </a:br>
            <a:endParaRPr lang="en-US" sz="4800"/>
          </a:p>
        </p:txBody>
      </p:sp>
      <p:sp>
        <p:nvSpPr>
          <p:cNvPr id="3" name="Content Placeholder 2">
            <a:extLst>
              <a:ext uri="{FF2B5EF4-FFF2-40B4-BE49-F238E27FC236}">
                <a16:creationId xmlns:a16="http://schemas.microsoft.com/office/drawing/2014/main" id="{96C4E024-EA1B-53B6-C4CC-CAB05F2859D6}"/>
              </a:ext>
            </a:extLst>
          </p:cNvPr>
          <p:cNvSpPr>
            <a:spLocks noGrp="1"/>
          </p:cNvSpPr>
          <p:nvPr>
            <p:ph idx="1"/>
          </p:nvPr>
        </p:nvSpPr>
        <p:spPr>
          <a:xfrm>
            <a:off x="1045028" y="3017522"/>
            <a:ext cx="9941319" cy="3124658"/>
          </a:xfrm>
        </p:spPr>
        <p:txBody>
          <a:bodyPr anchor="ctr">
            <a:normAutofit/>
          </a:bodyPr>
          <a:lstStyle/>
          <a:p>
            <a:r>
              <a:rPr lang="en-MY" sz="2400"/>
              <a:t>During flash sales, a fashion website may receive traffic spikes. Auto scaling adds more servers to handle the surge, and the load balancer routes users across these servers to prevent crashes, ensuring a smooth customer experience.</a:t>
            </a:r>
          </a:p>
          <a:p>
            <a:r>
              <a:rPr lang="en-MY" sz="2400"/>
              <a:t>To guarantee performance, these services are backed by formal agreements known as SLAs.</a:t>
            </a:r>
          </a:p>
          <a:p>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991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B41ABA-2632-5055-281E-ECB3F1F2266F}"/>
              </a:ext>
            </a:extLst>
          </p:cNvPr>
          <p:cNvSpPr>
            <a:spLocks noGrp="1"/>
          </p:cNvSpPr>
          <p:nvPr>
            <p:ph type="title"/>
          </p:nvPr>
        </p:nvSpPr>
        <p:spPr>
          <a:xfrm>
            <a:off x="1043631" y="809898"/>
            <a:ext cx="9942716" cy="1554480"/>
          </a:xfrm>
        </p:spPr>
        <p:txBody>
          <a:bodyPr anchor="ctr">
            <a:normAutofit/>
          </a:bodyPr>
          <a:lstStyle/>
          <a:p>
            <a:r>
              <a:rPr lang="en-MY" sz="4800" b="1"/>
              <a:t>Understanding SLAs</a:t>
            </a:r>
            <a:r>
              <a:rPr lang="en-MY" sz="4800"/>
              <a:t> </a:t>
            </a:r>
            <a:br>
              <a:rPr lang="en-MY" sz="4800"/>
            </a:br>
            <a:endParaRPr lang="en-US" sz="4800"/>
          </a:p>
        </p:txBody>
      </p:sp>
      <p:sp>
        <p:nvSpPr>
          <p:cNvPr id="3" name="Content Placeholder 2">
            <a:extLst>
              <a:ext uri="{FF2B5EF4-FFF2-40B4-BE49-F238E27FC236}">
                <a16:creationId xmlns:a16="http://schemas.microsoft.com/office/drawing/2014/main" id="{2B761F10-675C-95E9-FFB6-C0081E4DEAF5}"/>
              </a:ext>
            </a:extLst>
          </p:cNvPr>
          <p:cNvSpPr>
            <a:spLocks noGrp="1"/>
          </p:cNvSpPr>
          <p:nvPr>
            <p:ph idx="1"/>
          </p:nvPr>
        </p:nvSpPr>
        <p:spPr>
          <a:xfrm>
            <a:off x="1045028" y="3017522"/>
            <a:ext cx="9941319" cy="3124658"/>
          </a:xfrm>
        </p:spPr>
        <p:txBody>
          <a:bodyPr anchor="ctr">
            <a:normAutofit/>
          </a:bodyPr>
          <a:lstStyle/>
          <a:p>
            <a:r>
              <a:rPr lang="en-MY" sz="2400"/>
              <a:t>Service-Level Agreements define the expected level of service, typically including uptime (e.g., 99.99%), response times, and support levels. SLAs build trust and set accountability between provider and customer. Breaching SLAs may result in service credits.</a:t>
            </a:r>
          </a:p>
          <a:p>
            <a:r>
              <a:rPr lang="en-MY" sz="2400"/>
              <a:t>The implications of these agreements are significant—especially for mission-critical applications.</a:t>
            </a:r>
          </a:p>
          <a:p>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8433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883FD6-CE36-DD17-244F-A208AE0F6247}"/>
              </a:ext>
            </a:extLst>
          </p:cNvPr>
          <p:cNvSpPr>
            <a:spLocks noGrp="1"/>
          </p:cNvSpPr>
          <p:nvPr>
            <p:ph type="title"/>
          </p:nvPr>
        </p:nvSpPr>
        <p:spPr>
          <a:xfrm>
            <a:off x="1043631" y="809898"/>
            <a:ext cx="9942716" cy="1554480"/>
          </a:xfrm>
        </p:spPr>
        <p:txBody>
          <a:bodyPr anchor="ctr">
            <a:normAutofit/>
          </a:bodyPr>
          <a:lstStyle/>
          <a:p>
            <a:r>
              <a:rPr lang="en-MY" sz="4800" b="1"/>
              <a:t>SLA Implications</a:t>
            </a:r>
            <a:br>
              <a:rPr lang="en-MY" sz="4800"/>
            </a:br>
            <a:endParaRPr lang="en-US" sz="4800"/>
          </a:p>
        </p:txBody>
      </p:sp>
      <p:sp>
        <p:nvSpPr>
          <p:cNvPr id="3" name="Content Placeholder 2">
            <a:extLst>
              <a:ext uri="{FF2B5EF4-FFF2-40B4-BE49-F238E27FC236}">
                <a16:creationId xmlns:a16="http://schemas.microsoft.com/office/drawing/2014/main" id="{2D03AC81-3DD1-0D06-B18F-C7F622ABB5F8}"/>
              </a:ext>
            </a:extLst>
          </p:cNvPr>
          <p:cNvSpPr>
            <a:spLocks noGrp="1"/>
          </p:cNvSpPr>
          <p:nvPr>
            <p:ph idx="1"/>
          </p:nvPr>
        </p:nvSpPr>
        <p:spPr>
          <a:xfrm>
            <a:off x="1045028" y="3017522"/>
            <a:ext cx="9941319" cy="3124658"/>
          </a:xfrm>
        </p:spPr>
        <p:txBody>
          <a:bodyPr anchor="ctr">
            <a:normAutofit/>
          </a:bodyPr>
          <a:lstStyle/>
          <a:p>
            <a:r>
              <a:rPr lang="en-MY" sz="2400"/>
              <a:t>If a provider promises 99.99% uptime, this means only about 52 minutes of downtime per year is acceptable. Applications requiring high availability, like online banking, must evaluate SLAs critically before choosing a provider.</a:t>
            </a:r>
          </a:p>
          <a:p>
            <a:r>
              <a:rPr lang="en-MY" sz="2400"/>
              <a:t>Underpinning these performance commitments is the technology that manages VMs—hypervisors.</a:t>
            </a:r>
          </a:p>
          <a:p>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3622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8057E4-FAF9-5405-8D1B-82F317A1E373}"/>
              </a:ext>
            </a:extLst>
          </p:cNvPr>
          <p:cNvSpPr>
            <a:spLocks noGrp="1"/>
          </p:cNvSpPr>
          <p:nvPr>
            <p:ph type="title"/>
          </p:nvPr>
        </p:nvSpPr>
        <p:spPr>
          <a:xfrm>
            <a:off x="1043631" y="809898"/>
            <a:ext cx="9942716" cy="1554480"/>
          </a:xfrm>
        </p:spPr>
        <p:txBody>
          <a:bodyPr anchor="ctr">
            <a:normAutofit/>
          </a:bodyPr>
          <a:lstStyle/>
          <a:p>
            <a:r>
              <a:rPr lang="en-MY" sz="4800" b="1"/>
              <a:t>Hypervisors Overview</a:t>
            </a:r>
            <a:br>
              <a:rPr lang="en-MY" sz="4800"/>
            </a:br>
            <a:endParaRPr lang="en-US" sz="4800"/>
          </a:p>
        </p:txBody>
      </p:sp>
      <p:sp>
        <p:nvSpPr>
          <p:cNvPr id="3" name="Content Placeholder 2">
            <a:extLst>
              <a:ext uri="{FF2B5EF4-FFF2-40B4-BE49-F238E27FC236}">
                <a16:creationId xmlns:a16="http://schemas.microsoft.com/office/drawing/2014/main" id="{DD850D81-5368-36FB-F8AF-7E565D917222}"/>
              </a:ext>
            </a:extLst>
          </p:cNvPr>
          <p:cNvSpPr>
            <a:spLocks noGrp="1"/>
          </p:cNvSpPr>
          <p:nvPr>
            <p:ph idx="1"/>
          </p:nvPr>
        </p:nvSpPr>
        <p:spPr>
          <a:xfrm>
            <a:off x="1045028" y="3017522"/>
            <a:ext cx="9941319" cy="3124658"/>
          </a:xfrm>
        </p:spPr>
        <p:txBody>
          <a:bodyPr anchor="ctr">
            <a:normAutofit/>
          </a:bodyPr>
          <a:lstStyle/>
          <a:p>
            <a:pPr>
              <a:buNone/>
            </a:pPr>
            <a:r>
              <a:rPr lang="en-MY" sz="2400"/>
              <a:t>Hypervisors manage VMs and are classified into:</a:t>
            </a:r>
          </a:p>
          <a:p>
            <a:pPr>
              <a:buFont typeface="Arial" panose="020B0604020202020204" pitchFamily="34" charset="0"/>
              <a:buChar char="•"/>
            </a:pPr>
            <a:r>
              <a:rPr lang="en-MY" sz="2400"/>
              <a:t>Type 1: Bare-metal (e.g., Xen, VMware ESXi)</a:t>
            </a:r>
          </a:p>
          <a:p>
            <a:pPr>
              <a:buFont typeface="Arial" panose="020B0604020202020204" pitchFamily="34" charset="0"/>
              <a:buChar char="•"/>
            </a:pPr>
            <a:r>
              <a:rPr lang="en-MY" sz="2400"/>
              <a:t>Type 2: Hosted (e.g., VirtualBox) Type 1 hypervisors are more secure and commonly used in data centers. AWS uses a customized version of Xen and Nitro.</a:t>
            </a:r>
          </a:p>
          <a:p>
            <a:pPr marL="0" indent="0">
              <a:buNone/>
            </a:pPr>
            <a:r>
              <a:rPr lang="en-MY" sz="2400"/>
              <a:t>Hypervisors enable the use of multiple operating systems.</a:t>
            </a:r>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8288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BD655C-460A-4D71-F921-9308E84A171E}"/>
              </a:ext>
            </a:extLst>
          </p:cNvPr>
          <p:cNvSpPr>
            <a:spLocks noGrp="1"/>
          </p:cNvSpPr>
          <p:nvPr>
            <p:ph type="title"/>
          </p:nvPr>
        </p:nvSpPr>
        <p:spPr>
          <a:xfrm>
            <a:off x="1043631" y="809898"/>
            <a:ext cx="9942716" cy="1554480"/>
          </a:xfrm>
        </p:spPr>
        <p:txBody>
          <a:bodyPr anchor="ctr">
            <a:normAutofit/>
          </a:bodyPr>
          <a:lstStyle/>
          <a:p>
            <a:r>
              <a:rPr lang="en-MY" sz="4800" b="1"/>
              <a:t>Operating System Choices</a:t>
            </a:r>
            <a:br>
              <a:rPr lang="en-MY" sz="4800"/>
            </a:br>
            <a:endParaRPr lang="en-US" sz="4800"/>
          </a:p>
        </p:txBody>
      </p:sp>
      <p:sp>
        <p:nvSpPr>
          <p:cNvPr id="3" name="Content Placeholder 2">
            <a:extLst>
              <a:ext uri="{FF2B5EF4-FFF2-40B4-BE49-F238E27FC236}">
                <a16:creationId xmlns:a16="http://schemas.microsoft.com/office/drawing/2014/main" id="{2F9BFBA4-BD62-ED43-1916-B9BF7BBB5E48}"/>
              </a:ext>
            </a:extLst>
          </p:cNvPr>
          <p:cNvSpPr>
            <a:spLocks noGrp="1"/>
          </p:cNvSpPr>
          <p:nvPr>
            <p:ph idx="1"/>
          </p:nvPr>
        </p:nvSpPr>
        <p:spPr>
          <a:xfrm>
            <a:off x="1045028" y="3017522"/>
            <a:ext cx="9941319" cy="3124658"/>
          </a:xfrm>
        </p:spPr>
        <p:txBody>
          <a:bodyPr anchor="ctr">
            <a:normAutofit/>
          </a:bodyPr>
          <a:lstStyle/>
          <a:p>
            <a:r>
              <a:rPr lang="en-MY" sz="2400"/>
              <a:t>Users can install any OS, such as Ubuntu, CentOS, Red Hat, or Windows Server. This flexibility supports a wide variety of use cases—from hosting websites on Linux to running legacy enterprise apps on Windows.</a:t>
            </a:r>
          </a:p>
          <a:p>
            <a:r>
              <a:rPr lang="en-MY" sz="2400"/>
              <a:t>Now that we understand the core technology, let's examine the major players offering these services.</a:t>
            </a:r>
          </a:p>
          <a:p>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0132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68C1D9-E308-D358-1AA2-A31A74953EC5}"/>
              </a:ext>
            </a:extLst>
          </p:cNvPr>
          <p:cNvSpPr>
            <a:spLocks noGrp="1"/>
          </p:cNvSpPr>
          <p:nvPr>
            <p:ph type="title"/>
          </p:nvPr>
        </p:nvSpPr>
        <p:spPr>
          <a:xfrm>
            <a:off x="1043631" y="809898"/>
            <a:ext cx="9942716" cy="1554480"/>
          </a:xfrm>
        </p:spPr>
        <p:txBody>
          <a:bodyPr anchor="ctr">
            <a:normAutofit/>
          </a:bodyPr>
          <a:lstStyle/>
          <a:p>
            <a:r>
              <a:rPr lang="en-MY" sz="4800" b="1"/>
              <a:t>Introduction to IaaS Providers</a:t>
            </a:r>
            <a:br>
              <a:rPr lang="en-MY" sz="4800"/>
            </a:br>
            <a:endParaRPr lang="en-US" sz="4800"/>
          </a:p>
        </p:txBody>
      </p:sp>
      <p:sp>
        <p:nvSpPr>
          <p:cNvPr id="3" name="Content Placeholder 2">
            <a:extLst>
              <a:ext uri="{FF2B5EF4-FFF2-40B4-BE49-F238E27FC236}">
                <a16:creationId xmlns:a16="http://schemas.microsoft.com/office/drawing/2014/main" id="{C6EAECF0-7460-3B78-61CA-AB90D82327C7}"/>
              </a:ext>
            </a:extLst>
          </p:cNvPr>
          <p:cNvSpPr>
            <a:spLocks noGrp="1"/>
          </p:cNvSpPr>
          <p:nvPr>
            <p:ph idx="1"/>
          </p:nvPr>
        </p:nvSpPr>
        <p:spPr>
          <a:xfrm>
            <a:off x="1045028" y="3017522"/>
            <a:ext cx="9941319" cy="3124658"/>
          </a:xfrm>
        </p:spPr>
        <p:txBody>
          <a:bodyPr anchor="ctr">
            <a:normAutofit/>
          </a:bodyPr>
          <a:lstStyle/>
          <a:p>
            <a:pPr>
              <a:buNone/>
            </a:pPr>
            <a:r>
              <a:rPr lang="en-MY" sz="2400"/>
              <a:t>Several key players dominate the IaaS space, each with unique strengths:</a:t>
            </a:r>
          </a:p>
          <a:p>
            <a:pPr>
              <a:buFont typeface="Arial" panose="020B0604020202020204" pitchFamily="34" charset="0"/>
              <a:buChar char="•"/>
            </a:pPr>
            <a:r>
              <a:rPr lang="en-MY" sz="2400"/>
              <a:t>Amazon Web Services (AWS)</a:t>
            </a:r>
          </a:p>
          <a:p>
            <a:pPr>
              <a:buFont typeface="Arial" panose="020B0604020202020204" pitchFamily="34" charset="0"/>
              <a:buChar char="•"/>
            </a:pPr>
            <a:r>
              <a:rPr lang="en-MY" sz="2400"/>
              <a:t>Flexiscale</a:t>
            </a:r>
          </a:p>
          <a:p>
            <a:pPr>
              <a:buFont typeface="Arial" panose="020B0604020202020204" pitchFamily="34" charset="0"/>
              <a:buChar char="•"/>
            </a:pPr>
            <a:r>
              <a:rPr lang="en-MY" sz="2400"/>
              <a:t>Joyent</a:t>
            </a:r>
          </a:p>
          <a:p>
            <a:pPr>
              <a:buFont typeface="Arial" panose="020B0604020202020204" pitchFamily="34" charset="0"/>
              <a:buChar char="•"/>
            </a:pPr>
            <a:r>
              <a:rPr lang="en-MY" sz="2400"/>
              <a:t>Rackspace We’ll now explore each in more detail to compare what they bring to the table.</a:t>
            </a:r>
          </a:p>
          <a:p>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83851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2B2A2D-FAF4-DBE4-0996-4E3DAC37685B}"/>
              </a:ext>
            </a:extLst>
          </p:cNvPr>
          <p:cNvSpPr>
            <a:spLocks noGrp="1"/>
          </p:cNvSpPr>
          <p:nvPr>
            <p:ph type="title"/>
          </p:nvPr>
        </p:nvSpPr>
        <p:spPr>
          <a:xfrm>
            <a:off x="793662" y="386930"/>
            <a:ext cx="10066122" cy="1298448"/>
          </a:xfrm>
        </p:spPr>
        <p:txBody>
          <a:bodyPr anchor="b">
            <a:normAutofit/>
          </a:bodyPr>
          <a:lstStyle/>
          <a:p>
            <a:r>
              <a:rPr lang="en-MY" sz="4100" b="1"/>
              <a:t>Amazon Web Services (AWS)</a:t>
            </a:r>
            <a:br>
              <a:rPr lang="en-MY" sz="4100"/>
            </a:br>
            <a:endParaRPr lang="en-US" sz="4100"/>
          </a:p>
        </p:txBody>
      </p:sp>
      <p:sp>
        <p:nvSpPr>
          <p:cNvPr id="3081" name="Rectangle 308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DCE480E-20F1-AD4A-F2D1-21E4C257400A}"/>
              </a:ext>
            </a:extLst>
          </p:cNvPr>
          <p:cNvSpPr>
            <a:spLocks noGrp="1"/>
          </p:cNvSpPr>
          <p:nvPr>
            <p:ph idx="1"/>
          </p:nvPr>
        </p:nvSpPr>
        <p:spPr>
          <a:xfrm>
            <a:off x="793661" y="2599509"/>
            <a:ext cx="4530898" cy="3639450"/>
          </a:xfrm>
        </p:spPr>
        <p:txBody>
          <a:bodyPr anchor="ctr">
            <a:normAutofit/>
          </a:bodyPr>
          <a:lstStyle/>
          <a:p>
            <a:r>
              <a:rPr lang="en-MY" sz="2000"/>
              <a:t>AWS is the largest and most widely used IaaS provider. It offers a vast array of services beyond compute and storage, including AI, IoT, and big data analytics. AWS supports global infrastructure with 30+ geographic regions.</a:t>
            </a:r>
          </a:p>
          <a:p>
            <a:r>
              <a:rPr lang="en-MY" sz="2000"/>
              <a:t>Let’s take a closer look at one of AWS's flagship IaaS offerings—Amazon EC2.</a:t>
            </a:r>
          </a:p>
          <a:p>
            <a:endParaRPr lang="en-US" sz="2000"/>
          </a:p>
        </p:txBody>
      </p:sp>
      <p:pic>
        <p:nvPicPr>
          <p:cNvPr id="3074" name="Picture 2" descr="A logo with a smile&#10;&#10;AI-generated content may be incorrect.">
            <a:extLst>
              <a:ext uri="{FF2B5EF4-FFF2-40B4-BE49-F238E27FC236}">
                <a16:creationId xmlns:a16="http://schemas.microsoft.com/office/drawing/2014/main" id="{561AB3FD-A00A-AE1E-49FD-BF4D30544B7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11532" y="2796294"/>
            <a:ext cx="5150277" cy="3090166"/>
          </a:xfrm>
          <a:prstGeom prst="rect">
            <a:avLst/>
          </a:prstGeom>
          <a:noFill/>
          <a:extLst>
            <a:ext uri="{909E8E84-426E-40DD-AFC4-6F175D3DCCD1}">
              <a14:hiddenFill xmlns:a14="http://schemas.microsoft.com/office/drawing/2010/main">
                <a:solidFill>
                  <a:srgbClr val="FFFFFF"/>
                </a:solidFill>
              </a14:hiddenFill>
            </a:ext>
          </a:extLst>
        </p:spPr>
      </p:pic>
      <p:sp>
        <p:nvSpPr>
          <p:cNvPr id="3085" name="Rectangle 308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386633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A0ED89-451B-2202-9768-EDAA8EA0DD1C}"/>
              </a:ext>
            </a:extLst>
          </p:cNvPr>
          <p:cNvSpPr>
            <a:spLocks noGrp="1"/>
          </p:cNvSpPr>
          <p:nvPr>
            <p:ph type="title"/>
          </p:nvPr>
        </p:nvSpPr>
        <p:spPr>
          <a:xfrm>
            <a:off x="793662" y="386930"/>
            <a:ext cx="10066122" cy="1298448"/>
          </a:xfrm>
        </p:spPr>
        <p:txBody>
          <a:bodyPr anchor="b">
            <a:normAutofit/>
          </a:bodyPr>
          <a:lstStyle/>
          <a:p>
            <a:r>
              <a:rPr lang="en-MY" sz="4100" b="1"/>
              <a:t>Amazon EC2 Features</a:t>
            </a:r>
            <a:r>
              <a:rPr lang="en-MY" sz="4100"/>
              <a:t> </a:t>
            </a:r>
            <a:br>
              <a:rPr lang="en-MY" sz="4100"/>
            </a:br>
            <a:endParaRPr lang="en-US" sz="4100"/>
          </a:p>
        </p:txBody>
      </p:sp>
      <p:sp>
        <p:nvSpPr>
          <p:cNvPr id="4105" name="Rectangle 410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7" name="Rectangle 410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9E77EC8-2777-19C5-4A03-FC2A40D7F5A1}"/>
              </a:ext>
            </a:extLst>
          </p:cNvPr>
          <p:cNvSpPr>
            <a:spLocks noGrp="1"/>
          </p:cNvSpPr>
          <p:nvPr>
            <p:ph idx="1"/>
          </p:nvPr>
        </p:nvSpPr>
        <p:spPr>
          <a:xfrm>
            <a:off x="793661" y="2599509"/>
            <a:ext cx="4530898" cy="3639450"/>
          </a:xfrm>
        </p:spPr>
        <p:txBody>
          <a:bodyPr anchor="ctr">
            <a:normAutofit/>
          </a:bodyPr>
          <a:lstStyle/>
          <a:p>
            <a:pPr>
              <a:buNone/>
            </a:pPr>
            <a:r>
              <a:rPr lang="en-MY" sz="2000"/>
              <a:t>Elastic Compute Cloud (EC2) allows you to launch virtual servers on-demand. Features include:</a:t>
            </a:r>
          </a:p>
          <a:p>
            <a:pPr>
              <a:buFont typeface="Arial" panose="020B0604020202020204" pitchFamily="34" charset="0"/>
              <a:buChar char="•"/>
            </a:pPr>
            <a:r>
              <a:rPr lang="en-MY" sz="2000"/>
              <a:t>Variety of instance types (General, Compute, GPU)</a:t>
            </a:r>
          </a:p>
          <a:p>
            <a:pPr>
              <a:buFont typeface="Arial" panose="020B0604020202020204" pitchFamily="34" charset="0"/>
              <a:buChar char="•"/>
            </a:pPr>
            <a:r>
              <a:rPr lang="en-MY" sz="2000"/>
              <a:t>Elastic IPs</a:t>
            </a:r>
          </a:p>
          <a:p>
            <a:pPr>
              <a:buFont typeface="Arial" panose="020B0604020202020204" pitchFamily="34" charset="0"/>
              <a:buChar char="•"/>
            </a:pPr>
            <a:r>
              <a:rPr lang="en-MY" sz="2000"/>
              <a:t>AMIs (Amazon Machine Images)</a:t>
            </a:r>
          </a:p>
          <a:p>
            <a:pPr>
              <a:buFont typeface="Arial" panose="020B0604020202020204" pitchFamily="34" charset="0"/>
              <a:buChar char="•"/>
            </a:pPr>
            <a:r>
              <a:rPr lang="en-MY" sz="2000"/>
              <a:t>Integration with Auto Scaling, ELB, CloudWatch</a:t>
            </a:r>
          </a:p>
          <a:p>
            <a:endParaRPr lang="en-US" sz="2000"/>
          </a:p>
        </p:txBody>
      </p:sp>
      <p:pic>
        <p:nvPicPr>
          <p:cNvPr id="4098" name="Picture 2" descr="A logo of a cube&#10;&#10;AI-generated content may be incorrect.">
            <a:extLst>
              <a:ext uri="{FF2B5EF4-FFF2-40B4-BE49-F238E27FC236}">
                <a16:creationId xmlns:a16="http://schemas.microsoft.com/office/drawing/2014/main" id="{0775F037-9180-FEE6-ACA9-51BBBF92841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11532" y="2696149"/>
            <a:ext cx="5150277" cy="3290455"/>
          </a:xfrm>
          <a:prstGeom prst="rect">
            <a:avLst/>
          </a:prstGeom>
          <a:noFill/>
          <a:extLst>
            <a:ext uri="{909E8E84-426E-40DD-AFC4-6F175D3DCCD1}">
              <a14:hiddenFill xmlns:a14="http://schemas.microsoft.com/office/drawing/2010/main">
                <a:solidFill>
                  <a:srgbClr val="FFFFFF"/>
                </a:solidFill>
              </a14:hiddenFill>
            </a:ext>
          </a:extLst>
        </p:spPr>
      </p:pic>
      <p:sp>
        <p:nvSpPr>
          <p:cNvPr id="4109" name="Rectangle 410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53778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6E96C3-E0A2-2484-4953-F9E2F718FF8E}"/>
              </a:ext>
            </a:extLst>
          </p:cNvPr>
          <p:cNvSpPr>
            <a:spLocks noGrp="1"/>
          </p:cNvSpPr>
          <p:nvPr>
            <p:ph type="title"/>
          </p:nvPr>
        </p:nvSpPr>
        <p:spPr>
          <a:xfrm>
            <a:off x="1043631" y="809898"/>
            <a:ext cx="9942716" cy="1554480"/>
          </a:xfrm>
        </p:spPr>
        <p:txBody>
          <a:bodyPr anchor="ctr">
            <a:normAutofit/>
          </a:bodyPr>
          <a:lstStyle/>
          <a:p>
            <a:r>
              <a:rPr lang="en-MY" sz="4800" b="1"/>
              <a:t>EC2 Use Cases</a:t>
            </a:r>
            <a:br>
              <a:rPr lang="en-MY" sz="4800"/>
            </a:br>
            <a:endParaRPr lang="en-US" sz="4800"/>
          </a:p>
        </p:txBody>
      </p:sp>
      <p:sp>
        <p:nvSpPr>
          <p:cNvPr id="3" name="Content Placeholder 2">
            <a:extLst>
              <a:ext uri="{FF2B5EF4-FFF2-40B4-BE49-F238E27FC236}">
                <a16:creationId xmlns:a16="http://schemas.microsoft.com/office/drawing/2014/main" id="{5CF88B8D-CEC0-0BDC-96AF-2498791D8B39}"/>
              </a:ext>
            </a:extLst>
          </p:cNvPr>
          <p:cNvSpPr>
            <a:spLocks noGrp="1"/>
          </p:cNvSpPr>
          <p:nvPr>
            <p:ph idx="1"/>
          </p:nvPr>
        </p:nvSpPr>
        <p:spPr>
          <a:xfrm>
            <a:off x="1045028" y="3017522"/>
            <a:ext cx="9941319" cy="3124658"/>
          </a:xfrm>
        </p:spPr>
        <p:txBody>
          <a:bodyPr anchor="ctr">
            <a:normAutofit/>
          </a:bodyPr>
          <a:lstStyle/>
          <a:p>
            <a:pPr>
              <a:buFont typeface="Arial" panose="020B0604020202020204" pitchFamily="34" charset="0"/>
              <a:buChar char="•"/>
            </a:pPr>
            <a:r>
              <a:rPr lang="en-MY" sz="2400"/>
              <a:t>A startup can launch a web app with minimal upfront cost.</a:t>
            </a:r>
          </a:p>
          <a:p>
            <a:pPr>
              <a:buFont typeface="Arial" panose="020B0604020202020204" pitchFamily="34" charset="0"/>
              <a:buChar char="•"/>
            </a:pPr>
            <a:r>
              <a:rPr lang="en-MY" sz="2400"/>
              <a:t>Research teams can run machine learning models on spot instances.</a:t>
            </a:r>
          </a:p>
          <a:p>
            <a:pPr>
              <a:buFont typeface="Arial" panose="020B0604020202020204" pitchFamily="34" charset="0"/>
              <a:buChar char="•"/>
            </a:pPr>
            <a:r>
              <a:rPr lang="en-MY" sz="2400"/>
              <a:t>Enterprises can deploy scalable microservices architecture.</a:t>
            </a:r>
          </a:p>
          <a:p>
            <a:pPr marL="0" indent="0">
              <a:buNone/>
            </a:pPr>
            <a:endParaRPr lang="en-MY" sz="2400"/>
          </a:p>
          <a:p>
            <a:pPr marL="0" indent="0">
              <a:buNone/>
            </a:pPr>
            <a:r>
              <a:rPr lang="en-MY" sz="2400"/>
              <a:t>Beyond AWS, there are other notable providers with unique features worth examining.</a:t>
            </a:r>
          </a:p>
          <a:p>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74752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8FDE22-4E5D-6441-1934-04F8BB79201F}"/>
              </a:ext>
            </a:extLst>
          </p:cNvPr>
          <p:cNvSpPr>
            <a:spLocks noGrp="1"/>
          </p:cNvSpPr>
          <p:nvPr>
            <p:ph type="title"/>
          </p:nvPr>
        </p:nvSpPr>
        <p:spPr>
          <a:xfrm>
            <a:off x="793662" y="386930"/>
            <a:ext cx="10066122" cy="1298448"/>
          </a:xfrm>
        </p:spPr>
        <p:txBody>
          <a:bodyPr anchor="b">
            <a:normAutofit/>
          </a:bodyPr>
          <a:lstStyle/>
          <a:p>
            <a:r>
              <a:rPr lang="en-MY" sz="4100" b="1"/>
              <a:t>Flexiscale Overview</a:t>
            </a:r>
            <a:r>
              <a:rPr lang="en-MY" sz="4100"/>
              <a:t> </a:t>
            </a:r>
            <a:br>
              <a:rPr lang="en-MY" sz="4100"/>
            </a:br>
            <a:endParaRPr lang="en-US" sz="4100"/>
          </a:p>
        </p:txBody>
      </p:sp>
      <p:sp>
        <p:nvSpPr>
          <p:cNvPr id="24" name="Rectangle 2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9A1F4BD-B839-3CC6-4534-FA111D3E3AFB}"/>
              </a:ext>
            </a:extLst>
          </p:cNvPr>
          <p:cNvSpPr>
            <a:spLocks noGrp="1"/>
          </p:cNvSpPr>
          <p:nvPr>
            <p:ph idx="1"/>
          </p:nvPr>
        </p:nvSpPr>
        <p:spPr>
          <a:xfrm>
            <a:off x="793661" y="2599509"/>
            <a:ext cx="4530898" cy="3639450"/>
          </a:xfrm>
        </p:spPr>
        <p:txBody>
          <a:bodyPr anchor="ctr">
            <a:normAutofit/>
          </a:bodyPr>
          <a:lstStyle/>
          <a:p>
            <a:pPr marL="0" indent="0">
              <a:buNone/>
            </a:pPr>
            <a:r>
              <a:rPr lang="en-MY" sz="2000"/>
              <a:t>Flexiscale was among the first cloud IaaS platforms. It emphasized ease of use, GUI-based management, and real-time provisioning. It laid the groundwork for future European cloud innovations.</a:t>
            </a:r>
          </a:p>
          <a:p>
            <a:pPr marL="0" indent="0">
              <a:buNone/>
            </a:pPr>
            <a:endParaRPr lang="en-MY" sz="2000"/>
          </a:p>
          <a:p>
            <a:pPr marL="0" indent="0">
              <a:buNone/>
            </a:pPr>
            <a:endParaRPr lang="en-US" sz="2000"/>
          </a:p>
        </p:txBody>
      </p:sp>
      <p:pic>
        <p:nvPicPr>
          <p:cNvPr id="5" name="Picture 4" descr="A logo for a cloud computing company&#10;&#10;AI-generated content may be incorrect.">
            <a:extLst>
              <a:ext uri="{FF2B5EF4-FFF2-40B4-BE49-F238E27FC236}">
                <a16:creationId xmlns:a16="http://schemas.microsoft.com/office/drawing/2014/main" id="{E9D344C7-BAC5-254E-B3B1-A33514F72420}"/>
              </a:ext>
            </a:extLst>
          </p:cNvPr>
          <p:cNvPicPr>
            <a:picLocks noChangeAspect="1"/>
          </p:cNvPicPr>
          <p:nvPr/>
        </p:nvPicPr>
        <p:blipFill>
          <a:blip r:embed="rId2"/>
          <a:stretch>
            <a:fillRect/>
          </a:stretch>
        </p:blipFill>
        <p:spPr>
          <a:xfrm>
            <a:off x="5911532" y="3121069"/>
            <a:ext cx="5150277" cy="2440616"/>
          </a:xfrm>
          <a:prstGeom prst="rect">
            <a:avLst/>
          </a:prstGeom>
        </p:spPr>
      </p:pic>
      <p:sp>
        <p:nvSpPr>
          <p:cNvPr id="28" name="Rectangle 2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13672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AD3252-CF8C-88F2-ED34-D1850C8B6837}"/>
              </a:ext>
            </a:extLst>
          </p:cNvPr>
          <p:cNvSpPr>
            <a:spLocks noGrp="1"/>
          </p:cNvSpPr>
          <p:nvPr>
            <p:ph type="title"/>
          </p:nvPr>
        </p:nvSpPr>
        <p:spPr>
          <a:xfrm>
            <a:off x="793662" y="386930"/>
            <a:ext cx="10066122" cy="1298448"/>
          </a:xfrm>
        </p:spPr>
        <p:txBody>
          <a:bodyPr anchor="b">
            <a:normAutofit/>
          </a:bodyPr>
          <a:lstStyle/>
          <a:p>
            <a:r>
              <a:rPr lang="en-MY" sz="4100" b="1"/>
              <a:t>Joyent Overview</a:t>
            </a:r>
            <a:br>
              <a:rPr lang="en-MY" sz="4100"/>
            </a:br>
            <a:endParaRPr lang="en-US" sz="4100"/>
          </a:p>
        </p:txBody>
      </p:sp>
      <p:sp>
        <p:nvSpPr>
          <p:cNvPr id="2057" name="Rectangle 2056">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F245BB5-2CF9-3BAB-BC0F-BED918F0658D}"/>
              </a:ext>
            </a:extLst>
          </p:cNvPr>
          <p:cNvSpPr>
            <a:spLocks noGrp="1"/>
          </p:cNvSpPr>
          <p:nvPr>
            <p:ph idx="1"/>
          </p:nvPr>
        </p:nvSpPr>
        <p:spPr>
          <a:xfrm>
            <a:off x="793661" y="2599509"/>
            <a:ext cx="4530898" cy="3639450"/>
          </a:xfrm>
        </p:spPr>
        <p:txBody>
          <a:bodyPr anchor="ctr">
            <a:normAutofit/>
          </a:bodyPr>
          <a:lstStyle/>
          <a:p>
            <a:pPr marL="0" indent="0">
              <a:buNone/>
            </a:pPr>
            <a:r>
              <a:rPr lang="en-MY" sz="2000"/>
              <a:t>Joyent provides SmartOS-based virtual machines optimized for real-time apps. Known for supporting Node.js early, Joyent is now part of Samsung and focuses on cloud-native workloads and high-performance computing.</a:t>
            </a:r>
          </a:p>
          <a:p>
            <a:endParaRPr lang="en-US" sz="2000"/>
          </a:p>
        </p:txBody>
      </p:sp>
      <p:pic>
        <p:nvPicPr>
          <p:cNvPr id="2050" name="Picture 2" descr="A close-up of a word&#10;&#10;AI-generated content may be incorrect.">
            <a:extLst>
              <a:ext uri="{FF2B5EF4-FFF2-40B4-BE49-F238E27FC236}">
                <a16:creationId xmlns:a16="http://schemas.microsoft.com/office/drawing/2014/main" id="{75F6289F-B866-FAFC-9280-21FD525C9B4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11532" y="3118186"/>
            <a:ext cx="5150277" cy="2446381"/>
          </a:xfrm>
          <a:prstGeom prst="rect">
            <a:avLst/>
          </a:prstGeom>
          <a:noFill/>
          <a:extLst>
            <a:ext uri="{909E8E84-426E-40DD-AFC4-6F175D3DCCD1}">
              <a14:hiddenFill xmlns:a14="http://schemas.microsoft.com/office/drawing/2010/main">
                <a:solidFill>
                  <a:srgbClr val="FFFFFF"/>
                </a:solidFill>
              </a14:hiddenFill>
            </a:ext>
          </a:extLst>
        </p:spPr>
      </p:pic>
      <p:sp>
        <p:nvSpPr>
          <p:cNvPr id="2061" name="Rectangle 2060">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79699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9A5C69-229C-4ABC-4797-81CDF826E8EE}"/>
              </a:ext>
            </a:extLst>
          </p:cNvPr>
          <p:cNvSpPr>
            <a:spLocks noGrp="1"/>
          </p:cNvSpPr>
          <p:nvPr>
            <p:ph type="title"/>
          </p:nvPr>
        </p:nvSpPr>
        <p:spPr>
          <a:xfrm>
            <a:off x="793662" y="386930"/>
            <a:ext cx="10066122" cy="1298448"/>
          </a:xfrm>
        </p:spPr>
        <p:txBody>
          <a:bodyPr anchor="b">
            <a:normAutofit/>
          </a:bodyPr>
          <a:lstStyle/>
          <a:p>
            <a:r>
              <a:rPr lang="en-MY" sz="4100" b="1"/>
              <a:t>Rackspace Cloud Servers</a:t>
            </a:r>
            <a:br>
              <a:rPr lang="en-MY" sz="4100"/>
            </a:br>
            <a:endParaRPr lang="en-US" sz="4100"/>
          </a:p>
        </p:txBody>
      </p:sp>
      <p:sp>
        <p:nvSpPr>
          <p:cNvPr id="5129" name="Rectangle 5128">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1" name="Rectangle 513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7314866-F94E-A331-CA67-6404B75549B2}"/>
              </a:ext>
            </a:extLst>
          </p:cNvPr>
          <p:cNvSpPr>
            <a:spLocks noGrp="1"/>
          </p:cNvSpPr>
          <p:nvPr>
            <p:ph idx="1"/>
          </p:nvPr>
        </p:nvSpPr>
        <p:spPr>
          <a:xfrm>
            <a:off x="793661" y="2599509"/>
            <a:ext cx="4530898" cy="3639450"/>
          </a:xfrm>
        </p:spPr>
        <p:txBody>
          <a:bodyPr anchor="ctr">
            <a:normAutofit/>
          </a:bodyPr>
          <a:lstStyle/>
          <a:p>
            <a:r>
              <a:rPr lang="en-MY" sz="2000"/>
              <a:t>Rackspace specializes in managed cloud services. It helps businesses deploy and manage cloud infrastructure on platforms like AWS, Azure, and Google Cloud. Their focus is on customer support, making them ideal for companies with limited IT staff.</a:t>
            </a:r>
          </a:p>
          <a:p>
            <a:pPr marL="0" indent="0">
              <a:buNone/>
            </a:pPr>
            <a:endParaRPr lang="en-US" sz="2000"/>
          </a:p>
        </p:txBody>
      </p:sp>
      <p:pic>
        <p:nvPicPr>
          <p:cNvPr id="5122" name="Picture 2" descr="A black background with a red and white logo&#10;&#10;AI-generated content may be incorrect.">
            <a:extLst>
              <a:ext uri="{FF2B5EF4-FFF2-40B4-BE49-F238E27FC236}">
                <a16:creationId xmlns:a16="http://schemas.microsoft.com/office/drawing/2014/main" id="{43F4D006-02A8-D6A1-E00D-897C4D64127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629548" y="2484255"/>
            <a:ext cx="3714244" cy="3714244"/>
          </a:xfrm>
          <a:prstGeom prst="rect">
            <a:avLst/>
          </a:prstGeom>
          <a:noFill/>
          <a:extLst>
            <a:ext uri="{909E8E84-426E-40DD-AFC4-6F175D3DCCD1}">
              <a14:hiddenFill xmlns:a14="http://schemas.microsoft.com/office/drawing/2010/main">
                <a:solidFill>
                  <a:srgbClr val="FFFFFF"/>
                </a:solidFill>
              </a14:hiddenFill>
            </a:ext>
          </a:extLst>
        </p:spPr>
      </p:pic>
      <p:sp>
        <p:nvSpPr>
          <p:cNvPr id="5133" name="Rectangle 5132">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8704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81D377EB-C9D2-4ED0-86A6-740A297E3E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42FA4C-035E-6BFC-8CC6-C9AD7D969A61}"/>
              </a:ext>
            </a:extLst>
          </p:cNvPr>
          <p:cNvSpPr>
            <a:spLocks noGrp="1"/>
          </p:cNvSpPr>
          <p:nvPr>
            <p:ph type="title"/>
          </p:nvPr>
        </p:nvSpPr>
        <p:spPr>
          <a:xfrm>
            <a:off x="841248" y="685800"/>
            <a:ext cx="10506456" cy="1157005"/>
          </a:xfrm>
        </p:spPr>
        <p:txBody>
          <a:bodyPr anchor="b">
            <a:normAutofit/>
          </a:bodyPr>
          <a:lstStyle/>
          <a:p>
            <a:r>
              <a:rPr lang="en-MY" sz="3700" b="1"/>
              <a:t>Comparing Providers</a:t>
            </a:r>
            <a:br>
              <a:rPr lang="en-MY" sz="3700"/>
            </a:br>
            <a:endParaRPr lang="en-US" sz="3700"/>
          </a:p>
        </p:txBody>
      </p:sp>
      <p:sp>
        <p:nvSpPr>
          <p:cNvPr id="25" name="Rectangle 24">
            <a:extLst>
              <a:ext uri="{FF2B5EF4-FFF2-40B4-BE49-F238E27FC236}">
                <a16:creationId xmlns:a16="http://schemas.microsoft.com/office/drawing/2014/main" id="{066346BE-FDB4-4772-A696-0719490AB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093"/>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95805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graphicFrame>
        <p:nvGraphicFramePr>
          <p:cNvPr id="4" name="Content Placeholder 3">
            <a:extLst>
              <a:ext uri="{FF2B5EF4-FFF2-40B4-BE49-F238E27FC236}">
                <a16:creationId xmlns:a16="http://schemas.microsoft.com/office/drawing/2014/main" id="{C30F5372-D0D6-9CC2-3F0C-2A400486C29E}"/>
              </a:ext>
            </a:extLst>
          </p:cNvPr>
          <p:cNvGraphicFramePr>
            <a:graphicFrameLocks noGrp="1"/>
          </p:cNvGraphicFramePr>
          <p:nvPr>
            <p:ph idx="1"/>
            <p:extLst>
              <p:ext uri="{D42A27DB-BD31-4B8C-83A1-F6EECF244321}">
                <p14:modId xmlns:p14="http://schemas.microsoft.com/office/powerpoint/2010/main" val="475049649"/>
              </p:ext>
            </p:extLst>
          </p:nvPr>
        </p:nvGraphicFramePr>
        <p:xfrm>
          <a:off x="966103" y="2295252"/>
          <a:ext cx="10250651" cy="3876950"/>
        </p:xfrm>
        <a:graphic>
          <a:graphicData uri="http://schemas.openxmlformats.org/drawingml/2006/table">
            <a:tbl>
              <a:tblPr>
                <a:tableStyleId>{5940675A-B579-460E-94D1-54222C63F5DA}</a:tableStyleId>
              </a:tblPr>
              <a:tblGrid>
                <a:gridCol w="2573240">
                  <a:extLst>
                    <a:ext uri="{9D8B030D-6E8A-4147-A177-3AD203B41FA5}">
                      <a16:colId xmlns:a16="http://schemas.microsoft.com/office/drawing/2014/main" val="553869688"/>
                    </a:ext>
                  </a:extLst>
                </a:gridCol>
                <a:gridCol w="1400090">
                  <a:extLst>
                    <a:ext uri="{9D8B030D-6E8A-4147-A177-3AD203B41FA5}">
                      <a16:colId xmlns:a16="http://schemas.microsoft.com/office/drawing/2014/main" val="2611554840"/>
                    </a:ext>
                  </a:extLst>
                </a:gridCol>
                <a:gridCol w="2015513">
                  <a:extLst>
                    <a:ext uri="{9D8B030D-6E8A-4147-A177-3AD203B41FA5}">
                      <a16:colId xmlns:a16="http://schemas.microsoft.com/office/drawing/2014/main" val="1363662517"/>
                    </a:ext>
                  </a:extLst>
                </a:gridCol>
                <a:gridCol w="2073208">
                  <a:extLst>
                    <a:ext uri="{9D8B030D-6E8A-4147-A177-3AD203B41FA5}">
                      <a16:colId xmlns:a16="http://schemas.microsoft.com/office/drawing/2014/main" val="2313811366"/>
                    </a:ext>
                  </a:extLst>
                </a:gridCol>
                <a:gridCol w="2188600">
                  <a:extLst>
                    <a:ext uri="{9D8B030D-6E8A-4147-A177-3AD203B41FA5}">
                      <a16:colId xmlns:a16="http://schemas.microsoft.com/office/drawing/2014/main" val="2754814241"/>
                    </a:ext>
                  </a:extLst>
                </a:gridCol>
              </a:tblGrid>
              <a:tr h="606036">
                <a:tc>
                  <a:txBody>
                    <a:bodyPr/>
                    <a:lstStyle/>
                    <a:p>
                      <a:pPr algn="l" fontAlgn="ctr">
                        <a:buNone/>
                      </a:pPr>
                      <a:r>
                        <a:rPr lang="en-MY" sz="2800" b="0" u="none" strike="noStrike">
                          <a:effectLst/>
                        </a:rPr>
                        <a:t>Feature</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AWS</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Flexiscale</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Joyent</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Rackspace</a:t>
                      </a:r>
                      <a:endParaRPr lang="en-MY" sz="2800" b="0" i="0" u="none" strike="noStrike">
                        <a:effectLst/>
                        <a:latin typeface="Arial" panose="020B0604020202020204" pitchFamily="34" charset="0"/>
                      </a:endParaRPr>
                    </a:p>
                  </a:txBody>
                  <a:tcPr marL="138470" marR="138470" marT="69236" marB="69236" anchor="ctr"/>
                </a:tc>
                <a:extLst>
                  <a:ext uri="{0D108BD9-81ED-4DB2-BD59-A6C34878D82A}">
                    <a16:rowId xmlns:a16="http://schemas.microsoft.com/office/drawing/2014/main" val="1728810063"/>
                  </a:ext>
                </a:extLst>
              </a:tr>
              <a:tr h="606036">
                <a:tc>
                  <a:txBody>
                    <a:bodyPr/>
                    <a:lstStyle/>
                    <a:p>
                      <a:pPr algn="l" fontAlgn="ctr">
                        <a:buNone/>
                      </a:pPr>
                      <a:r>
                        <a:rPr lang="en-MY" sz="2800" b="0" u="none" strike="noStrike">
                          <a:effectLst/>
                        </a:rPr>
                        <a:t>Global Reach</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High</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Low</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Moderate</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High</a:t>
                      </a:r>
                      <a:endParaRPr lang="en-MY" sz="2800" b="0" i="0" u="none" strike="noStrike">
                        <a:effectLst/>
                        <a:latin typeface="Arial" panose="020B0604020202020204" pitchFamily="34" charset="0"/>
                      </a:endParaRPr>
                    </a:p>
                  </a:txBody>
                  <a:tcPr marL="138470" marR="138470" marT="69236" marB="69236" anchor="ctr"/>
                </a:tc>
                <a:extLst>
                  <a:ext uri="{0D108BD9-81ED-4DB2-BD59-A6C34878D82A}">
                    <a16:rowId xmlns:a16="http://schemas.microsoft.com/office/drawing/2014/main" val="2765404327"/>
                  </a:ext>
                </a:extLst>
              </a:tr>
              <a:tr h="1029421">
                <a:tc>
                  <a:txBody>
                    <a:bodyPr/>
                    <a:lstStyle/>
                    <a:p>
                      <a:pPr algn="l" fontAlgn="ctr">
                        <a:buNone/>
                      </a:pPr>
                      <a:r>
                        <a:rPr lang="en-MY" sz="2800" b="0" u="none" strike="noStrike">
                          <a:effectLst/>
                        </a:rPr>
                        <a:t>Support</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Good</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Moderate</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Developer-focused</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High-touch</a:t>
                      </a:r>
                      <a:endParaRPr lang="en-MY" sz="2800" b="0" i="0" u="none" strike="noStrike">
                        <a:effectLst/>
                        <a:latin typeface="Arial" panose="020B0604020202020204" pitchFamily="34" charset="0"/>
                      </a:endParaRPr>
                    </a:p>
                  </a:txBody>
                  <a:tcPr marL="138470" marR="138470" marT="69236" marB="69236" anchor="ctr"/>
                </a:tc>
                <a:extLst>
                  <a:ext uri="{0D108BD9-81ED-4DB2-BD59-A6C34878D82A}">
                    <a16:rowId xmlns:a16="http://schemas.microsoft.com/office/drawing/2014/main" val="2172281477"/>
                  </a:ext>
                </a:extLst>
              </a:tr>
              <a:tr h="1029421">
                <a:tc>
                  <a:txBody>
                    <a:bodyPr/>
                    <a:lstStyle/>
                    <a:p>
                      <a:pPr algn="l" fontAlgn="ctr">
                        <a:buNone/>
                      </a:pPr>
                      <a:r>
                        <a:rPr lang="en-MY" sz="2800" b="0" u="none" strike="noStrike">
                          <a:effectLst/>
                        </a:rPr>
                        <a:t>Pricing Flexibility</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High</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Medium</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Medium</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Low</a:t>
                      </a:r>
                      <a:endParaRPr lang="en-MY" sz="2800" b="0" i="0" u="none" strike="noStrike">
                        <a:effectLst/>
                        <a:latin typeface="Arial" panose="020B0604020202020204" pitchFamily="34" charset="0"/>
                      </a:endParaRPr>
                    </a:p>
                  </a:txBody>
                  <a:tcPr marL="138470" marR="138470" marT="69236" marB="69236" anchor="ctr"/>
                </a:tc>
                <a:extLst>
                  <a:ext uri="{0D108BD9-81ED-4DB2-BD59-A6C34878D82A}">
                    <a16:rowId xmlns:a16="http://schemas.microsoft.com/office/drawing/2014/main" val="2573717641"/>
                  </a:ext>
                </a:extLst>
              </a:tr>
              <a:tr h="606036">
                <a:tc>
                  <a:txBody>
                    <a:bodyPr/>
                    <a:lstStyle/>
                    <a:p>
                      <a:pPr algn="l" fontAlgn="ctr">
                        <a:buNone/>
                      </a:pPr>
                      <a:r>
                        <a:rPr lang="en-MY" sz="2800" b="0" u="none" strike="noStrike">
                          <a:effectLst/>
                        </a:rPr>
                        <a:t>OS Flexibility</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Broad</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Broad</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SmartOS</a:t>
                      </a:r>
                      <a:endParaRPr lang="en-MY" sz="2800" b="0" i="0" u="none" strike="noStrike">
                        <a:effectLst/>
                        <a:latin typeface="Arial" panose="020B0604020202020204" pitchFamily="34" charset="0"/>
                      </a:endParaRPr>
                    </a:p>
                  </a:txBody>
                  <a:tcPr marL="138470" marR="138470" marT="69236" marB="69236" anchor="ctr"/>
                </a:tc>
                <a:tc>
                  <a:txBody>
                    <a:bodyPr/>
                    <a:lstStyle/>
                    <a:p>
                      <a:pPr algn="l" fontAlgn="ctr">
                        <a:buNone/>
                      </a:pPr>
                      <a:r>
                        <a:rPr lang="en-MY" sz="2800" b="0" u="none" strike="noStrike">
                          <a:effectLst/>
                        </a:rPr>
                        <a:t>Broad</a:t>
                      </a:r>
                      <a:endParaRPr lang="en-MY" sz="2800" b="0" i="0" u="none" strike="noStrike">
                        <a:effectLst/>
                        <a:latin typeface="Arial" panose="020B0604020202020204" pitchFamily="34" charset="0"/>
                      </a:endParaRPr>
                    </a:p>
                  </a:txBody>
                  <a:tcPr marL="138470" marR="138470" marT="69236" marB="69236" anchor="ctr"/>
                </a:tc>
                <a:extLst>
                  <a:ext uri="{0D108BD9-81ED-4DB2-BD59-A6C34878D82A}">
                    <a16:rowId xmlns:a16="http://schemas.microsoft.com/office/drawing/2014/main" val="43720982"/>
                  </a:ext>
                </a:extLst>
              </a:tr>
            </a:tbl>
          </a:graphicData>
        </a:graphic>
      </p:graphicFrame>
    </p:spTree>
    <p:extLst>
      <p:ext uri="{BB962C8B-B14F-4D97-AF65-F5344CB8AC3E}">
        <p14:creationId xmlns:p14="http://schemas.microsoft.com/office/powerpoint/2010/main" val="31248024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AAF442-5A75-0247-FAF0-FAD07BBC9F9A}"/>
              </a:ext>
            </a:extLst>
          </p:cNvPr>
          <p:cNvSpPr>
            <a:spLocks noGrp="1"/>
          </p:cNvSpPr>
          <p:nvPr>
            <p:ph type="title"/>
          </p:nvPr>
        </p:nvSpPr>
        <p:spPr>
          <a:xfrm>
            <a:off x="1043631" y="809898"/>
            <a:ext cx="9942716" cy="1554480"/>
          </a:xfrm>
        </p:spPr>
        <p:txBody>
          <a:bodyPr anchor="ctr">
            <a:normAutofit/>
          </a:bodyPr>
          <a:lstStyle/>
          <a:p>
            <a:r>
              <a:rPr lang="en-MY" sz="4800" b="1"/>
              <a:t>Choosing the Right IaaS</a:t>
            </a:r>
            <a:br>
              <a:rPr lang="en-MY" sz="4800"/>
            </a:br>
            <a:endParaRPr lang="en-US" sz="4800"/>
          </a:p>
        </p:txBody>
      </p:sp>
      <p:sp>
        <p:nvSpPr>
          <p:cNvPr id="3" name="Content Placeholder 2">
            <a:extLst>
              <a:ext uri="{FF2B5EF4-FFF2-40B4-BE49-F238E27FC236}">
                <a16:creationId xmlns:a16="http://schemas.microsoft.com/office/drawing/2014/main" id="{36A32A06-6DCC-F3E5-2125-8F677D843392}"/>
              </a:ext>
            </a:extLst>
          </p:cNvPr>
          <p:cNvSpPr>
            <a:spLocks noGrp="1"/>
          </p:cNvSpPr>
          <p:nvPr>
            <p:ph idx="1"/>
          </p:nvPr>
        </p:nvSpPr>
        <p:spPr>
          <a:xfrm>
            <a:off x="1045028" y="3017522"/>
            <a:ext cx="9941319" cy="3124658"/>
          </a:xfrm>
        </p:spPr>
        <p:txBody>
          <a:bodyPr anchor="ctr">
            <a:normAutofit/>
          </a:bodyPr>
          <a:lstStyle/>
          <a:p>
            <a:pPr>
              <a:buFont typeface="Arial" panose="020B0604020202020204" pitchFamily="34" charset="0"/>
              <a:buChar char="•"/>
            </a:pPr>
            <a:r>
              <a:rPr lang="en-MY" sz="2400"/>
              <a:t>Cost predictability</a:t>
            </a:r>
          </a:p>
          <a:p>
            <a:pPr>
              <a:buFont typeface="Arial" panose="020B0604020202020204" pitchFamily="34" charset="0"/>
              <a:buChar char="•"/>
            </a:pPr>
            <a:r>
              <a:rPr lang="en-MY" sz="2400"/>
              <a:t>Performance and availability needs</a:t>
            </a:r>
          </a:p>
          <a:p>
            <a:pPr>
              <a:buFont typeface="Arial" panose="020B0604020202020204" pitchFamily="34" charset="0"/>
              <a:buChar char="•"/>
            </a:pPr>
            <a:r>
              <a:rPr lang="en-MY" sz="2400"/>
              <a:t>Compliance requirements</a:t>
            </a:r>
          </a:p>
          <a:p>
            <a:pPr>
              <a:buFont typeface="Arial" panose="020B0604020202020204" pitchFamily="34" charset="0"/>
              <a:buChar char="•"/>
            </a:pPr>
            <a:r>
              <a:rPr lang="en-MY" sz="2400"/>
              <a:t>In-house expertise A healthcare startup might choose AWS for scalability, while a small firm might pick Rackspace for its support.</a:t>
            </a:r>
          </a:p>
          <a:p>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00999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36D41D-A319-9C08-5983-4D666D254B89}"/>
              </a:ext>
            </a:extLst>
          </p:cNvPr>
          <p:cNvSpPr>
            <a:spLocks noGrp="1"/>
          </p:cNvSpPr>
          <p:nvPr>
            <p:ph type="title"/>
          </p:nvPr>
        </p:nvSpPr>
        <p:spPr>
          <a:xfrm>
            <a:off x="1043631" y="809898"/>
            <a:ext cx="9942716" cy="1554480"/>
          </a:xfrm>
        </p:spPr>
        <p:txBody>
          <a:bodyPr anchor="ctr">
            <a:normAutofit/>
          </a:bodyPr>
          <a:lstStyle/>
          <a:p>
            <a:r>
              <a:rPr lang="en-MY" sz="4800" b="1"/>
              <a:t>Real-World Applications of IaaS</a:t>
            </a:r>
            <a:br>
              <a:rPr lang="en-MY" sz="4800"/>
            </a:br>
            <a:endParaRPr lang="en-US" sz="4800"/>
          </a:p>
        </p:txBody>
      </p:sp>
      <p:sp>
        <p:nvSpPr>
          <p:cNvPr id="3" name="Content Placeholder 2">
            <a:extLst>
              <a:ext uri="{FF2B5EF4-FFF2-40B4-BE49-F238E27FC236}">
                <a16:creationId xmlns:a16="http://schemas.microsoft.com/office/drawing/2014/main" id="{80E177ED-4954-31D4-D709-BB7388BD27B3}"/>
              </a:ext>
            </a:extLst>
          </p:cNvPr>
          <p:cNvSpPr>
            <a:spLocks noGrp="1"/>
          </p:cNvSpPr>
          <p:nvPr>
            <p:ph idx="1"/>
          </p:nvPr>
        </p:nvSpPr>
        <p:spPr>
          <a:xfrm>
            <a:off x="1045028" y="3017522"/>
            <a:ext cx="9941319" cy="3124658"/>
          </a:xfrm>
        </p:spPr>
        <p:txBody>
          <a:bodyPr anchor="ctr">
            <a:normAutofit/>
          </a:bodyPr>
          <a:lstStyle/>
          <a:p>
            <a:pPr>
              <a:buFont typeface="Arial" panose="020B0604020202020204" pitchFamily="34" charset="0"/>
              <a:buChar char="•"/>
            </a:pPr>
            <a:r>
              <a:rPr lang="en-MY" sz="2400"/>
              <a:t>Education: Virtual labs, student VMs</a:t>
            </a:r>
          </a:p>
          <a:p>
            <a:pPr>
              <a:buFont typeface="Arial" panose="020B0604020202020204" pitchFamily="34" charset="0"/>
              <a:buChar char="•"/>
            </a:pPr>
            <a:r>
              <a:rPr lang="en-MY" sz="2400"/>
              <a:t>E-commerce: Scalable web stores</a:t>
            </a:r>
          </a:p>
          <a:p>
            <a:pPr>
              <a:buFont typeface="Arial" panose="020B0604020202020204" pitchFamily="34" charset="0"/>
              <a:buChar char="•"/>
            </a:pPr>
            <a:r>
              <a:rPr lang="en-MY" sz="2400"/>
              <a:t>Media: Video rendering farms</a:t>
            </a:r>
          </a:p>
          <a:p>
            <a:pPr>
              <a:buFont typeface="Arial" panose="020B0604020202020204" pitchFamily="34" charset="0"/>
              <a:buChar char="•"/>
            </a:pPr>
            <a:r>
              <a:rPr lang="en-MY" sz="2400"/>
              <a:t>Government: Secure data processing These use cases highlight the flexibility of IaaS across sectors.</a:t>
            </a:r>
          </a:p>
          <a:p>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47150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E6D4EC-7A16-8F5F-100D-5A2AF02B7C61}"/>
              </a:ext>
            </a:extLst>
          </p:cNvPr>
          <p:cNvSpPr>
            <a:spLocks noGrp="1"/>
          </p:cNvSpPr>
          <p:nvPr>
            <p:ph type="title"/>
          </p:nvPr>
        </p:nvSpPr>
        <p:spPr>
          <a:xfrm>
            <a:off x="1043631" y="809898"/>
            <a:ext cx="9942716" cy="1554480"/>
          </a:xfrm>
        </p:spPr>
        <p:txBody>
          <a:bodyPr anchor="ctr">
            <a:normAutofit/>
          </a:bodyPr>
          <a:lstStyle/>
          <a:p>
            <a:r>
              <a:rPr lang="en-MY" sz="4800" b="1"/>
              <a:t>Challenges with IaaS</a:t>
            </a:r>
            <a:br>
              <a:rPr lang="en-MY" sz="4800"/>
            </a:br>
            <a:endParaRPr lang="en-US" sz="4800"/>
          </a:p>
        </p:txBody>
      </p:sp>
      <p:sp>
        <p:nvSpPr>
          <p:cNvPr id="3" name="Content Placeholder 2">
            <a:extLst>
              <a:ext uri="{FF2B5EF4-FFF2-40B4-BE49-F238E27FC236}">
                <a16:creationId xmlns:a16="http://schemas.microsoft.com/office/drawing/2014/main" id="{EB80978A-64E6-95EB-AA8A-53D93A2F28FA}"/>
              </a:ext>
            </a:extLst>
          </p:cNvPr>
          <p:cNvSpPr>
            <a:spLocks noGrp="1"/>
          </p:cNvSpPr>
          <p:nvPr>
            <p:ph idx="1"/>
          </p:nvPr>
        </p:nvSpPr>
        <p:spPr>
          <a:xfrm>
            <a:off x="1045028" y="3017522"/>
            <a:ext cx="9941319" cy="3124658"/>
          </a:xfrm>
        </p:spPr>
        <p:txBody>
          <a:bodyPr anchor="ctr">
            <a:normAutofit/>
          </a:bodyPr>
          <a:lstStyle/>
          <a:p>
            <a:pPr>
              <a:buFont typeface="Arial" panose="020B0604020202020204" pitchFamily="34" charset="0"/>
              <a:buChar char="•"/>
            </a:pPr>
            <a:r>
              <a:rPr lang="en-MY" sz="2400"/>
              <a:t>Cost overruns without monitoring</a:t>
            </a:r>
          </a:p>
          <a:p>
            <a:pPr>
              <a:buFont typeface="Arial" panose="020B0604020202020204" pitchFamily="34" charset="0"/>
              <a:buChar char="•"/>
            </a:pPr>
            <a:r>
              <a:rPr lang="en-MY" sz="2400"/>
              <a:t>Data security risks if misconfigured</a:t>
            </a:r>
          </a:p>
          <a:p>
            <a:pPr>
              <a:buFont typeface="Arial" panose="020B0604020202020204" pitchFamily="34" charset="0"/>
              <a:buChar char="•"/>
            </a:pPr>
            <a:r>
              <a:rPr lang="en-MY" sz="2400"/>
              <a:t>Vendor lock-in</a:t>
            </a:r>
          </a:p>
          <a:p>
            <a:pPr>
              <a:buFont typeface="Arial" panose="020B0604020202020204" pitchFamily="34" charset="0"/>
              <a:buChar char="•"/>
            </a:pPr>
            <a:r>
              <a:rPr lang="en-MY" sz="2400"/>
              <a:t>Complexity in setup and scaling These should be planned for during adoption.</a:t>
            </a:r>
          </a:p>
          <a:p>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72917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TotalTime>
  <Words>1565</Words>
  <Application>Microsoft Macintosh PowerPoint</Application>
  <PresentationFormat>Widescreen</PresentationFormat>
  <Paragraphs>126</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Aptos</vt:lpstr>
      <vt:lpstr>Aptos Display</vt:lpstr>
      <vt:lpstr>Arial</vt:lpstr>
      <vt:lpstr>Calibri</vt:lpstr>
      <vt:lpstr>Office Theme</vt:lpstr>
      <vt:lpstr>Topic 7 - Infrastructure as a Service (IaaS) Providers </vt:lpstr>
      <vt:lpstr>Introduction to IaaS </vt:lpstr>
      <vt:lpstr>IaaS in Cloud Models </vt:lpstr>
      <vt:lpstr>Key Features of IaaS </vt:lpstr>
      <vt:lpstr>Elasticity and Scalability </vt:lpstr>
      <vt:lpstr>Virtualization Technology  </vt:lpstr>
      <vt:lpstr>Geographic Presence </vt:lpstr>
      <vt:lpstr>Importance of Data Center Location  </vt:lpstr>
      <vt:lpstr>User Interfaces and Access to Servers </vt:lpstr>
      <vt:lpstr>Interfaces in Practice  </vt:lpstr>
      <vt:lpstr>Advanced Reservation of Capacity </vt:lpstr>
      <vt:lpstr>Real-World Example of Reservation  </vt:lpstr>
      <vt:lpstr>Auto Scaling and Load Balancing </vt:lpstr>
      <vt:lpstr>E-commerce Example  </vt:lpstr>
      <vt:lpstr>Understanding SLAs  </vt:lpstr>
      <vt:lpstr>SLA Implications </vt:lpstr>
      <vt:lpstr>Hypervisors Overview </vt:lpstr>
      <vt:lpstr>Operating System Choices </vt:lpstr>
      <vt:lpstr>Introduction to IaaS Providers </vt:lpstr>
      <vt:lpstr>Amazon Web Services (AWS) </vt:lpstr>
      <vt:lpstr>Amazon EC2 Features  </vt:lpstr>
      <vt:lpstr>EC2 Use Cases </vt:lpstr>
      <vt:lpstr>Flexiscale Overview  </vt:lpstr>
      <vt:lpstr>Joyent Overview </vt:lpstr>
      <vt:lpstr>Rackspace Cloud Servers </vt:lpstr>
      <vt:lpstr>Comparing Providers </vt:lpstr>
      <vt:lpstr>Choosing the Right IaaS </vt:lpstr>
      <vt:lpstr>Real-World Applications of IaaS </vt:lpstr>
      <vt:lpstr>Challenges with IaaS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Izrulfizal Saufihamizal Bin Ibrahim</dc:creator>
  <cp:lastModifiedBy>Izrulfizal Saufihamizal Bin Ibrahim</cp:lastModifiedBy>
  <cp:revision>6</cp:revision>
  <dcterms:created xsi:type="dcterms:W3CDTF">2025-04-22T00:14:46Z</dcterms:created>
  <dcterms:modified xsi:type="dcterms:W3CDTF">2025-04-22T02:19:26Z</dcterms:modified>
</cp:coreProperties>
</file>