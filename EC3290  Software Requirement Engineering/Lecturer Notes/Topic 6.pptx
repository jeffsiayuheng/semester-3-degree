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7" r:id="rId9"/>
    <p:sldId id="276" r:id="rId10"/>
    <p:sldId id="278" r:id="rId11"/>
    <p:sldId id="279" r:id="rId12"/>
    <p:sldId id="280" r:id="rId13"/>
    <p:sldId id="281" r:id="rId14"/>
    <p:sldId id="262" r:id="rId15"/>
    <p:sldId id="263" r:id="rId16"/>
    <p:sldId id="264" r:id="rId17"/>
    <p:sldId id="265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7"/>
    <p:restoredTop sz="94751"/>
  </p:normalViewPr>
  <p:slideViewPr>
    <p:cSldViewPr snapToGrid="0">
      <p:cViewPr varScale="1">
        <p:scale>
          <a:sx n="119" d="100"/>
          <a:sy n="119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CD02-4727-3C62-E41A-E635C75A3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C760B-3ABF-956B-767D-8FD08C31F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14FE-44E9-774A-B434-AB905B20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D48D2-D414-C6B2-7D3A-FC77C033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6CD53-9002-21A1-5B09-326489F7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99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51D4-E982-4091-3828-66BCE766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0FF4-4DE0-2FC0-9A90-DAD970E37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3B138-94AD-BCFF-67F6-8675772A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ECDEC-43A5-193B-9E35-CE1284CA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9CD0-FB42-9893-4331-BF9A7C26E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67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A2D3-61CC-EC6F-6555-7BF77565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EDEF9-97F3-CF09-4FDB-08EC3BC7F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B53BC-8176-0C0C-FDCE-D8F0ECCC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AA552-B071-F04F-C9B0-26B72571F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913BD-BA10-B53E-DF7A-55ACA085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04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E019-844C-6E35-3AE6-EE433DD8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492A-2E09-5D7A-0934-2CC2B000F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AA295-14A2-9B1A-3502-49E891854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D62A5-B36A-251F-9481-9D4FEE55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D6D0A-CCB1-8BA6-3CE4-E15DCA96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A9642-88D1-E5F5-A990-3B3FDF90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88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9197-5734-CB18-DB13-CFC2F210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38FE9-D2D8-44CD-4E1E-6BFB3A00E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1D5CA-EAD3-5231-34BC-AA8DE6F0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AA7858-04A2-D3D3-DE28-8FD29A38EC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DF2693-B930-1958-C454-76E975B42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1C36A-11CC-DC28-EB85-019589A29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B525A-1B97-1D25-B084-D6739C41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3EB04-097E-FC85-8CD3-FD21B99C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61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1122F-5B6A-3BFD-FFD4-DD5CAD1F3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EA704-EC27-9907-F006-63A7D8C0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A68F6-7187-7F30-A7FB-1BE61993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E1F51-36F1-44E3-7FE7-8F59671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31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7A5F2-82FB-AA1F-CA8D-D39926741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F87DC-1B1F-7E5B-0310-D8C04CC9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C2110-5C40-F1C3-C98A-6FA5CA66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1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E1CA-2B3E-A7D4-600C-67964385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4EB0-F6DE-8B06-B248-BEC7D286A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3FD7F-1362-CA68-9DCB-F4C44CEB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1A290-7697-B5DD-6331-ABFC5947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3FD13-2043-8406-AEF3-1601292F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91B86-6490-3BCF-A8B1-4D4FB863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08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5E5E-F634-3068-7DDB-56E61D59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EFED9-1386-7345-8FFD-A62AD60CE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7EB44-7AF2-E82E-8E66-C7EC10BF9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0C659-08AE-76EE-1B46-C5465232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E3AA-E33E-13D1-F4FE-604DEBF4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C22B9-C2CD-176A-50F2-EE62D59C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22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AA21-9D6E-BC33-13FE-B31C016B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F8E8F-2233-7E1B-1BF7-F790FBE99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7E879-FB51-CB52-3291-D9DF1110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2D922-3105-3CA7-BDA3-EF81C7AC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6CFD5-2CFD-DE52-AE25-4DDF922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45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34D38-6B73-BF69-9EF1-47BBBEBA7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B57A7-E466-52FD-B3A4-D72E84F01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E37AF-C1AD-C915-3929-0843E3F5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7BE05-A930-F98E-0D36-953B26D4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53C8-A458-43B1-BDB5-9DEBCD07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63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85C190-AE91-C542-C4CF-3D95B1ED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A61D2-0499-C51B-7D93-17065E440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6A4B4-5E15-3704-0AAB-FD7A682E6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88DBC-5224-F543-B2C9-102A40BEBD07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F80A5-C8F0-F366-AE5C-D6B189F19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FD4F0-EA82-2292-7B22-9340751FE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4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25E7-508F-1EA8-0A07-3BC82B759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753" y="1122363"/>
            <a:ext cx="12011247" cy="2387600"/>
          </a:xfrm>
        </p:spPr>
        <p:txBody>
          <a:bodyPr/>
          <a:lstStyle/>
          <a:p>
            <a:r>
              <a:rPr lang="en-US" dirty="0"/>
              <a:t>EC3290 – Software Requirements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6ABDB-95C3-5663-AD26-89954274A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u="sng" dirty="0"/>
              <a:t>Topic 5 – </a:t>
            </a:r>
            <a:r>
              <a:rPr lang="en-MY" b="1" u="sng" dirty="0"/>
              <a:t>Advanced Topics in Software Requirement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7311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4BD0-B7AB-4D5B-24F0-3356BC8B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EAC2C-2CF9-24C6-0F05-7D778A3ED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Hazard Analysis &amp; Safety-Critical Requirements</a:t>
            </a:r>
          </a:p>
          <a:p>
            <a:r>
              <a:rPr lang="en-MY" dirty="0"/>
              <a:t>Threat </a:t>
            </a:r>
            <a:r>
              <a:rPr lang="en-MY" dirty="0" err="1"/>
              <a:t>Modeling</a:t>
            </a:r>
            <a:r>
              <a:rPr lang="en-MY" dirty="0"/>
              <a:t> &amp; Security-Critical Requirements</a:t>
            </a:r>
          </a:p>
          <a:p>
            <a:r>
              <a:rPr lang="en-MY" dirty="0"/>
              <a:t>Tool Support in Requirements Engineering</a:t>
            </a:r>
          </a:p>
          <a:p>
            <a:r>
              <a:rPr lang="en-MY" dirty="0"/>
              <a:t>Open Research Challenges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988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E0BC-7DE1-5C7B-1B91-70D05276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Introduction to Advanced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FF9DB-FDDA-57FA-3935-BC74B5747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As modern software systems become increasingly embedded in critical environments—from healthcare and transportation to finance and </a:t>
            </a:r>
            <a:r>
              <a:rPr lang="en-MY" dirty="0" err="1"/>
              <a:t>defense</a:t>
            </a:r>
            <a:r>
              <a:rPr lang="en-MY" dirty="0"/>
              <a:t>—the field of requirements engineering must evolve. Four advanced areas that reflect the growing demand for dependable, secure, and maintainable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693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E917B-A037-4D36-291B-BB330416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MY" dirty="0" err="1"/>
              <a:t>azard</a:t>
            </a:r>
            <a:r>
              <a:rPr lang="en-MY" dirty="0"/>
              <a:t> Analysis and Safety-Critical System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D8445-0669-546D-13A6-1D936855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dirty="0"/>
              <a:t>Safety-critical systems are those where failures can result in catastrophic consequences: human injury, death, or major financial loss. Think of pacemakers, aircraft autopilot systems, or nuclear power controls.</a:t>
            </a:r>
          </a:p>
          <a:p>
            <a:pPr marL="0" indent="0">
              <a:buNone/>
            </a:pPr>
            <a:br>
              <a:rPr lang="en-MY" dirty="0"/>
            </a:br>
            <a:r>
              <a:rPr lang="en-MY" dirty="0"/>
              <a:t>The goal of requirements engineering in such systems is not just to ensure functionality—but to safeguard against harmful scenarios.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218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4F5C-E481-07A6-C678-EABC41BC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Hazard Analysis?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F6D1E-AC59-6880-85E9-A8BC08E2E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Hazard analysis is the structured process of identifying conditions or events that could lead to system failure or harm.</a:t>
            </a:r>
            <a:br>
              <a:rPr lang="en-MY" dirty="0"/>
            </a:br>
            <a:r>
              <a:rPr lang="en-MY" dirty="0"/>
              <a:t>It helps us answer: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What can go wrong?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What are the consequences?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What measures can prevent it?</a:t>
            </a:r>
          </a:p>
          <a:p>
            <a:pPr marL="0" indent="0">
              <a:buNone/>
            </a:pPr>
            <a:r>
              <a:rPr lang="en-MY" dirty="0"/>
              <a:t>This early-stage analysis directly influences how safety requirements are written.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693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B670-C3AB-EB2D-2807-2E7DB4FD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Techniques in Hazard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1C0BC-4D77-C072-7601-82EB54B2E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Three popular techniques are widely used in industry: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FMEA</a:t>
            </a:r>
            <a:r>
              <a:rPr lang="en-MY" dirty="0"/>
              <a:t> (Failure Modes and Effects Analysis): Assesses how different parts might fail and the impact.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FTA</a:t>
            </a:r>
            <a:r>
              <a:rPr lang="en-MY" dirty="0"/>
              <a:t> (Fault Tree Analysis): A top-down diagram-based method to </a:t>
            </a:r>
            <a:r>
              <a:rPr lang="en-MY" dirty="0" err="1"/>
              <a:t>analyze</a:t>
            </a:r>
            <a:r>
              <a:rPr lang="en-MY" dirty="0"/>
              <a:t> cause-and-effect.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HAZOP</a:t>
            </a:r>
            <a:r>
              <a:rPr lang="en-MY" dirty="0"/>
              <a:t> (Hazard and Operability): A systematic team review to find deviations from intended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7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AE179-ABB6-E288-51CA-2D373030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Failure Modes and Effects Analysis (FMEA)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DA9DF-C855-CE3B-952C-8DAF265E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138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MY" dirty="0"/>
              <a:t>FMEA is a </a:t>
            </a:r>
            <a:r>
              <a:rPr lang="en-MY" b="1" dirty="0"/>
              <a:t>bottom-up</a:t>
            </a:r>
            <a:r>
              <a:rPr lang="en-MY" dirty="0"/>
              <a:t> approach that identifies potential failure modes of each component, </a:t>
            </a:r>
            <a:r>
              <a:rPr lang="en-MY" dirty="0" err="1"/>
              <a:t>analyzes</a:t>
            </a:r>
            <a:r>
              <a:rPr lang="en-MY" dirty="0"/>
              <a:t> their consequences, and prioritizes them based on severity, occurrence, and detectability.</a:t>
            </a:r>
          </a:p>
          <a:p>
            <a:pPr>
              <a:buNone/>
            </a:pPr>
            <a:r>
              <a:rPr lang="en-MY" b="1" dirty="0"/>
              <a:t>Steps in FMEA:</a:t>
            </a:r>
          </a:p>
          <a:p>
            <a:pPr>
              <a:buFont typeface="+mj-lt"/>
              <a:buAutoNum type="arabicPeriod"/>
            </a:pPr>
            <a:r>
              <a:rPr lang="en-MY" dirty="0"/>
              <a:t>List components and functions</a:t>
            </a:r>
          </a:p>
          <a:p>
            <a:pPr>
              <a:buFont typeface="+mj-lt"/>
              <a:buAutoNum type="arabicPeriod"/>
            </a:pPr>
            <a:r>
              <a:rPr lang="en-MY" dirty="0"/>
              <a:t>Identify how each can fail (failure modes)</a:t>
            </a:r>
          </a:p>
          <a:p>
            <a:pPr>
              <a:buFont typeface="+mj-lt"/>
              <a:buAutoNum type="arabicPeriod"/>
            </a:pPr>
            <a:r>
              <a:rPr lang="en-MY" dirty="0" err="1"/>
              <a:t>Analyze</a:t>
            </a:r>
            <a:r>
              <a:rPr lang="en-MY" dirty="0"/>
              <a:t> effects of each failure</a:t>
            </a:r>
          </a:p>
          <a:p>
            <a:pPr>
              <a:buFont typeface="+mj-lt"/>
              <a:buAutoNum type="arabicPeriod"/>
            </a:pPr>
            <a:r>
              <a:rPr lang="en-MY" dirty="0"/>
              <a:t>Assign Risk Priority Number (RPN)</a:t>
            </a:r>
          </a:p>
          <a:p>
            <a:pPr>
              <a:buFont typeface="+mj-lt"/>
              <a:buAutoNum type="arabicPeriod"/>
            </a:pPr>
            <a:r>
              <a:rPr lang="en-MY" dirty="0"/>
              <a:t>Recommend corrective 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170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D4A5C-7DAA-A325-132E-EF3D471A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AFDB-512E-5B8F-70C4-97D70CE9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Failure Modes and Effects Analysis (FMEA)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798E8-441F-849C-E4D9-9384E8E9E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138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MY" b="1" dirty="0"/>
              <a:t>Example:</a:t>
            </a:r>
          </a:p>
          <a:p>
            <a:pPr>
              <a:buNone/>
            </a:pPr>
            <a:r>
              <a:rPr lang="en-MY" dirty="0"/>
              <a:t>In a </a:t>
            </a:r>
            <a:r>
              <a:rPr lang="en-MY" b="1" dirty="0"/>
              <a:t>heart monitor</a:t>
            </a:r>
            <a:r>
              <a:rPr lang="en-MY" dirty="0"/>
              <a:t>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Component: ECG sensor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Failure Mode: Sensor disconnect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Effect: No reading → risk to patient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RPN: High → Add alert system when no signal detected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935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40556-7DC0-BC76-AE6A-3883F68D7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Fault Tree Analysis (FTA)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FB604-0E3B-6FDB-06BB-65B2EF693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FTA is a </a:t>
            </a:r>
            <a:r>
              <a:rPr lang="en-MY" b="1" dirty="0"/>
              <a:t>top-down</a:t>
            </a:r>
            <a:r>
              <a:rPr lang="en-MY" dirty="0"/>
              <a:t> graphical technique that starts from an undesired event and uses logic gates (AND, OR) to trace the possible root causes.</a:t>
            </a:r>
          </a:p>
          <a:p>
            <a:pPr>
              <a:buNone/>
            </a:pPr>
            <a:r>
              <a:rPr lang="en-MY" b="1" dirty="0"/>
              <a:t>Steps in FTA:</a:t>
            </a:r>
          </a:p>
          <a:p>
            <a:pPr>
              <a:buFont typeface="+mj-lt"/>
              <a:buAutoNum type="arabicPeriod"/>
            </a:pPr>
            <a:r>
              <a:rPr lang="en-MY" dirty="0"/>
              <a:t>Define the undesired "top event"</a:t>
            </a:r>
          </a:p>
          <a:p>
            <a:pPr>
              <a:buFont typeface="+mj-lt"/>
              <a:buAutoNum type="arabicPeriod"/>
            </a:pPr>
            <a:r>
              <a:rPr lang="en-MY" dirty="0"/>
              <a:t>Break down causes using logic gates</a:t>
            </a:r>
          </a:p>
          <a:p>
            <a:pPr>
              <a:buFont typeface="+mj-lt"/>
              <a:buAutoNum type="arabicPeriod"/>
            </a:pPr>
            <a:r>
              <a:rPr lang="en-MY" dirty="0"/>
              <a:t>Identify minimal cut sets (combinations that can trigger the top event)</a:t>
            </a:r>
          </a:p>
          <a:p>
            <a:pPr>
              <a:buFont typeface="+mj-lt"/>
              <a:buAutoNum type="arabicPeriod"/>
            </a:pPr>
            <a:r>
              <a:rPr lang="en-MY" dirty="0" err="1"/>
              <a:t>Analyze</a:t>
            </a:r>
            <a:r>
              <a:rPr lang="en-MY" dirty="0"/>
              <a:t> probabilities and dependencies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675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44D3B-106C-7121-C690-CEAC6938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E6B6-6866-8A82-9C35-2641CE88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Fault Tree Analysis (FTA)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C18EB-5750-A7BF-A18B-6E005E5FB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b="1" dirty="0"/>
              <a:t>Example:</a:t>
            </a:r>
          </a:p>
          <a:p>
            <a:pPr>
              <a:buNone/>
            </a:pPr>
            <a:r>
              <a:rPr lang="en-MY" dirty="0"/>
              <a:t>Top event: “Aircraft loses power”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Cause A: Fuel exhaustion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Cause B: Engine control software crash</a:t>
            </a:r>
            <a:br>
              <a:rPr lang="en-MY" dirty="0"/>
            </a:br>
            <a:r>
              <a:rPr lang="en-MY" dirty="0"/>
              <a:t>FTA builds a visual tree showing how these causes interact.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50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6B80-B001-FAEA-40EA-24322035E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Hazard and Operability Study (HAZOP)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DB657-7CE7-6597-86C7-6C198C3A3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HAZOP is a </a:t>
            </a:r>
            <a:r>
              <a:rPr lang="en-MY" b="1" dirty="0"/>
              <a:t>structured team-based</a:t>
            </a:r>
            <a:r>
              <a:rPr lang="en-MY" dirty="0"/>
              <a:t> technique that </a:t>
            </a:r>
            <a:r>
              <a:rPr lang="en-MY" dirty="0" err="1"/>
              <a:t>analyzes</a:t>
            </a:r>
            <a:r>
              <a:rPr lang="en-MY" dirty="0"/>
              <a:t> potential deviations from the intended design using guide words like "more," "less," "none," etc.</a:t>
            </a:r>
          </a:p>
          <a:p>
            <a:pPr>
              <a:buNone/>
            </a:pPr>
            <a:r>
              <a:rPr lang="en-MY" b="1" dirty="0"/>
              <a:t>Steps in HAZOP:</a:t>
            </a:r>
          </a:p>
          <a:p>
            <a:pPr>
              <a:buFont typeface="+mj-lt"/>
              <a:buAutoNum type="arabicPeriod"/>
            </a:pPr>
            <a:r>
              <a:rPr lang="en-MY" dirty="0"/>
              <a:t>Form a multidisciplinary team</a:t>
            </a:r>
          </a:p>
          <a:p>
            <a:pPr>
              <a:buFont typeface="+mj-lt"/>
              <a:buAutoNum type="arabicPeriod"/>
            </a:pPr>
            <a:r>
              <a:rPr lang="en-MY" dirty="0"/>
              <a:t>Divide system into nodes/processes</a:t>
            </a:r>
          </a:p>
          <a:p>
            <a:pPr>
              <a:buFont typeface="+mj-lt"/>
              <a:buAutoNum type="arabicPeriod"/>
            </a:pPr>
            <a:r>
              <a:rPr lang="en-MY" dirty="0"/>
              <a:t>Apply guide words to each node (e.g., "No flow", "More pressure")</a:t>
            </a:r>
          </a:p>
          <a:p>
            <a:pPr>
              <a:buFont typeface="+mj-lt"/>
              <a:buAutoNum type="arabicPeriod"/>
            </a:pPr>
            <a:r>
              <a:rPr lang="en-MY" dirty="0"/>
              <a:t>Brainstorm possible causes and consequences</a:t>
            </a:r>
          </a:p>
          <a:p>
            <a:pPr>
              <a:buFont typeface="+mj-lt"/>
              <a:buAutoNum type="arabicPeriod"/>
            </a:pPr>
            <a:r>
              <a:rPr lang="en-MY" dirty="0"/>
              <a:t>Document actions needed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059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DE5A-FE87-52C7-D415-254111D3C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6D8D5-1545-4D3A-E5D8-C6BD39DD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Hazard and Operability Study (HAZOP)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8731E-4633-8351-D763-671901A5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In a </a:t>
            </a:r>
            <a:r>
              <a:rPr lang="en-MY" b="1" dirty="0"/>
              <a:t>chemical plant</a:t>
            </a:r>
            <a:r>
              <a:rPr lang="en-MY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Node: Pipeline transporting gas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Guide word: “More pressure”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Deviation: Pressure above safety threshold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Consequence: Explosion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Action: Add pressure relief valve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99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95C4-22DE-6D33-13BB-A055A3F9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Comparison of Hazard Analysis Techniques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EDBC9F-BDFE-4B70-EFA8-083DFC250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379365"/>
              </p:ext>
            </p:extLst>
          </p:nvPr>
        </p:nvGraphicFramePr>
        <p:xfrm>
          <a:off x="838200" y="1874520"/>
          <a:ext cx="10515600" cy="310896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52040685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887496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5989941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1633252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76165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007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MY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Strengths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161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b="1"/>
                        <a:t>FMEA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Bottom-up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Component-level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Mechanical/electrical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Simple to apply, quantifies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May miss system-level interactions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584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b="1"/>
                        <a:t>FTA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Top-down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Undesired events &amp; causes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Aerospace, nuclear, automotive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Clear visualization of failure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Complex for large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706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b="1"/>
                        <a:t>HAZOP</a:t>
                      </a:r>
                      <a:endParaRPr lang="en-MY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Team-based with guide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Process deviations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Chemical/process industries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Encourages brainstorming, very thorough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Time-consuming, needs expertise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971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896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215F-E392-0774-64C1-D6C88FC8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From Hazards to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8E807-253E-B64D-614B-4E9C769A2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Once hazards are known, we specify how the system should respond or prevent these situations.</a:t>
            </a:r>
            <a:br>
              <a:rPr lang="en-MY" dirty="0"/>
            </a:br>
            <a:r>
              <a:rPr lang="en-MY" dirty="0"/>
              <a:t>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Hazard: Sensor overheating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Requirement: “The system shall shut down the module if temperature exceeds 80°C.”</a:t>
            </a:r>
          </a:p>
          <a:p>
            <a:pPr marL="0" indent="0">
              <a:buNone/>
            </a:pPr>
            <a:r>
              <a:rPr lang="en-MY" dirty="0"/>
              <a:t>These are </a:t>
            </a:r>
            <a:r>
              <a:rPr lang="en-MY" b="1" dirty="0"/>
              <a:t>non-functional requirements</a:t>
            </a:r>
            <a:r>
              <a:rPr lang="en-MY" dirty="0"/>
              <a:t>, often focusing on system </a:t>
            </a:r>
            <a:r>
              <a:rPr lang="en-MY" dirty="0" err="1"/>
              <a:t>behavior</a:t>
            </a:r>
            <a:r>
              <a:rPr lang="en-MY" dirty="0"/>
              <a:t> under stress or failure.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96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96E1B-146A-0F64-3A7F-3CCFD839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Threat </a:t>
            </a:r>
            <a:r>
              <a:rPr lang="en-MY" dirty="0" err="1"/>
              <a:t>Modeling</a:t>
            </a:r>
            <a:r>
              <a:rPr lang="en-MY" dirty="0"/>
              <a:t> and Security-Critical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A4E38-CE8B-9203-C3F5-78E454F19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Why Security Matters</a:t>
            </a:r>
          </a:p>
          <a:p>
            <a:pPr lvl="1"/>
            <a:r>
              <a:rPr lang="en-MY" dirty="0"/>
              <a:t>Security is now an essential requirement in almost every system. From personal apps to critical infrastructure, breaches can expose private data or even endanger lives.</a:t>
            </a:r>
            <a:br>
              <a:rPr lang="en-MY" dirty="0"/>
            </a:br>
            <a:endParaRPr lang="en-MY" dirty="0"/>
          </a:p>
          <a:p>
            <a:pPr lvl="1"/>
            <a:r>
              <a:rPr lang="en-MY" dirty="0"/>
              <a:t>Unlike hazards (accidental), threats are </a:t>
            </a:r>
            <a:r>
              <a:rPr lang="en-MY" b="1" dirty="0"/>
              <a:t>intentional</a:t>
            </a:r>
            <a:r>
              <a:rPr lang="en-MY" dirty="0"/>
              <a:t>, posed by attackers. Our role is to anticipate and mitigate them through proper requirements.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682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43AC-B889-BF2B-31A3-CC275F1DF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Threat </a:t>
            </a:r>
            <a:r>
              <a:rPr lang="en-MY" dirty="0" err="1"/>
              <a:t>Modeling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2FEED-F556-69CD-FB95-6529D0DF0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Threat </a:t>
            </a:r>
            <a:r>
              <a:rPr lang="en-MY" dirty="0" err="1"/>
              <a:t>modeling</a:t>
            </a:r>
            <a:r>
              <a:rPr lang="en-MY" dirty="0"/>
              <a:t> is a proactive approach to uncovering and </a:t>
            </a:r>
            <a:r>
              <a:rPr lang="en-MY" dirty="0" err="1"/>
              <a:t>analyzing</a:t>
            </a:r>
            <a:r>
              <a:rPr lang="en-MY" dirty="0"/>
              <a:t> security threats during the design phase.</a:t>
            </a:r>
            <a:br>
              <a:rPr lang="en-MY" dirty="0"/>
            </a:br>
            <a:endParaRPr lang="en-MY" dirty="0"/>
          </a:p>
          <a:p>
            <a:r>
              <a:rPr lang="en-MY" dirty="0"/>
              <a:t>Steps include: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Identifying assets (data, user credentials, etc.)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Listing potential attackers and their motives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Pinpointing vulnerabilities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Defining countermeasures</a:t>
            </a:r>
          </a:p>
        </p:txBody>
      </p:sp>
    </p:spTree>
    <p:extLst>
      <p:ext uri="{BB962C8B-B14F-4D97-AF65-F5344CB8AC3E}">
        <p14:creationId xmlns:p14="http://schemas.microsoft.com/office/powerpoint/2010/main" val="679956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9936-3C66-0B09-BB31-380D5E20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STRIDE Framework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07C3D-A4B5-4508-7E1D-D65D0DCF8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The STRIDE model categorizes six types of threats: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Spoofing</a:t>
            </a:r>
            <a:r>
              <a:rPr lang="en-MY" dirty="0"/>
              <a:t>: Impersonating identities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Tampering</a:t>
            </a:r>
            <a:r>
              <a:rPr lang="en-MY" dirty="0"/>
              <a:t>: Modifying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Repudiation</a:t>
            </a:r>
            <a:r>
              <a:rPr lang="en-MY" dirty="0"/>
              <a:t>: Denying 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Information Disclosure</a:t>
            </a:r>
            <a:r>
              <a:rPr lang="en-MY" dirty="0"/>
              <a:t>: Leaking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Denial of Service</a:t>
            </a:r>
            <a:r>
              <a:rPr lang="en-MY" dirty="0"/>
              <a:t>: Disrupting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Elevation of Privilege</a:t>
            </a:r>
            <a:r>
              <a:rPr lang="en-MY" dirty="0"/>
              <a:t>: Gaining unauthorized access</a:t>
            </a:r>
          </a:p>
          <a:p>
            <a:pPr marL="0" indent="0">
              <a:buNone/>
            </a:pPr>
            <a:r>
              <a:rPr lang="en-MY" dirty="0"/>
              <a:t>For each threat type, we derive one or more security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43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DDF7-4C15-AC40-0942-1C80637CA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 – Spoofing Identity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7569A-A045-04FB-17D7-57759CE07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926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MY" b="1" dirty="0"/>
              <a:t>What is Spoofing?</a:t>
            </a:r>
            <a:br>
              <a:rPr lang="en-MY" dirty="0"/>
            </a:br>
            <a:r>
              <a:rPr lang="en-MY" dirty="0"/>
              <a:t>When someone pretends to be someone else to gain unauthorized access.</a:t>
            </a:r>
          </a:p>
          <a:p>
            <a:pPr>
              <a:buNone/>
            </a:pPr>
            <a:r>
              <a:rPr lang="en-MY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 hacker logs into a system using someone else’s username and password.</a:t>
            </a:r>
          </a:p>
          <a:p>
            <a:pPr>
              <a:buNone/>
            </a:pPr>
            <a:r>
              <a:rPr lang="en-MY" b="1" dirty="0"/>
              <a:t>Analogy:</a:t>
            </a:r>
          </a:p>
          <a:p>
            <a:pPr>
              <a:buNone/>
            </a:pPr>
            <a:r>
              <a:rPr lang="en-MY" dirty="0"/>
              <a:t>Like someone using a fake ID to enter a restricted event pretending to be someone else.</a:t>
            </a:r>
          </a:p>
          <a:p>
            <a:pPr>
              <a:buNone/>
            </a:pPr>
            <a:r>
              <a:rPr lang="en-MY" b="1" dirty="0"/>
              <a:t>Real-world Scenario: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An attacker uses a phishing website that looks like a real bank site to trick users into logging in, then steals their credentials.</a:t>
            </a:r>
          </a:p>
          <a:p>
            <a:pPr>
              <a:buNone/>
            </a:pPr>
            <a:r>
              <a:rPr lang="en-MY" b="1" dirty="0"/>
              <a:t>Typical Requirement to Prevent:</a:t>
            </a:r>
          </a:p>
          <a:p>
            <a:r>
              <a:rPr lang="en-MY" dirty="0"/>
              <a:t>“The system shall enforce multi-factor authentication for all user logins.”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549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61414-5F35-3A3C-72F2-B02F2CCE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 – Tampering with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F61C8-5672-653C-FF22-0A9E16C61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13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MY" b="1" dirty="0"/>
              <a:t>What is Tampering?</a:t>
            </a:r>
            <a:br>
              <a:rPr lang="en-MY" dirty="0"/>
            </a:br>
            <a:r>
              <a:rPr lang="en-MY" dirty="0"/>
              <a:t>When someone changes data without permission.</a:t>
            </a:r>
          </a:p>
          <a:p>
            <a:pPr>
              <a:buNone/>
            </a:pPr>
            <a:r>
              <a:rPr lang="en-MY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Modifying a software file to insert malicious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Changing the amount in a bank transfer during transmission.</a:t>
            </a:r>
          </a:p>
          <a:p>
            <a:pPr>
              <a:buNone/>
            </a:pPr>
            <a:r>
              <a:rPr lang="en-MY" b="1" dirty="0"/>
              <a:t>Analogy:</a:t>
            </a:r>
          </a:p>
          <a:p>
            <a:pPr>
              <a:buNone/>
            </a:pPr>
            <a:r>
              <a:rPr lang="en-MY" dirty="0"/>
              <a:t>Like altering a signed document to change the contract terms.</a:t>
            </a:r>
          </a:p>
          <a:p>
            <a:pPr>
              <a:buNone/>
            </a:pPr>
            <a:r>
              <a:rPr lang="en-MY" b="1" dirty="0"/>
              <a:t>Real-world Scenario: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Hackers inject malicious scripts into a website (e.g., form hijacking in e-commerce sites).</a:t>
            </a:r>
          </a:p>
          <a:p>
            <a:pPr>
              <a:buNone/>
            </a:pPr>
            <a:r>
              <a:rPr lang="en-MY" b="1" dirty="0"/>
              <a:t>Typical Requirement to Prevent:</a:t>
            </a:r>
          </a:p>
          <a:p>
            <a:r>
              <a:rPr lang="en-MY" dirty="0"/>
              <a:t>“All transmitted data shall be encrypted and validated upon receipt.”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706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B1219-07E2-8497-F1D5-8728DB24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 – Repudiation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76D5-68CF-0728-8E47-B60304F01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199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MY" b="1" dirty="0"/>
              <a:t>What is Repudiation?</a:t>
            </a:r>
            <a:br>
              <a:rPr lang="en-MY" dirty="0"/>
            </a:br>
            <a:r>
              <a:rPr lang="en-MY" dirty="0"/>
              <a:t>When a user </a:t>
            </a:r>
            <a:r>
              <a:rPr lang="en-MY" b="1" dirty="0"/>
              <a:t>denies</a:t>
            </a:r>
            <a:r>
              <a:rPr lang="en-MY" dirty="0"/>
              <a:t> having performed an action, and there’s </a:t>
            </a:r>
            <a:r>
              <a:rPr lang="en-MY" b="1" dirty="0"/>
              <a:t>no proof</a:t>
            </a:r>
            <a:r>
              <a:rPr lang="en-MY" dirty="0"/>
              <a:t> to say otherwise.</a:t>
            </a:r>
          </a:p>
          <a:p>
            <a:pPr>
              <a:buNone/>
            </a:pPr>
            <a:r>
              <a:rPr lang="en-MY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 user deletes records and claims they didn’t do it.</a:t>
            </a:r>
          </a:p>
          <a:p>
            <a:pPr>
              <a:buNone/>
            </a:pPr>
            <a:r>
              <a:rPr lang="en-MY" b="1" dirty="0"/>
              <a:t>Analogy:</a:t>
            </a:r>
          </a:p>
          <a:p>
            <a:pPr>
              <a:buNone/>
            </a:pPr>
            <a:r>
              <a:rPr lang="en-MY" dirty="0"/>
              <a:t>Imagine someone claiming, “I didn’t send that email,” and you can’t prove otherwise.</a:t>
            </a:r>
          </a:p>
          <a:p>
            <a:pPr>
              <a:buNone/>
            </a:pPr>
            <a:r>
              <a:rPr lang="en-MY" b="1" dirty="0"/>
              <a:t>Real-world Scenario: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 system with no logging mechanism allows users to delete files without tracking who did it.</a:t>
            </a:r>
          </a:p>
          <a:p>
            <a:pPr>
              <a:buNone/>
            </a:pPr>
            <a:r>
              <a:rPr lang="en-MY" b="1" dirty="0"/>
              <a:t>Typical Requirement to Prevent:</a:t>
            </a:r>
          </a:p>
          <a:p>
            <a:r>
              <a:rPr lang="en-MY" dirty="0"/>
              <a:t>“The system shall maintain detailed and tamper-proof logs of all user actions.”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971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1161-B2DF-CAE6-6BD1-56869402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 – Information Disclosure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22668-51EE-7D7E-9BCD-60A9135C3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MY" b="1" dirty="0"/>
              <a:t>What is Information Disclosure?</a:t>
            </a:r>
            <a:br>
              <a:rPr lang="en-MY" dirty="0"/>
            </a:br>
            <a:r>
              <a:rPr lang="en-MY" dirty="0"/>
              <a:t>When sensitive information is exposed to someone who shouldn’t have access to it.</a:t>
            </a:r>
          </a:p>
          <a:p>
            <a:pPr>
              <a:buNone/>
            </a:pPr>
            <a:r>
              <a:rPr lang="en-MY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 website mistakenly shows other users’ account info.</a:t>
            </a:r>
          </a:p>
          <a:p>
            <a:pPr>
              <a:buNone/>
            </a:pPr>
            <a:r>
              <a:rPr lang="en-MY" b="1" dirty="0"/>
              <a:t>Analogy:</a:t>
            </a:r>
          </a:p>
          <a:p>
            <a:pPr>
              <a:buNone/>
            </a:pPr>
            <a:r>
              <a:rPr lang="en-MY" dirty="0"/>
              <a:t>Like a bank teller shouting out your account balance in public.</a:t>
            </a:r>
          </a:p>
          <a:p>
            <a:pPr>
              <a:buNone/>
            </a:pPr>
            <a:r>
              <a:rPr lang="en-MY" b="1" dirty="0"/>
              <a:t>Real-world Scenario: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 developer forgets to turn off debug mode, and sensitive data is shown in browser error messages.</a:t>
            </a:r>
          </a:p>
          <a:p>
            <a:pPr>
              <a:buNone/>
            </a:pPr>
            <a:r>
              <a:rPr lang="en-MY" b="1" dirty="0"/>
              <a:t>Typical Requirement to Prevent:</a:t>
            </a:r>
          </a:p>
          <a:p>
            <a:r>
              <a:rPr lang="en-MY" dirty="0"/>
              <a:t>“The system shall ensure access controls are applied to all confidential data.”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394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921F-D5B8-9A5F-326E-C4964483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 – Denial of Service (DoS)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7502E-4358-AB2E-5C4D-C51BEF040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MY" b="1" dirty="0"/>
              <a:t>What is Denial of Service?</a:t>
            </a:r>
            <a:br>
              <a:rPr lang="en-MY" dirty="0"/>
            </a:br>
            <a:r>
              <a:rPr lang="en-MY" dirty="0"/>
              <a:t>When someone makes a system </a:t>
            </a:r>
            <a:r>
              <a:rPr lang="en-MY" b="1" dirty="0"/>
              <a:t>unavailable</a:t>
            </a:r>
            <a:r>
              <a:rPr lang="en-MY" dirty="0"/>
              <a:t> to others by overwhelming it.</a:t>
            </a:r>
          </a:p>
          <a:p>
            <a:pPr>
              <a:buNone/>
            </a:pPr>
            <a:r>
              <a:rPr lang="en-MY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 flood of traffic crashes a website so real users can’t access it.</a:t>
            </a:r>
          </a:p>
          <a:p>
            <a:pPr>
              <a:buNone/>
            </a:pPr>
            <a:r>
              <a:rPr lang="en-MY" b="1" dirty="0"/>
              <a:t>Analogy:</a:t>
            </a:r>
          </a:p>
          <a:p>
            <a:pPr>
              <a:buNone/>
            </a:pPr>
            <a:r>
              <a:rPr lang="en-MY" dirty="0"/>
              <a:t>Like filling up all the seats in a </a:t>
            </a:r>
            <a:r>
              <a:rPr lang="en-MY" dirty="0" err="1"/>
              <a:t>theater</a:t>
            </a:r>
            <a:r>
              <a:rPr lang="en-MY" dirty="0"/>
              <a:t> with fake bookings so real people can’t attend.</a:t>
            </a:r>
          </a:p>
          <a:p>
            <a:pPr>
              <a:buNone/>
            </a:pPr>
            <a:r>
              <a:rPr lang="en-MY" b="1" dirty="0"/>
              <a:t>Real-world Scenario: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Bot attacks on an online store during a sale to block other buyers.</a:t>
            </a:r>
          </a:p>
          <a:p>
            <a:pPr>
              <a:buNone/>
            </a:pPr>
            <a:r>
              <a:rPr lang="en-MY" b="1" dirty="0"/>
              <a:t>Typical Requirement to Prevent:</a:t>
            </a:r>
          </a:p>
          <a:p>
            <a:r>
              <a:rPr lang="en-MY" dirty="0"/>
              <a:t>“The system shall detect and limit excessive requests from a single source.”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648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9719-5208-8108-80A2-13B3904C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 – Elevation of Privilege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3A2AE-30CE-4DD7-74F8-895C559C6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MY" b="1" dirty="0"/>
              <a:t>What is Elevation of Privilege?</a:t>
            </a:r>
            <a:br>
              <a:rPr lang="en-MY" dirty="0"/>
            </a:br>
            <a:r>
              <a:rPr lang="en-MY" dirty="0"/>
              <a:t>When someone gains more access or power than they’re supposed to have.</a:t>
            </a:r>
          </a:p>
          <a:p>
            <a:pPr>
              <a:buNone/>
            </a:pPr>
            <a:r>
              <a:rPr lang="en-MY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 regular user finds a flaw and becomes an admin.</a:t>
            </a:r>
          </a:p>
          <a:p>
            <a:pPr>
              <a:buNone/>
            </a:pPr>
            <a:r>
              <a:rPr lang="en-MY" b="1" dirty="0"/>
              <a:t>Analogy:</a:t>
            </a:r>
          </a:p>
          <a:p>
            <a:pPr>
              <a:buNone/>
            </a:pPr>
            <a:r>
              <a:rPr lang="en-MY" dirty="0"/>
              <a:t>Imagine a junior staff member finding the keys to the CEO's office and taking over.</a:t>
            </a:r>
          </a:p>
          <a:p>
            <a:pPr>
              <a:buNone/>
            </a:pPr>
            <a:r>
              <a:rPr lang="en-MY" b="1" dirty="0"/>
              <a:t>Real-world Scenario: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Exploiting a bug to bypass role checks and access restricted parts of the system.</a:t>
            </a:r>
          </a:p>
          <a:p>
            <a:pPr>
              <a:buNone/>
            </a:pPr>
            <a:r>
              <a:rPr lang="en-MY" b="1" dirty="0"/>
              <a:t>Typical Requirement to Prevent:</a:t>
            </a:r>
          </a:p>
          <a:p>
            <a:r>
              <a:rPr lang="en-MY" dirty="0"/>
              <a:t>“The system shall enforce role-based access control for all operations.”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50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3C63-D3DF-665B-18A5-C0B0D205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STRIDE Summary Table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8AA360-76BE-30A9-7B4E-C321262AA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1882847"/>
              </p:ext>
            </p:extLst>
          </p:nvPr>
        </p:nvGraphicFramePr>
        <p:xfrm>
          <a:off x="838200" y="1839007"/>
          <a:ext cx="10515600" cy="36576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408616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411537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6008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79218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MY"/>
                        <a:t>Threat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Requirement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643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b="1"/>
                        <a:t>S</a:t>
                      </a:r>
                      <a:r>
                        <a:rPr lang="en-MY"/>
                        <a:t>poofing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Pretending to be someone 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Fake login credentials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Use two-factor authentication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096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b="1"/>
                        <a:t>T</a:t>
                      </a:r>
                      <a:r>
                        <a:rPr lang="en-MY"/>
                        <a:t>ampering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Changing data or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Modify code during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Use encryption and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8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b="1"/>
                        <a:t>R</a:t>
                      </a:r>
                      <a:r>
                        <a:rPr lang="en-MY"/>
                        <a:t>epudiation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Denying actions without proof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Delete logs, deny wrongdoing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Use audit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268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b="1"/>
                        <a:t>I</a:t>
                      </a:r>
                      <a:r>
                        <a:rPr lang="en-MY"/>
                        <a:t>nfo Disclosure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Exposing sensitive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Leak user data in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Apply access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725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b="1"/>
                        <a:t>D</a:t>
                      </a:r>
                      <a:r>
                        <a:rPr lang="en-MY"/>
                        <a:t>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Overloading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Attack to crash website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Use rate-limiting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520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MY" b="1"/>
                        <a:t>E</a:t>
                      </a:r>
                      <a:r>
                        <a:rPr lang="en-MY"/>
                        <a:t>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Gaining extra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/>
                        <a:t>Regular user becomes 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Role-based access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43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431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C524-BEE1-ADBA-D196-534973413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Security-Critical Requirements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544DB-AC7E-38B1-DEFC-04C3A4347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Imagine a mobile banking app: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Threat</a:t>
            </a:r>
            <a:r>
              <a:rPr lang="en-MY" dirty="0"/>
              <a:t>: Credential theft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Requirement</a:t>
            </a:r>
            <a:r>
              <a:rPr lang="en-MY" dirty="0"/>
              <a:t>: “The system shall enforce biometric login for all high-value transactions.”</a:t>
            </a:r>
          </a:p>
          <a:p>
            <a:pPr marL="0" indent="0">
              <a:buNone/>
            </a:pPr>
            <a:r>
              <a:rPr lang="en-MY" dirty="0"/>
              <a:t>Good security requirements must be </a:t>
            </a:r>
            <a:r>
              <a:rPr lang="en-MY" b="1" dirty="0"/>
              <a:t>clear, testable, and directly address identified threats.</a:t>
            </a:r>
            <a:endParaRPr lang="en-MY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067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BC17-B953-181E-9534-14598A439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Tool Support for Requirements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BACA6-F3FC-C0FE-2CBA-BAFD5EFE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As systems and requirements grow in number and complexity, manual tracking becomes inefficient and risky.</a:t>
            </a:r>
            <a:br>
              <a:rPr lang="en-MY" dirty="0"/>
            </a:br>
            <a:r>
              <a:rPr lang="en-MY" dirty="0"/>
              <a:t>Tools offer support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Requirement gathering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Traceability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Change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Consistency checking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08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D36D-3ED9-C5B5-E727-96B013E4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Categories of Requirements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BA886-F1D2-EFE5-9C68-5771929E2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MY" b="1" dirty="0"/>
              <a:t>Requirements Management Tools</a:t>
            </a:r>
            <a:r>
              <a:rPr lang="en-MY" dirty="0"/>
              <a:t>: e.g., IBM DOORS, Jama Connect</a:t>
            </a:r>
          </a:p>
          <a:p>
            <a:pPr>
              <a:buFont typeface="+mj-lt"/>
              <a:buAutoNum type="arabicPeriod"/>
            </a:pPr>
            <a:r>
              <a:rPr lang="en-MY" b="1" dirty="0" err="1"/>
              <a:t>Modeling</a:t>
            </a:r>
            <a:r>
              <a:rPr lang="en-MY" b="1" dirty="0"/>
              <a:t> Tools</a:t>
            </a:r>
            <a:r>
              <a:rPr lang="en-MY" dirty="0"/>
              <a:t>: e.g., Enterprise Architect</a:t>
            </a:r>
          </a:p>
          <a:p>
            <a:pPr>
              <a:buFont typeface="+mj-lt"/>
              <a:buAutoNum type="arabicPeriod"/>
            </a:pPr>
            <a:r>
              <a:rPr lang="en-MY" b="1" dirty="0"/>
              <a:t>Traceability Tools</a:t>
            </a:r>
            <a:r>
              <a:rPr lang="en-MY" dirty="0"/>
              <a:t>: e.g., </a:t>
            </a:r>
            <a:r>
              <a:rPr lang="en-MY" dirty="0" err="1"/>
              <a:t>Reqtify</a:t>
            </a:r>
            <a:endParaRPr lang="en-MY" dirty="0"/>
          </a:p>
          <a:p>
            <a:pPr>
              <a:buFont typeface="+mj-lt"/>
              <a:buAutoNum type="arabicPeriod"/>
            </a:pPr>
            <a:r>
              <a:rPr lang="en-MY" b="1" dirty="0"/>
              <a:t>Formal Verification Tools</a:t>
            </a:r>
            <a:r>
              <a:rPr lang="en-MY" dirty="0"/>
              <a:t>: e.g., Alloy, SPIN</a:t>
            </a:r>
          </a:p>
          <a:p>
            <a:r>
              <a:rPr lang="en-MY" dirty="0"/>
              <a:t>Each tool specializes in a phase of the requirements lifecycle—from elicitation to validation.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36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4097-C6AE-367E-90A5-D5A2AB72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Key Benefits of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F9356-7D1A-77A0-B4C9-9FE2EAEE2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Using tools can help: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Ensure </a:t>
            </a:r>
            <a:r>
              <a:rPr lang="en-MY" b="1" dirty="0"/>
              <a:t>requirements traceability</a:t>
            </a:r>
            <a:r>
              <a:rPr lang="en-MY" dirty="0"/>
              <a:t> (from user needs to code)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Avoid </a:t>
            </a:r>
            <a:r>
              <a:rPr lang="en-MY" b="1" dirty="0"/>
              <a:t>duplication or conflicts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Manage </a:t>
            </a:r>
            <a:r>
              <a:rPr lang="en-MY" b="1" dirty="0"/>
              <a:t>requirements evolution</a:t>
            </a:r>
            <a:r>
              <a:rPr lang="en-MY" dirty="0"/>
              <a:t>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Facilitate </a:t>
            </a:r>
            <a:r>
              <a:rPr lang="en-MY" b="1" dirty="0"/>
              <a:t>team collaboration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Enable </a:t>
            </a:r>
            <a:r>
              <a:rPr lang="en-MY" b="1" dirty="0"/>
              <a:t>regulatory compliance</a:t>
            </a:r>
            <a:r>
              <a:rPr lang="en-MY" dirty="0"/>
              <a:t> in safety/security-critical projects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346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CF7A6-85F4-B7E8-B81C-D6506403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 Tool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8FE53-4748-25E5-B661-9CBAC01FB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A typical workflow could look like this: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Define requirements in IBM DOORS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Model interactions in Enterprise Architect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Link tests in JIRA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Maintain traceability with </a:t>
            </a:r>
            <a:r>
              <a:rPr lang="en-MY" dirty="0" err="1"/>
              <a:t>Reqtify</a:t>
            </a:r>
            <a:br>
              <a:rPr lang="en-MY" dirty="0"/>
            </a:br>
            <a:r>
              <a:rPr lang="en-MY" dirty="0"/>
              <a:t>This ensures consistency and confidence that all requirements are being fulfilled.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980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B14FA-A30E-F3E4-EC70-D20E3B1AE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Open Research Problems in Requirements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AC011-ED1B-51DC-1461-855C65142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dirty="0"/>
              <a:t>Today’s systems are </a:t>
            </a:r>
            <a:r>
              <a:rPr lang="en-MY" b="1" dirty="0"/>
              <a:t>adaptive</a:t>
            </a:r>
            <a:r>
              <a:rPr lang="en-MY" dirty="0"/>
              <a:t>, </a:t>
            </a:r>
            <a:r>
              <a:rPr lang="en-MY" b="1" dirty="0"/>
              <a:t>intelligent</a:t>
            </a:r>
            <a:r>
              <a:rPr lang="en-MY" dirty="0"/>
              <a:t>, and operate in </a:t>
            </a:r>
            <a:r>
              <a:rPr lang="en-MY" b="1" dirty="0"/>
              <a:t>real-time</a:t>
            </a:r>
            <a:r>
              <a:rPr lang="en-MY" dirty="0"/>
              <a:t> environments. Static requirements documents cannot capture their fluid </a:t>
            </a:r>
            <a:r>
              <a:rPr lang="en-MY" dirty="0" err="1"/>
              <a:t>behavior</a:t>
            </a:r>
            <a:r>
              <a:rPr lang="en-MY" dirty="0"/>
              <a:t>.</a:t>
            </a:r>
            <a:br>
              <a:rPr lang="en-MY" dirty="0"/>
            </a:br>
            <a:endParaRPr lang="en-MY" dirty="0"/>
          </a:p>
          <a:p>
            <a:pPr marL="0" indent="0">
              <a:buNone/>
            </a:pPr>
            <a:r>
              <a:rPr lang="en-MY" dirty="0"/>
              <a:t>This evolution opens up several research problems that scholars and engineers are actively working 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087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6199-FBCC-9733-CB2E-4E2C0D65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Major Open Research 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EC306-C84F-38B3-8027-CFF28BFB0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72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MY" b="1" dirty="0"/>
              <a:t>Dynamic Requirements in Agile</a:t>
            </a:r>
            <a:br>
              <a:rPr lang="en-MY" dirty="0"/>
            </a:br>
            <a:r>
              <a:rPr lang="en-MY" dirty="0"/>
              <a:t>How to trace and validate rapidly evolving requirements?</a:t>
            </a:r>
          </a:p>
          <a:p>
            <a:pPr>
              <a:lnSpc>
                <a:spcPct val="120000"/>
              </a:lnSpc>
            </a:pPr>
            <a:r>
              <a:rPr lang="en-MY" b="1" dirty="0"/>
              <a:t>Ambiguity in Natural Language</a:t>
            </a:r>
            <a:br>
              <a:rPr lang="en-MY" dirty="0"/>
            </a:br>
            <a:r>
              <a:rPr lang="en-MY" dirty="0"/>
              <a:t>Can we auto-detect vague terms like “fast,” “secure,” or “user-friendly”?</a:t>
            </a:r>
          </a:p>
          <a:p>
            <a:pPr>
              <a:lnSpc>
                <a:spcPct val="120000"/>
              </a:lnSpc>
            </a:pPr>
            <a:r>
              <a:rPr lang="en-MY" b="1" dirty="0"/>
              <a:t>AI and Learning Systems</a:t>
            </a:r>
            <a:br>
              <a:rPr lang="en-MY" dirty="0"/>
            </a:br>
            <a:r>
              <a:rPr lang="en-MY" dirty="0"/>
              <a:t>How do we define “correct </a:t>
            </a:r>
            <a:r>
              <a:rPr lang="en-MY" dirty="0" err="1"/>
              <a:t>behavior</a:t>
            </a:r>
            <a:r>
              <a:rPr lang="en-MY" dirty="0"/>
              <a:t>” in systems that evolve?</a:t>
            </a:r>
          </a:p>
          <a:p>
            <a:pPr>
              <a:lnSpc>
                <a:spcPct val="120000"/>
              </a:lnSpc>
            </a:pPr>
            <a:r>
              <a:rPr lang="en-MY" b="1" dirty="0"/>
              <a:t>Ethics and Responsibility</a:t>
            </a:r>
            <a:br>
              <a:rPr lang="en-MY" dirty="0"/>
            </a:br>
            <a:r>
              <a:rPr lang="en-MY" dirty="0"/>
              <a:t>How do we encode social values (e.g., fairness, explainability)?</a:t>
            </a:r>
          </a:p>
          <a:p>
            <a:pPr>
              <a:lnSpc>
                <a:spcPct val="120000"/>
              </a:lnSpc>
            </a:pPr>
            <a:r>
              <a:rPr lang="en-MY" b="1" dirty="0"/>
              <a:t>Automation in Requirements Elicitation</a:t>
            </a:r>
            <a:br>
              <a:rPr lang="en-MY" dirty="0"/>
            </a:br>
            <a:r>
              <a:rPr lang="en-MY" dirty="0"/>
              <a:t>Can AI help extract requirements from user stories, emails, or transcripts?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233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3425-211A-4CEF-674B-6274DD61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Future Directions and Innovations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CF06A-9754-CEC6-A5DE-AD611E6BB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1" dirty="0"/>
              <a:t>NLP</a:t>
            </a:r>
            <a:r>
              <a:rPr lang="en-MY" dirty="0"/>
              <a:t> for automated requirement classification</a:t>
            </a:r>
          </a:p>
          <a:p>
            <a:r>
              <a:rPr lang="en-MY" b="1" dirty="0"/>
              <a:t>Ontologies</a:t>
            </a:r>
            <a:r>
              <a:rPr lang="en-MY" dirty="0"/>
              <a:t> for domain-specific vocabularies</a:t>
            </a:r>
          </a:p>
          <a:p>
            <a:r>
              <a:rPr lang="en-MY" b="1" dirty="0"/>
              <a:t>Crowdsourcing</a:t>
            </a:r>
            <a:r>
              <a:rPr lang="en-MY" dirty="0"/>
              <a:t> to collect public requirements</a:t>
            </a:r>
          </a:p>
          <a:p>
            <a:r>
              <a:rPr lang="en-MY" b="1" dirty="0"/>
              <a:t>Digital Twins</a:t>
            </a:r>
            <a:r>
              <a:rPr lang="en-MY" dirty="0"/>
              <a:t> to simulate and validate requirements in real-time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821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2AF6-B87C-BE5A-63B8-8B1DD976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B25F4-E7DF-C31B-EFD3-52F36F37F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We’ve explored: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How </a:t>
            </a:r>
            <a:r>
              <a:rPr lang="en-MY" b="1" dirty="0"/>
              <a:t>hazard analysis</a:t>
            </a:r>
            <a:r>
              <a:rPr lang="en-MY" dirty="0"/>
              <a:t> supports safety in critical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How </a:t>
            </a:r>
            <a:r>
              <a:rPr lang="en-MY" b="1" dirty="0"/>
              <a:t>threat </a:t>
            </a:r>
            <a:r>
              <a:rPr lang="en-MY" b="1" dirty="0" err="1"/>
              <a:t>modeling</a:t>
            </a:r>
            <a:r>
              <a:rPr lang="en-MY" dirty="0"/>
              <a:t> anticipates malicious attacks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How </a:t>
            </a:r>
            <a:r>
              <a:rPr lang="en-MY" b="1" dirty="0"/>
              <a:t>tools</a:t>
            </a:r>
            <a:r>
              <a:rPr lang="en-MY" dirty="0"/>
              <a:t> make requirement management 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The </a:t>
            </a:r>
            <a:r>
              <a:rPr lang="en-MY" b="1" dirty="0"/>
              <a:t>future</a:t>
            </a:r>
            <a:r>
              <a:rPr lang="en-MY" dirty="0"/>
              <a:t> of requirements engineering in AI, ethics, and automation</a:t>
            </a:r>
          </a:p>
          <a:p>
            <a:pPr marL="0" indent="0">
              <a:buNone/>
            </a:pPr>
            <a:r>
              <a:rPr lang="en-MY" dirty="0"/>
              <a:t>As software continues to shape our world, the way we </a:t>
            </a:r>
            <a:r>
              <a:rPr lang="en-MY" b="1" dirty="0"/>
              <a:t>define, manage, and validate requirements</a:t>
            </a:r>
            <a:r>
              <a:rPr lang="en-MY" dirty="0"/>
              <a:t> must evolve too.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060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1983</Words>
  <Application>Microsoft Macintosh PowerPoint</Application>
  <PresentationFormat>Widescreen</PresentationFormat>
  <Paragraphs>256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EC3290 – Software Requirements Engineering</vt:lpstr>
      <vt:lpstr>Topics:</vt:lpstr>
      <vt:lpstr>Introduction to Advanced Topics</vt:lpstr>
      <vt:lpstr>Hazard Analysis and Safety-Critical System Requirements</vt:lpstr>
      <vt:lpstr>Hazard Analysis?</vt:lpstr>
      <vt:lpstr>Techniques in Hazard Analysis</vt:lpstr>
      <vt:lpstr>Failure Modes and Effects Analysis (FMEA)</vt:lpstr>
      <vt:lpstr>Failure Modes and Effects Analysis (FMEA)</vt:lpstr>
      <vt:lpstr>Fault Tree Analysis (FTA)</vt:lpstr>
      <vt:lpstr>Fault Tree Analysis (FTA)</vt:lpstr>
      <vt:lpstr>Hazard and Operability Study (HAZOP)</vt:lpstr>
      <vt:lpstr>Hazard and Operability Study (HAZOP)</vt:lpstr>
      <vt:lpstr>Comparison of Hazard Analysis Techniques</vt:lpstr>
      <vt:lpstr>From Hazards to Requirements</vt:lpstr>
      <vt:lpstr>Threat Modeling and Security-Critical Requirements</vt:lpstr>
      <vt:lpstr>Threat Modeling</vt:lpstr>
      <vt:lpstr>STRIDE Framework</vt:lpstr>
      <vt:lpstr>S – Spoofing Identity</vt:lpstr>
      <vt:lpstr>T – Tampering with Data</vt:lpstr>
      <vt:lpstr>R – Repudiation</vt:lpstr>
      <vt:lpstr>I – Information Disclosure</vt:lpstr>
      <vt:lpstr>D – Denial of Service (DoS)</vt:lpstr>
      <vt:lpstr>E – Elevation of Privilege</vt:lpstr>
      <vt:lpstr>STRIDE Summary Table</vt:lpstr>
      <vt:lpstr>Security-Critical Requirements Example</vt:lpstr>
      <vt:lpstr>Tool Support for Requirements Engineering</vt:lpstr>
      <vt:lpstr>Categories of Requirements Tools</vt:lpstr>
      <vt:lpstr>Key Benefits of Tools</vt:lpstr>
      <vt:lpstr>Example Tool Workflow</vt:lpstr>
      <vt:lpstr>Open Research Problems in Requirements Engineering</vt:lpstr>
      <vt:lpstr>Major Open Research Problems</vt:lpstr>
      <vt:lpstr>Future Directions and Innovations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Izrulfizal Saufihamizal Bin Ibrahim</dc:creator>
  <cp:lastModifiedBy>Izrulfizal Saufihamizal Bin Ibrahim</cp:lastModifiedBy>
  <cp:revision>141</cp:revision>
  <dcterms:created xsi:type="dcterms:W3CDTF">2024-10-29T01:28:20Z</dcterms:created>
  <dcterms:modified xsi:type="dcterms:W3CDTF">2025-04-25T00:54:27Z</dcterms:modified>
</cp:coreProperties>
</file>