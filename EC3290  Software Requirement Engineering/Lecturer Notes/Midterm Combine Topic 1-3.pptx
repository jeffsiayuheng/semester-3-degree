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86" r:id="rId15"/>
    <p:sldId id="287" r:id="rId16"/>
    <p:sldId id="288" r:id="rId17"/>
    <p:sldId id="289"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5" r:id="rId34"/>
    <p:sldId id="290" r:id="rId35"/>
    <p:sldId id="291" r:id="rId36"/>
    <p:sldId id="292" r:id="rId37"/>
    <p:sldId id="293" r:id="rId38"/>
    <p:sldId id="294" r:id="rId39"/>
    <p:sldId id="295" r:id="rId40"/>
    <p:sldId id="296" r:id="rId41"/>
    <p:sldId id="306" r:id="rId42"/>
    <p:sldId id="307" r:id="rId43"/>
    <p:sldId id="308" r:id="rId44"/>
    <p:sldId id="309" r:id="rId45"/>
    <p:sldId id="297" r:id="rId46"/>
    <p:sldId id="298" r:id="rId47"/>
    <p:sldId id="299" r:id="rId48"/>
    <p:sldId id="300" r:id="rId49"/>
    <p:sldId id="312" r:id="rId50"/>
    <p:sldId id="301" r:id="rId51"/>
    <p:sldId id="302" r:id="rId52"/>
    <p:sldId id="310" r:id="rId53"/>
    <p:sldId id="311" r:id="rId54"/>
    <p:sldId id="303" r:id="rId55"/>
    <p:sldId id="304" r:id="rId56"/>
    <p:sldId id="305"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97"/>
    <p:restoredTop sz="94751"/>
  </p:normalViewPr>
  <p:slideViewPr>
    <p:cSldViewPr snapToGrid="0">
      <p:cViewPr varScale="1">
        <p:scale>
          <a:sx n="107" d="100"/>
          <a:sy n="107" d="100"/>
        </p:scale>
        <p:origin x="96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DA2099-8449-4AD3-BEA7-D82708D4CA4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6BDFA4AE-162B-460F-A8DF-4D5E2510D03C}">
      <dgm:prSet/>
      <dgm:spPr/>
      <dgm:t>
        <a:bodyPr/>
        <a:lstStyle/>
        <a:p>
          <a:r>
            <a:rPr lang="en-US"/>
            <a:t>Planning</a:t>
          </a:r>
        </a:p>
      </dgm:t>
    </dgm:pt>
    <dgm:pt modelId="{666CA28C-7A4E-4094-B8D2-4FD83D2DD2ED}" type="parTrans" cxnId="{655312F5-F9E9-4AD6-A225-F08CED01A589}">
      <dgm:prSet/>
      <dgm:spPr/>
      <dgm:t>
        <a:bodyPr/>
        <a:lstStyle/>
        <a:p>
          <a:endParaRPr lang="en-US"/>
        </a:p>
      </dgm:t>
    </dgm:pt>
    <dgm:pt modelId="{B13E3F7D-DEEA-4E47-B094-5092F27824F2}" type="sibTrans" cxnId="{655312F5-F9E9-4AD6-A225-F08CED01A589}">
      <dgm:prSet/>
      <dgm:spPr/>
      <dgm:t>
        <a:bodyPr/>
        <a:lstStyle/>
        <a:p>
          <a:endParaRPr lang="en-US"/>
        </a:p>
      </dgm:t>
    </dgm:pt>
    <dgm:pt modelId="{3ACC21FA-3738-4A14-B597-51E288FBE4CF}">
      <dgm:prSet/>
      <dgm:spPr/>
      <dgm:t>
        <a:bodyPr/>
        <a:lstStyle/>
        <a:p>
          <a:r>
            <a:rPr lang="en-US"/>
            <a:t>Analysis</a:t>
          </a:r>
        </a:p>
      </dgm:t>
    </dgm:pt>
    <dgm:pt modelId="{048D2827-A995-42C0-B982-808F4C00F11D}" type="parTrans" cxnId="{664DDC0B-E186-4E2C-A27E-8CD5992FD8C3}">
      <dgm:prSet/>
      <dgm:spPr/>
      <dgm:t>
        <a:bodyPr/>
        <a:lstStyle/>
        <a:p>
          <a:endParaRPr lang="en-US"/>
        </a:p>
      </dgm:t>
    </dgm:pt>
    <dgm:pt modelId="{AC0E3B81-3C12-406F-A668-7BAF22B1496A}" type="sibTrans" cxnId="{664DDC0B-E186-4E2C-A27E-8CD5992FD8C3}">
      <dgm:prSet/>
      <dgm:spPr/>
      <dgm:t>
        <a:bodyPr/>
        <a:lstStyle/>
        <a:p>
          <a:endParaRPr lang="en-US"/>
        </a:p>
      </dgm:t>
    </dgm:pt>
    <dgm:pt modelId="{67A939A8-79F5-4217-9E3C-8AD764F970F1}">
      <dgm:prSet/>
      <dgm:spPr/>
      <dgm:t>
        <a:bodyPr/>
        <a:lstStyle/>
        <a:p>
          <a:r>
            <a:rPr lang="en-US"/>
            <a:t>Design</a:t>
          </a:r>
        </a:p>
      </dgm:t>
    </dgm:pt>
    <dgm:pt modelId="{2549C0C7-F7D8-4048-AF91-F9B2C0284283}" type="parTrans" cxnId="{2578A2B9-8199-4FA8-A363-4F3B1CF682CD}">
      <dgm:prSet/>
      <dgm:spPr/>
      <dgm:t>
        <a:bodyPr/>
        <a:lstStyle/>
        <a:p>
          <a:endParaRPr lang="en-US"/>
        </a:p>
      </dgm:t>
    </dgm:pt>
    <dgm:pt modelId="{D869D01C-CB9E-4ED4-8BB5-6701A2592445}" type="sibTrans" cxnId="{2578A2B9-8199-4FA8-A363-4F3B1CF682CD}">
      <dgm:prSet/>
      <dgm:spPr/>
      <dgm:t>
        <a:bodyPr/>
        <a:lstStyle/>
        <a:p>
          <a:endParaRPr lang="en-US"/>
        </a:p>
      </dgm:t>
    </dgm:pt>
    <dgm:pt modelId="{33528EDB-2B83-4491-9EB6-50789227E8A5}">
      <dgm:prSet/>
      <dgm:spPr/>
      <dgm:t>
        <a:bodyPr/>
        <a:lstStyle/>
        <a:p>
          <a:r>
            <a:rPr lang="en-US"/>
            <a:t>Implementation</a:t>
          </a:r>
        </a:p>
      </dgm:t>
    </dgm:pt>
    <dgm:pt modelId="{02CAF2E0-4DA6-4043-95B1-88E516A72E38}" type="parTrans" cxnId="{4605BE55-D341-4EE4-894D-6384D0AE4F1B}">
      <dgm:prSet/>
      <dgm:spPr/>
      <dgm:t>
        <a:bodyPr/>
        <a:lstStyle/>
        <a:p>
          <a:endParaRPr lang="en-US"/>
        </a:p>
      </dgm:t>
    </dgm:pt>
    <dgm:pt modelId="{53D9675D-3523-43A9-85C3-C88F86D0203B}" type="sibTrans" cxnId="{4605BE55-D341-4EE4-894D-6384D0AE4F1B}">
      <dgm:prSet/>
      <dgm:spPr/>
      <dgm:t>
        <a:bodyPr/>
        <a:lstStyle/>
        <a:p>
          <a:endParaRPr lang="en-US"/>
        </a:p>
      </dgm:t>
    </dgm:pt>
    <dgm:pt modelId="{DAE50B6C-71BA-4EBC-84A0-3529B21E95DA}">
      <dgm:prSet/>
      <dgm:spPr/>
      <dgm:t>
        <a:bodyPr/>
        <a:lstStyle/>
        <a:p>
          <a:r>
            <a:rPr lang="en-US"/>
            <a:t>Maintenance</a:t>
          </a:r>
        </a:p>
      </dgm:t>
    </dgm:pt>
    <dgm:pt modelId="{2882E209-6A57-4353-BF87-7EB2F1206793}" type="parTrans" cxnId="{FAE46991-1BB1-47FA-859B-C5E8074708C0}">
      <dgm:prSet/>
      <dgm:spPr/>
      <dgm:t>
        <a:bodyPr/>
        <a:lstStyle/>
        <a:p>
          <a:endParaRPr lang="en-US"/>
        </a:p>
      </dgm:t>
    </dgm:pt>
    <dgm:pt modelId="{861EFDC8-3AEF-4112-B092-2CCB28CF4F46}" type="sibTrans" cxnId="{FAE46991-1BB1-47FA-859B-C5E8074708C0}">
      <dgm:prSet/>
      <dgm:spPr/>
      <dgm:t>
        <a:bodyPr/>
        <a:lstStyle/>
        <a:p>
          <a:endParaRPr lang="en-US"/>
        </a:p>
      </dgm:t>
    </dgm:pt>
    <dgm:pt modelId="{166F10A2-F431-477B-8CC8-7D61C462984D}" type="pres">
      <dgm:prSet presAssocID="{D3DA2099-8449-4AD3-BEA7-D82708D4CA40}" presName="root" presStyleCnt="0">
        <dgm:presLayoutVars>
          <dgm:dir/>
          <dgm:resizeHandles val="exact"/>
        </dgm:presLayoutVars>
      </dgm:prSet>
      <dgm:spPr/>
    </dgm:pt>
    <dgm:pt modelId="{0F82DFB9-FECE-4C0B-9EF0-AD53741E2891}" type="pres">
      <dgm:prSet presAssocID="{6BDFA4AE-162B-460F-A8DF-4D5E2510D03C}" presName="compNode" presStyleCnt="0"/>
      <dgm:spPr/>
    </dgm:pt>
    <dgm:pt modelId="{12B703B3-6E0D-44F4-8B47-B0BCDC5D1E04}" type="pres">
      <dgm:prSet presAssocID="{6BDFA4AE-162B-460F-A8DF-4D5E2510D03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List"/>
        </a:ext>
      </dgm:extLst>
    </dgm:pt>
    <dgm:pt modelId="{69E97745-959B-4ED4-9720-AA57FE823BD4}" type="pres">
      <dgm:prSet presAssocID="{6BDFA4AE-162B-460F-A8DF-4D5E2510D03C}" presName="spaceRect" presStyleCnt="0"/>
      <dgm:spPr/>
    </dgm:pt>
    <dgm:pt modelId="{73A0EC88-01B2-4E03-834A-28839AD6BB18}" type="pres">
      <dgm:prSet presAssocID="{6BDFA4AE-162B-460F-A8DF-4D5E2510D03C}" presName="textRect" presStyleLbl="revTx" presStyleIdx="0" presStyleCnt="5">
        <dgm:presLayoutVars>
          <dgm:chMax val="1"/>
          <dgm:chPref val="1"/>
        </dgm:presLayoutVars>
      </dgm:prSet>
      <dgm:spPr/>
    </dgm:pt>
    <dgm:pt modelId="{958F257D-7C8A-41E7-B89A-846246A5A37D}" type="pres">
      <dgm:prSet presAssocID="{B13E3F7D-DEEA-4E47-B094-5092F27824F2}" presName="sibTrans" presStyleCnt="0"/>
      <dgm:spPr/>
    </dgm:pt>
    <dgm:pt modelId="{DEB29C93-ED66-4491-91C0-E3AF3947EF21}" type="pres">
      <dgm:prSet presAssocID="{3ACC21FA-3738-4A14-B597-51E288FBE4CF}" presName="compNode" presStyleCnt="0"/>
      <dgm:spPr/>
    </dgm:pt>
    <dgm:pt modelId="{380623C7-1CB7-4D6C-82A7-17254D469C57}" type="pres">
      <dgm:prSet presAssocID="{3ACC21FA-3738-4A14-B597-51E288FBE4C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507B7C34-EF5C-4A01-B150-2E474D489A6F}" type="pres">
      <dgm:prSet presAssocID="{3ACC21FA-3738-4A14-B597-51E288FBE4CF}" presName="spaceRect" presStyleCnt="0"/>
      <dgm:spPr/>
    </dgm:pt>
    <dgm:pt modelId="{122158E7-0EA2-4D49-9273-25C7AC366673}" type="pres">
      <dgm:prSet presAssocID="{3ACC21FA-3738-4A14-B597-51E288FBE4CF}" presName="textRect" presStyleLbl="revTx" presStyleIdx="1" presStyleCnt="5">
        <dgm:presLayoutVars>
          <dgm:chMax val="1"/>
          <dgm:chPref val="1"/>
        </dgm:presLayoutVars>
      </dgm:prSet>
      <dgm:spPr/>
    </dgm:pt>
    <dgm:pt modelId="{3E399C7E-F358-4C7E-A5BD-CD13C4E48DF0}" type="pres">
      <dgm:prSet presAssocID="{AC0E3B81-3C12-406F-A668-7BAF22B1496A}" presName="sibTrans" presStyleCnt="0"/>
      <dgm:spPr/>
    </dgm:pt>
    <dgm:pt modelId="{D009F534-32EC-4CB6-89F6-9A139E231013}" type="pres">
      <dgm:prSet presAssocID="{67A939A8-79F5-4217-9E3C-8AD764F970F1}" presName="compNode" presStyleCnt="0"/>
      <dgm:spPr/>
    </dgm:pt>
    <dgm:pt modelId="{F4FEF552-7916-44FE-996B-021905A3D3C2}" type="pres">
      <dgm:prSet presAssocID="{67A939A8-79F5-4217-9E3C-8AD764F970F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C93FDF09-64F1-4DD2-B1F2-0681683C6E27}" type="pres">
      <dgm:prSet presAssocID="{67A939A8-79F5-4217-9E3C-8AD764F970F1}" presName="spaceRect" presStyleCnt="0"/>
      <dgm:spPr/>
    </dgm:pt>
    <dgm:pt modelId="{743A2D2F-B2F1-48FF-96FD-0AFA4696918C}" type="pres">
      <dgm:prSet presAssocID="{67A939A8-79F5-4217-9E3C-8AD764F970F1}" presName="textRect" presStyleLbl="revTx" presStyleIdx="2" presStyleCnt="5">
        <dgm:presLayoutVars>
          <dgm:chMax val="1"/>
          <dgm:chPref val="1"/>
        </dgm:presLayoutVars>
      </dgm:prSet>
      <dgm:spPr/>
    </dgm:pt>
    <dgm:pt modelId="{37F3DE17-29E6-4DD9-A27C-52FF51F37969}" type="pres">
      <dgm:prSet presAssocID="{D869D01C-CB9E-4ED4-8BB5-6701A2592445}" presName="sibTrans" presStyleCnt="0"/>
      <dgm:spPr/>
    </dgm:pt>
    <dgm:pt modelId="{FE6E95D9-7176-44F5-933C-127439BDC2CF}" type="pres">
      <dgm:prSet presAssocID="{33528EDB-2B83-4491-9EB6-50789227E8A5}" presName="compNode" presStyleCnt="0"/>
      <dgm:spPr/>
    </dgm:pt>
    <dgm:pt modelId="{38D57283-188B-42EF-A979-9615DDAEE3EB}" type="pres">
      <dgm:prSet presAssocID="{33528EDB-2B83-4491-9EB6-50789227E8A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rrow Circle"/>
        </a:ext>
      </dgm:extLst>
    </dgm:pt>
    <dgm:pt modelId="{B7BE34E4-1E54-4AD3-B112-C426C3BE9C7F}" type="pres">
      <dgm:prSet presAssocID="{33528EDB-2B83-4491-9EB6-50789227E8A5}" presName="spaceRect" presStyleCnt="0"/>
      <dgm:spPr/>
    </dgm:pt>
    <dgm:pt modelId="{F5F9589C-5D96-4A6C-B264-2BD3BA0EFB23}" type="pres">
      <dgm:prSet presAssocID="{33528EDB-2B83-4491-9EB6-50789227E8A5}" presName="textRect" presStyleLbl="revTx" presStyleIdx="3" presStyleCnt="5">
        <dgm:presLayoutVars>
          <dgm:chMax val="1"/>
          <dgm:chPref val="1"/>
        </dgm:presLayoutVars>
      </dgm:prSet>
      <dgm:spPr/>
    </dgm:pt>
    <dgm:pt modelId="{92D4AADE-9C1E-4FA4-9EC8-D47395DA4635}" type="pres">
      <dgm:prSet presAssocID="{53D9675D-3523-43A9-85C3-C88F86D0203B}" presName="sibTrans" presStyleCnt="0"/>
      <dgm:spPr/>
    </dgm:pt>
    <dgm:pt modelId="{5D0B2256-DF97-46CA-8B1C-9563BC84FD1B}" type="pres">
      <dgm:prSet presAssocID="{DAE50B6C-71BA-4EBC-84A0-3529B21E95DA}" presName="compNode" presStyleCnt="0"/>
      <dgm:spPr/>
    </dgm:pt>
    <dgm:pt modelId="{C7A5C679-B071-475D-8E89-76A7EBE637A4}" type="pres">
      <dgm:prSet presAssocID="{DAE50B6C-71BA-4EBC-84A0-3529B21E95D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crewdriver"/>
        </a:ext>
      </dgm:extLst>
    </dgm:pt>
    <dgm:pt modelId="{2D741BD3-BAAC-4233-8B94-6BCDE9B577BD}" type="pres">
      <dgm:prSet presAssocID="{DAE50B6C-71BA-4EBC-84A0-3529B21E95DA}" presName="spaceRect" presStyleCnt="0"/>
      <dgm:spPr/>
    </dgm:pt>
    <dgm:pt modelId="{89C76B26-9D34-46BD-8449-601DE1ED50E5}" type="pres">
      <dgm:prSet presAssocID="{DAE50B6C-71BA-4EBC-84A0-3529B21E95DA}" presName="textRect" presStyleLbl="revTx" presStyleIdx="4" presStyleCnt="5">
        <dgm:presLayoutVars>
          <dgm:chMax val="1"/>
          <dgm:chPref val="1"/>
        </dgm:presLayoutVars>
      </dgm:prSet>
      <dgm:spPr/>
    </dgm:pt>
  </dgm:ptLst>
  <dgm:cxnLst>
    <dgm:cxn modelId="{664DDC0B-E186-4E2C-A27E-8CD5992FD8C3}" srcId="{D3DA2099-8449-4AD3-BEA7-D82708D4CA40}" destId="{3ACC21FA-3738-4A14-B597-51E288FBE4CF}" srcOrd="1" destOrd="0" parTransId="{048D2827-A995-42C0-B982-808F4C00F11D}" sibTransId="{AC0E3B81-3C12-406F-A668-7BAF22B1496A}"/>
    <dgm:cxn modelId="{81DCC62A-A64D-4F52-9C98-5FF2D59DD1EA}" type="presOf" srcId="{DAE50B6C-71BA-4EBC-84A0-3529B21E95DA}" destId="{89C76B26-9D34-46BD-8449-601DE1ED50E5}" srcOrd="0" destOrd="0" presId="urn:microsoft.com/office/officeart/2018/2/layout/IconLabelList"/>
    <dgm:cxn modelId="{4605BE55-D341-4EE4-894D-6384D0AE4F1B}" srcId="{D3DA2099-8449-4AD3-BEA7-D82708D4CA40}" destId="{33528EDB-2B83-4491-9EB6-50789227E8A5}" srcOrd="3" destOrd="0" parTransId="{02CAF2E0-4DA6-4043-95B1-88E516A72E38}" sibTransId="{53D9675D-3523-43A9-85C3-C88F86D0203B}"/>
    <dgm:cxn modelId="{13DF6182-AED7-436D-96E6-BB84422E459C}" type="presOf" srcId="{D3DA2099-8449-4AD3-BEA7-D82708D4CA40}" destId="{166F10A2-F431-477B-8CC8-7D61C462984D}" srcOrd="0" destOrd="0" presId="urn:microsoft.com/office/officeart/2018/2/layout/IconLabelList"/>
    <dgm:cxn modelId="{FAE46991-1BB1-47FA-859B-C5E8074708C0}" srcId="{D3DA2099-8449-4AD3-BEA7-D82708D4CA40}" destId="{DAE50B6C-71BA-4EBC-84A0-3529B21E95DA}" srcOrd="4" destOrd="0" parTransId="{2882E209-6A57-4353-BF87-7EB2F1206793}" sibTransId="{861EFDC8-3AEF-4112-B092-2CCB28CF4F46}"/>
    <dgm:cxn modelId="{A598F2A3-F331-4D72-ABBB-1F1D5C19377C}" type="presOf" srcId="{67A939A8-79F5-4217-9E3C-8AD764F970F1}" destId="{743A2D2F-B2F1-48FF-96FD-0AFA4696918C}" srcOrd="0" destOrd="0" presId="urn:microsoft.com/office/officeart/2018/2/layout/IconLabelList"/>
    <dgm:cxn modelId="{E60266AF-120C-461B-B2EE-C44E805DAFF8}" type="presOf" srcId="{6BDFA4AE-162B-460F-A8DF-4D5E2510D03C}" destId="{73A0EC88-01B2-4E03-834A-28839AD6BB18}" srcOrd="0" destOrd="0" presId="urn:microsoft.com/office/officeart/2018/2/layout/IconLabelList"/>
    <dgm:cxn modelId="{2578A2B9-8199-4FA8-A363-4F3B1CF682CD}" srcId="{D3DA2099-8449-4AD3-BEA7-D82708D4CA40}" destId="{67A939A8-79F5-4217-9E3C-8AD764F970F1}" srcOrd="2" destOrd="0" parTransId="{2549C0C7-F7D8-4048-AF91-F9B2C0284283}" sibTransId="{D869D01C-CB9E-4ED4-8BB5-6701A2592445}"/>
    <dgm:cxn modelId="{C10B56D7-8FBD-4781-98E2-1B2A50F475C0}" type="presOf" srcId="{3ACC21FA-3738-4A14-B597-51E288FBE4CF}" destId="{122158E7-0EA2-4D49-9273-25C7AC366673}" srcOrd="0" destOrd="0" presId="urn:microsoft.com/office/officeart/2018/2/layout/IconLabelList"/>
    <dgm:cxn modelId="{59D499E0-2130-4E17-86E3-0D0A3F82C7FC}" type="presOf" srcId="{33528EDB-2B83-4491-9EB6-50789227E8A5}" destId="{F5F9589C-5D96-4A6C-B264-2BD3BA0EFB23}" srcOrd="0" destOrd="0" presId="urn:microsoft.com/office/officeart/2018/2/layout/IconLabelList"/>
    <dgm:cxn modelId="{655312F5-F9E9-4AD6-A225-F08CED01A589}" srcId="{D3DA2099-8449-4AD3-BEA7-D82708D4CA40}" destId="{6BDFA4AE-162B-460F-A8DF-4D5E2510D03C}" srcOrd="0" destOrd="0" parTransId="{666CA28C-7A4E-4094-B8D2-4FD83D2DD2ED}" sibTransId="{B13E3F7D-DEEA-4E47-B094-5092F27824F2}"/>
    <dgm:cxn modelId="{5450C027-D2F2-443A-8D11-11142F42628A}" type="presParOf" srcId="{166F10A2-F431-477B-8CC8-7D61C462984D}" destId="{0F82DFB9-FECE-4C0B-9EF0-AD53741E2891}" srcOrd="0" destOrd="0" presId="urn:microsoft.com/office/officeart/2018/2/layout/IconLabelList"/>
    <dgm:cxn modelId="{21AAA9C1-6721-43F2-9327-96D95A23984F}" type="presParOf" srcId="{0F82DFB9-FECE-4C0B-9EF0-AD53741E2891}" destId="{12B703B3-6E0D-44F4-8B47-B0BCDC5D1E04}" srcOrd="0" destOrd="0" presId="urn:microsoft.com/office/officeart/2018/2/layout/IconLabelList"/>
    <dgm:cxn modelId="{75E8FFA8-A788-4CED-8114-66C4A40E6FAF}" type="presParOf" srcId="{0F82DFB9-FECE-4C0B-9EF0-AD53741E2891}" destId="{69E97745-959B-4ED4-9720-AA57FE823BD4}" srcOrd="1" destOrd="0" presId="urn:microsoft.com/office/officeart/2018/2/layout/IconLabelList"/>
    <dgm:cxn modelId="{9034E26B-9915-443B-AE41-99B2F4E1A414}" type="presParOf" srcId="{0F82DFB9-FECE-4C0B-9EF0-AD53741E2891}" destId="{73A0EC88-01B2-4E03-834A-28839AD6BB18}" srcOrd="2" destOrd="0" presId="urn:microsoft.com/office/officeart/2018/2/layout/IconLabelList"/>
    <dgm:cxn modelId="{F2895199-6A5B-485A-AFC6-62FF6B10982C}" type="presParOf" srcId="{166F10A2-F431-477B-8CC8-7D61C462984D}" destId="{958F257D-7C8A-41E7-B89A-846246A5A37D}" srcOrd="1" destOrd="0" presId="urn:microsoft.com/office/officeart/2018/2/layout/IconLabelList"/>
    <dgm:cxn modelId="{69D1E554-D099-4538-9BA1-8BC34882B0D3}" type="presParOf" srcId="{166F10A2-F431-477B-8CC8-7D61C462984D}" destId="{DEB29C93-ED66-4491-91C0-E3AF3947EF21}" srcOrd="2" destOrd="0" presId="urn:microsoft.com/office/officeart/2018/2/layout/IconLabelList"/>
    <dgm:cxn modelId="{3B9074F9-650F-49D6-9712-538C541C73B1}" type="presParOf" srcId="{DEB29C93-ED66-4491-91C0-E3AF3947EF21}" destId="{380623C7-1CB7-4D6C-82A7-17254D469C57}" srcOrd="0" destOrd="0" presId="urn:microsoft.com/office/officeart/2018/2/layout/IconLabelList"/>
    <dgm:cxn modelId="{60AA5657-0DA4-4611-9D82-8303A44FC953}" type="presParOf" srcId="{DEB29C93-ED66-4491-91C0-E3AF3947EF21}" destId="{507B7C34-EF5C-4A01-B150-2E474D489A6F}" srcOrd="1" destOrd="0" presId="urn:microsoft.com/office/officeart/2018/2/layout/IconLabelList"/>
    <dgm:cxn modelId="{1F631915-8538-4EC5-BD04-1A6E81C5C351}" type="presParOf" srcId="{DEB29C93-ED66-4491-91C0-E3AF3947EF21}" destId="{122158E7-0EA2-4D49-9273-25C7AC366673}" srcOrd="2" destOrd="0" presId="urn:microsoft.com/office/officeart/2018/2/layout/IconLabelList"/>
    <dgm:cxn modelId="{90D95FA9-6CF3-49B1-8042-E1694C5B26E9}" type="presParOf" srcId="{166F10A2-F431-477B-8CC8-7D61C462984D}" destId="{3E399C7E-F358-4C7E-A5BD-CD13C4E48DF0}" srcOrd="3" destOrd="0" presId="urn:microsoft.com/office/officeart/2018/2/layout/IconLabelList"/>
    <dgm:cxn modelId="{202E487E-81BF-4173-8736-3A4EC4B96E25}" type="presParOf" srcId="{166F10A2-F431-477B-8CC8-7D61C462984D}" destId="{D009F534-32EC-4CB6-89F6-9A139E231013}" srcOrd="4" destOrd="0" presId="urn:microsoft.com/office/officeart/2018/2/layout/IconLabelList"/>
    <dgm:cxn modelId="{1AB64AF1-CABB-4CE4-868B-348EB14946B6}" type="presParOf" srcId="{D009F534-32EC-4CB6-89F6-9A139E231013}" destId="{F4FEF552-7916-44FE-996B-021905A3D3C2}" srcOrd="0" destOrd="0" presId="urn:microsoft.com/office/officeart/2018/2/layout/IconLabelList"/>
    <dgm:cxn modelId="{68F00E3F-A042-4775-8153-33288B61DC31}" type="presParOf" srcId="{D009F534-32EC-4CB6-89F6-9A139E231013}" destId="{C93FDF09-64F1-4DD2-B1F2-0681683C6E27}" srcOrd="1" destOrd="0" presId="urn:microsoft.com/office/officeart/2018/2/layout/IconLabelList"/>
    <dgm:cxn modelId="{1EF59FBC-B6C0-44A7-BC2C-7BC67DFAA478}" type="presParOf" srcId="{D009F534-32EC-4CB6-89F6-9A139E231013}" destId="{743A2D2F-B2F1-48FF-96FD-0AFA4696918C}" srcOrd="2" destOrd="0" presId="urn:microsoft.com/office/officeart/2018/2/layout/IconLabelList"/>
    <dgm:cxn modelId="{84DBD77C-6672-47EE-A917-63A77DEC356D}" type="presParOf" srcId="{166F10A2-F431-477B-8CC8-7D61C462984D}" destId="{37F3DE17-29E6-4DD9-A27C-52FF51F37969}" srcOrd="5" destOrd="0" presId="urn:microsoft.com/office/officeart/2018/2/layout/IconLabelList"/>
    <dgm:cxn modelId="{D5AD4139-E096-4FB0-921C-A28BF8932CA4}" type="presParOf" srcId="{166F10A2-F431-477B-8CC8-7D61C462984D}" destId="{FE6E95D9-7176-44F5-933C-127439BDC2CF}" srcOrd="6" destOrd="0" presId="urn:microsoft.com/office/officeart/2018/2/layout/IconLabelList"/>
    <dgm:cxn modelId="{26AF0B24-D523-40D2-A4F2-79D9EB9467F0}" type="presParOf" srcId="{FE6E95D9-7176-44F5-933C-127439BDC2CF}" destId="{38D57283-188B-42EF-A979-9615DDAEE3EB}" srcOrd="0" destOrd="0" presId="urn:microsoft.com/office/officeart/2018/2/layout/IconLabelList"/>
    <dgm:cxn modelId="{049A2BCD-35DC-4E34-BB43-643A0D34624B}" type="presParOf" srcId="{FE6E95D9-7176-44F5-933C-127439BDC2CF}" destId="{B7BE34E4-1E54-4AD3-B112-C426C3BE9C7F}" srcOrd="1" destOrd="0" presId="urn:microsoft.com/office/officeart/2018/2/layout/IconLabelList"/>
    <dgm:cxn modelId="{AFFF18AD-E47C-455C-BB4A-AD5031CEAD7A}" type="presParOf" srcId="{FE6E95D9-7176-44F5-933C-127439BDC2CF}" destId="{F5F9589C-5D96-4A6C-B264-2BD3BA0EFB23}" srcOrd="2" destOrd="0" presId="urn:microsoft.com/office/officeart/2018/2/layout/IconLabelList"/>
    <dgm:cxn modelId="{C43C8314-0478-4341-8F35-B44752CE03F4}" type="presParOf" srcId="{166F10A2-F431-477B-8CC8-7D61C462984D}" destId="{92D4AADE-9C1E-4FA4-9EC8-D47395DA4635}" srcOrd="7" destOrd="0" presId="urn:microsoft.com/office/officeart/2018/2/layout/IconLabelList"/>
    <dgm:cxn modelId="{5E9D5C26-910D-410B-B021-A451322E870E}" type="presParOf" srcId="{166F10A2-F431-477B-8CC8-7D61C462984D}" destId="{5D0B2256-DF97-46CA-8B1C-9563BC84FD1B}" srcOrd="8" destOrd="0" presId="urn:microsoft.com/office/officeart/2018/2/layout/IconLabelList"/>
    <dgm:cxn modelId="{B47A12A6-E557-4A55-8920-ECD8BF2919DA}" type="presParOf" srcId="{5D0B2256-DF97-46CA-8B1C-9563BC84FD1B}" destId="{C7A5C679-B071-475D-8E89-76A7EBE637A4}" srcOrd="0" destOrd="0" presId="urn:microsoft.com/office/officeart/2018/2/layout/IconLabelList"/>
    <dgm:cxn modelId="{31AA2868-41CB-483B-8C76-D77B38EC30C9}" type="presParOf" srcId="{5D0B2256-DF97-46CA-8B1C-9563BC84FD1B}" destId="{2D741BD3-BAAC-4233-8B94-6BCDE9B577BD}" srcOrd="1" destOrd="0" presId="urn:microsoft.com/office/officeart/2018/2/layout/IconLabelList"/>
    <dgm:cxn modelId="{845A4002-8BF9-43A1-A741-5F4C74BBC796}" type="presParOf" srcId="{5D0B2256-DF97-46CA-8B1C-9563BC84FD1B}" destId="{89C76B26-9D34-46BD-8449-601DE1ED50E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7993F8-C068-4B6F-BD12-AD08172B307A}"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0F8F4DF5-8B63-4D18-950C-FF8D81E8AC68}">
      <dgm:prSet/>
      <dgm:spPr/>
      <dgm:t>
        <a:bodyPr/>
        <a:lstStyle/>
        <a:p>
          <a:pPr>
            <a:defRPr cap="all"/>
          </a:pPr>
          <a:r>
            <a:rPr lang="en-MY"/>
            <a:t>Define interview objectives</a:t>
          </a:r>
          <a:endParaRPr lang="en-US"/>
        </a:p>
      </dgm:t>
    </dgm:pt>
    <dgm:pt modelId="{9017D8B1-A347-4A31-B0C5-4BFC18625C48}" type="parTrans" cxnId="{8A4326BA-4CAD-4685-B8E0-29C43FB9C663}">
      <dgm:prSet/>
      <dgm:spPr/>
      <dgm:t>
        <a:bodyPr/>
        <a:lstStyle/>
        <a:p>
          <a:endParaRPr lang="en-US"/>
        </a:p>
      </dgm:t>
    </dgm:pt>
    <dgm:pt modelId="{C6775CA0-D88D-4324-B76D-15C939693A52}" type="sibTrans" cxnId="{8A4326BA-4CAD-4685-B8E0-29C43FB9C663}">
      <dgm:prSet/>
      <dgm:spPr/>
      <dgm:t>
        <a:bodyPr/>
        <a:lstStyle/>
        <a:p>
          <a:endParaRPr lang="en-US"/>
        </a:p>
      </dgm:t>
    </dgm:pt>
    <dgm:pt modelId="{5EFCA2F4-8F89-4E3C-868C-4A7A4245A110}">
      <dgm:prSet/>
      <dgm:spPr/>
      <dgm:t>
        <a:bodyPr/>
        <a:lstStyle/>
        <a:p>
          <a:pPr>
            <a:defRPr cap="all"/>
          </a:pPr>
          <a:r>
            <a:rPr lang="en-MY"/>
            <a:t>Identify interviewees</a:t>
          </a:r>
          <a:endParaRPr lang="en-US"/>
        </a:p>
      </dgm:t>
    </dgm:pt>
    <dgm:pt modelId="{8F086A0D-27A3-4700-A599-3B60B977D942}" type="parTrans" cxnId="{ADA0ABBF-F498-4126-86BB-D2006511D1BF}">
      <dgm:prSet/>
      <dgm:spPr/>
      <dgm:t>
        <a:bodyPr/>
        <a:lstStyle/>
        <a:p>
          <a:endParaRPr lang="en-US"/>
        </a:p>
      </dgm:t>
    </dgm:pt>
    <dgm:pt modelId="{DFA44D43-C81E-4D36-8492-B113B2ACD293}" type="sibTrans" cxnId="{ADA0ABBF-F498-4126-86BB-D2006511D1BF}">
      <dgm:prSet/>
      <dgm:spPr/>
      <dgm:t>
        <a:bodyPr/>
        <a:lstStyle/>
        <a:p>
          <a:endParaRPr lang="en-US"/>
        </a:p>
      </dgm:t>
    </dgm:pt>
    <dgm:pt modelId="{1BC67D21-DAC6-4737-B8F6-360C8CF3409F}">
      <dgm:prSet/>
      <dgm:spPr/>
      <dgm:t>
        <a:bodyPr/>
        <a:lstStyle/>
        <a:p>
          <a:pPr>
            <a:defRPr cap="all"/>
          </a:pPr>
          <a:r>
            <a:rPr lang="en-MY"/>
            <a:t>Prepare questions to cover key areas of inquiry.</a:t>
          </a:r>
          <a:endParaRPr lang="en-US" dirty="0"/>
        </a:p>
      </dgm:t>
    </dgm:pt>
    <dgm:pt modelId="{37B435B7-75B2-4947-90FA-AF3A171C64E9}" type="parTrans" cxnId="{E34821A1-C40A-4A04-BF1F-83BE1CF0787B}">
      <dgm:prSet/>
      <dgm:spPr/>
      <dgm:t>
        <a:bodyPr/>
        <a:lstStyle/>
        <a:p>
          <a:endParaRPr lang="en-US"/>
        </a:p>
      </dgm:t>
    </dgm:pt>
    <dgm:pt modelId="{CAE6EF25-E6BB-48B8-BB23-09AF3F83F98C}" type="sibTrans" cxnId="{E34821A1-C40A-4A04-BF1F-83BE1CF0787B}">
      <dgm:prSet/>
      <dgm:spPr/>
      <dgm:t>
        <a:bodyPr/>
        <a:lstStyle/>
        <a:p>
          <a:endParaRPr lang="en-US"/>
        </a:p>
      </dgm:t>
    </dgm:pt>
    <dgm:pt modelId="{CDEDE202-3CAB-4E72-88F8-442F53B416B5}" type="pres">
      <dgm:prSet presAssocID="{717993F8-C068-4B6F-BD12-AD08172B307A}" presName="root" presStyleCnt="0">
        <dgm:presLayoutVars>
          <dgm:dir/>
          <dgm:resizeHandles val="exact"/>
        </dgm:presLayoutVars>
      </dgm:prSet>
      <dgm:spPr/>
    </dgm:pt>
    <dgm:pt modelId="{EC8D208A-4426-426B-8DAE-3F49905756D6}" type="pres">
      <dgm:prSet presAssocID="{0F8F4DF5-8B63-4D18-950C-FF8D81E8AC68}" presName="compNode" presStyleCnt="0"/>
      <dgm:spPr/>
    </dgm:pt>
    <dgm:pt modelId="{FBA181CB-3B81-4BB3-87D1-74E656697F7A}" type="pres">
      <dgm:prSet presAssocID="{0F8F4DF5-8B63-4D18-950C-FF8D81E8AC68}" presName="iconBgRect" presStyleLbl="bgShp" presStyleIdx="0" presStyleCnt="3"/>
      <dgm:spPr/>
    </dgm:pt>
    <dgm:pt modelId="{2FEF6A28-37D2-4933-8370-DF41164FBE58}" type="pres">
      <dgm:prSet presAssocID="{0F8F4DF5-8B63-4D18-950C-FF8D81E8AC6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List"/>
        </a:ext>
      </dgm:extLst>
    </dgm:pt>
    <dgm:pt modelId="{7DADD5D5-69CC-4311-A8F3-58E4AA24DEB5}" type="pres">
      <dgm:prSet presAssocID="{0F8F4DF5-8B63-4D18-950C-FF8D81E8AC68}" presName="spaceRect" presStyleCnt="0"/>
      <dgm:spPr/>
    </dgm:pt>
    <dgm:pt modelId="{45FE785C-F2F4-41A0-B392-4BC62ABE63C0}" type="pres">
      <dgm:prSet presAssocID="{0F8F4DF5-8B63-4D18-950C-FF8D81E8AC68}" presName="textRect" presStyleLbl="revTx" presStyleIdx="0" presStyleCnt="3">
        <dgm:presLayoutVars>
          <dgm:chMax val="1"/>
          <dgm:chPref val="1"/>
        </dgm:presLayoutVars>
      </dgm:prSet>
      <dgm:spPr/>
    </dgm:pt>
    <dgm:pt modelId="{5C2CAC2C-045F-4774-8FCF-F21D6E62E88C}" type="pres">
      <dgm:prSet presAssocID="{C6775CA0-D88D-4324-B76D-15C939693A52}" presName="sibTrans" presStyleCnt="0"/>
      <dgm:spPr/>
    </dgm:pt>
    <dgm:pt modelId="{04D7F23E-07E8-4DB4-8BDA-30FD0D7D464C}" type="pres">
      <dgm:prSet presAssocID="{5EFCA2F4-8F89-4E3C-868C-4A7A4245A110}" presName="compNode" presStyleCnt="0"/>
      <dgm:spPr/>
    </dgm:pt>
    <dgm:pt modelId="{BB692D75-0A5C-4088-957F-6D28D8EF5A1D}" type="pres">
      <dgm:prSet presAssocID="{5EFCA2F4-8F89-4E3C-868C-4A7A4245A110}" presName="iconBgRect" presStyleLbl="bgShp" presStyleIdx="1" presStyleCnt="3"/>
      <dgm:spPr/>
    </dgm:pt>
    <dgm:pt modelId="{5EABAC90-1CF4-4BFF-A751-E6EA5D692E5A}" type="pres">
      <dgm:prSet presAssocID="{5EFCA2F4-8F89-4E3C-868C-4A7A4245A11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24CE40BC-D3E6-47F6-8EEB-59902C3A4A70}" type="pres">
      <dgm:prSet presAssocID="{5EFCA2F4-8F89-4E3C-868C-4A7A4245A110}" presName="spaceRect" presStyleCnt="0"/>
      <dgm:spPr/>
    </dgm:pt>
    <dgm:pt modelId="{6DDD1211-120A-4F29-920A-5871DF06A5E9}" type="pres">
      <dgm:prSet presAssocID="{5EFCA2F4-8F89-4E3C-868C-4A7A4245A110}" presName="textRect" presStyleLbl="revTx" presStyleIdx="1" presStyleCnt="3">
        <dgm:presLayoutVars>
          <dgm:chMax val="1"/>
          <dgm:chPref val="1"/>
        </dgm:presLayoutVars>
      </dgm:prSet>
      <dgm:spPr/>
    </dgm:pt>
    <dgm:pt modelId="{688301AF-003F-4BF5-B6B4-D845BB466B6D}" type="pres">
      <dgm:prSet presAssocID="{DFA44D43-C81E-4D36-8492-B113B2ACD293}" presName="sibTrans" presStyleCnt="0"/>
      <dgm:spPr/>
    </dgm:pt>
    <dgm:pt modelId="{35643B44-63C5-4CD0-8157-9A96540B8D41}" type="pres">
      <dgm:prSet presAssocID="{1BC67D21-DAC6-4737-B8F6-360C8CF3409F}" presName="compNode" presStyleCnt="0"/>
      <dgm:spPr/>
    </dgm:pt>
    <dgm:pt modelId="{9C7FCBAD-CF09-4077-880C-70024609B713}" type="pres">
      <dgm:prSet presAssocID="{1BC67D21-DAC6-4737-B8F6-360C8CF3409F}" presName="iconBgRect" presStyleLbl="bgShp" presStyleIdx="2" presStyleCnt="3"/>
      <dgm:spPr/>
    </dgm:pt>
    <dgm:pt modelId="{11E206F2-AC73-49C2-8E9F-500234751330}" type="pres">
      <dgm:prSet presAssocID="{1BC67D21-DAC6-4737-B8F6-360C8CF3409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lp"/>
        </a:ext>
      </dgm:extLst>
    </dgm:pt>
    <dgm:pt modelId="{E30B93CE-D00C-4E7C-9B66-19691A8E1ED0}" type="pres">
      <dgm:prSet presAssocID="{1BC67D21-DAC6-4737-B8F6-360C8CF3409F}" presName="spaceRect" presStyleCnt="0"/>
      <dgm:spPr/>
    </dgm:pt>
    <dgm:pt modelId="{7BE5FA1F-9880-4674-A900-EF8B5034F806}" type="pres">
      <dgm:prSet presAssocID="{1BC67D21-DAC6-4737-B8F6-360C8CF3409F}" presName="textRect" presStyleLbl="revTx" presStyleIdx="2" presStyleCnt="3">
        <dgm:presLayoutVars>
          <dgm:chMax val="1"/>
          <dgm:chPref val="1"/>
        </dgm:presLayoutVars>
      </dgm:prSet>
      <dgm:spPr/>
    </dgm:pt>
  </dgm:ptLst>
  <dgm:cxnLst>
    <dgm:cxn modelId="{CBC9B457-7633-40F0-8EDE-EB0E7EDBD498}" type="presOf" srcId="{5EFCA2F4-8F89-4E3C-868C-4A7A4245A110}" destId="{6DDD1211-120A-4F29-920A-5871DF06A5E9}" srcOrd="0" destOrd="0" presId="urn:microsoft.com/office/officeart/2018/5/layout/IconCircleLabelList"/>
    <dgm:cxn modelId="{EB1DBC85-2D5F-4C78-9898-552C2E172D45}" type="presOf" srcId="{1BC67D21-DAC6-4737-B8F6-360C8CF3409F}" destId="{7BE5FA1F-9880-4674-A900-EF8B5034F806}" srcOrd="0" destOrd="0" presId="urn:microsoft.com/office/officeart/2018/5/layout/IconCircleLabelList"/>
    <dgm:cxn modelId="{E34821A1-C40A-4A04-BF1F-83BE1CF0787B}" srcId="{717993F8-C068-4B6F-BD12-AD08172B307A}" destId="{1BC67D21-DAC6-4737-B8F6-360C8CF3409F}" srcOrd="2" destOrd="0" parTransId="{37B435B7-75B2-4947-90FA-AF3A171C64E9}" sibTransId="{CAE6EF25-E6BB-48B8-BB23-09AF3F83F98C}"/>
    <dgm:cxn modelId="{8A4326BA-4CAD-4685-B8E0-29C43FB9C663}" srcId="{717993F8-C068-4B6F-BD12-AD08172B307A}" destId="{0F8F4DF5-8B63-4D18-950C-FF8D81E8AC68}" srcOrd="0" destOrd="0" parTransId="{9017D8B1-A347-4A31-B0C5-4BFC18625C48}" sibTransId="{C6775CA0-D88D-4324-B76D-15C939693A52}"/>
    <dgm:cxn modelId="{ADA0ABBF-F498-4126-86BB-D2006511D1BF}" srcId="{717993F8-C068-4B6F-BD12-AD08172B307A}" destId="{5EFCA2F4-8F89-4E3C-868C-4A7A4245A110}" srcOrd="1" destOrd="0" parTransId="{8F086A0D-27A3-4700-A599-3B60B977D942}" sibTransId="{DFA44D43-C81E-4D36-8492-B113B2ACD293}"/>
    <dgm:cxn modelId="{18E8D1DF-7A5E-45BF-8E88-CFA69F0746D9}" type="presOf" srcId="{0F8F4DF5-8B63-4D18-950C-FF8D81E8AC68}" destId="{45FE785C-F2F4-41A0-B392-4BC62ABE63C0}" srcOrd="0" destOrd="0" presId="urn:microsoft.com/office/officeart/2018/5/layout/IconCircleLabelList"/>
    <dgm:cxn modelId="{B00BFBE9-D52B-43C6-8FFB-4371A7CD9262}" type="presOf" srcId="{717993F8-C068-4B6F-BD12-AD08172B307A}" destId="{CDEDE202-3CAB-4E72-88F8-442F53B416B5}" srcOrd="0" destOrd="0" presId="urn:microsoft.com/office/officeart/2018/5/layout/IconCircleLabelList"/>
    <dgm:cxn modelId="{37EBCB07-8AF6-481C-9A97-B06AABA1FD55}" type="presParOf" srcId="{CDEDE202-3CAB-4E72-88F8-442F53B416B5}" destId="{EC8D208A-4426-426B-8DAE-3F49905756D6}" srcOrd="0" destOrd="0" presId="urn:microsoft.com/office/officeart/2018/5/layout/IconCircleLabelList"/>
    <dgm:cxn modelId="{783E758D-1C27-4CE5-938B-684774385B32}" type="presParOf" srcId="{EC8D208A-4426-426B-8DAE-3F49905756D6}" destId="{FBA181CB-3B81-4BB3-87D1-74E656697F7A}" srcOrd="0" destOrd="0" presId="urn:microsoft.com/office/officeart/2018/5/layout/IconCircleLabelList"/>
    <dgm:cxn modelId="{AF874715-A53B-44C0-B66B-91373CA2C9B4}" type="presParOf" srcId="{EC8D208A-4426-426B-8DAE-3F49905756D6}" destId="{2FEF6A28-37D2-4933-8370-DF41164FBE58}" srcOrd="1" destOrd="0" presId="urn:microsoft.com/office/officeart/2018/5/layout/IconCircleLabelList"/>
    <dgm:cxn modelId="{310E46FD-2A68-4D57-B573-E65DAE6100BA}" type="presParOf" srcId="{EC8D208A-4426-426B-8DAE-3F49905756D6}" destId="{7DADD5D5-69CC-4311-A8F3-58E4AA24DEB5}" srcOrd="2" destOrd="0" presId="urn:microsoft.com/office/officeart/2018/5/layout/IconCircleLabelList"/>
    <dgm:cxn modelId="{B227E4DE-0675-472A-B106-C824044FE3EE}" type="presParOf" srcId="{EC8D208A-4426-426B-8DAE-3F49905756D6}" destId="{45FE785C-F2F4-41A0-B392-4BC62ABE63C0}" srcOrd="3" destOrd="0" presId="urn:microsoft.com/office/officeart/2018/5/layout/IconCircleLabelList"/>
    <dgm:cxn modelId="{9BDE477B-26DB-4038-98E3-E968D0EE21B4}" type="presParOf" srcId="{CDEDE202-3CAB-4E72-88F8-442F53B416B5}" destId="{5C2CAC2C-045F-4774-8FCF-F21D6E62E88C}" srcOrd="1" destOrd="0" presId="urn:microsoft.com/office/officeart/2018/5/layout/IconCircleLabelList"/>
    <dgm:cxn modelId="{290DA3B7-04FA-430A-ABAC-11EE12530E73}" type="presParOf" srcId="{CDEDE202-3CAB-4E72-88F8-442F53B416B5}" destId="{04D7F23E-07E8-4DB4-8BDA-30FD0D7D464C}" srcOrd="2" destOrd="0" presId="urn:microsoft.com/office/officeart/2018/5/layout/IconCircleLabelList"/>
    <dgm:cxn modelId="{F985B413-8793-4A11-869C-1C34EF679175}" type="presParOf" srcId="{04D7F23E-07E8-4DB4-8BDA-30FD0D7D464C}" destId="{BB692D75-0A5C-4088-957F-6D28D8EF5A1D}" srcOrd="0" destOrd="0" presId="urn:microsoft.com/office/officeart/2018/5/layout/IconCircleLabelList"/>
    <dgm:cxn modelId="{D2D3F3F2-F32E-4294-98EF-CDD1BE9EA3E7}" type="presParOf" srcId="{04D7F23E-07E8-4DB4-8BDA-30FD0D7D464C}" destId="{5EABAC90-1CF4-4BFF-A751-E6EA5D692E5A}" srcOrd="1" destOrd="0" presId="urn:microsoft.com/office/officeart/2018/5/layout/IconCircleLabelList"/>
    <dgm:cxn modelId="{FF1A698E-DBC4-4D26-8B0F-D9F42E48E08A}" type="presParOf" srcId="{04D7F23E-07E8-4DB4-8BDA-30FD0D7D464C}" destId="{24CE40BC-D3E6-47F6-8EEB-59902C3A4A70}" srcOrd="2" destOrd="0" presId="urn:microsoft.com/office/officeart/2018/5/layout/IconCircleLabelList"/>
    <dgm:cxn modelId="{52C92645-4C20-48C1-8929-672AF193444F}" type="presParOf" srcId="{04D7F23E-07E8-4DB4-8BDA-30FD0D7D464C}" destId="{6DDD1211-120A-4F29-920A-5871DF06A5E9}" srcOrd="3" destOrd="0" presId="urn:microsoft.com/office/officeart/2018/5/layout/IconCircleLabelList"/>
    <dgm:cxn modelId="{AD176409-AE9C-4FCA-AF5C-75FB08F21000}" type="presParOf" srcId="{CDEDE202-3CAB-4E72-88F8-442F53B416B5}" destId="{688301AF-003F-4BF5-B6B4-D845BB466B6D}" srcOrd="3" destOrd="0" presId="urn:microsoft.com/office/officeart/2018/5/layout/IconCircleLabelList"/>
    <dgm:cxn modelId="{1FD57C13-180D-48B6-ABEE-28161E0983B4}" type="presParOf" srcId="{CDEDE202-3CAB-4E72-88F8-442F53B416B5}" destId="{35643B44-63C5-4CD0-8157-9A96540B8D41}" srcOrd="4" destOrd="0" presId="urn:microsoft.com/office/officeart/2018/5/layout/IconCircleLabelList"/>
    <dgm:cxn modelId="{134EFCEB-BC98-4792-9D6D-E8820F578BB1}" type="presParOf" srcId="{35643B44-63C5-4CD0-8157-9A96540B8D41}" destId="{9C7FCBAD-CF09-4077-880C-70024609B713}" srcOrd="0" destOrd="0" presId="urn:microsoft.com/office/officeart/2018/5/layout/IconCircleLabelList"/>
    <dgm:cxn modelId="{395B3A65-1E2A-47A1-84FF-5BBA605A866B}" type="presParOf" srcId="{35643B44-63C5-4CD0-8157-9A96540B8D41}" destId="{11E206F2-AC73-49C2-8E9F-500234751330}" srcOrd="1" destOrd="0" presId="urn:microsoft.com/office/officeart/2018/5/layout/IconCircleLabelList"/>
    <dgm:cxn modelId="{4547E08B-8CA5-45CB-8485-7AF5EFC3C3F7}" type="presParOf" srcId="{35643B44-63C5-4CD0-8157-9A96540B8D41}" destId="{E30B93CE-D00C-4E7C-9B66-19691A8E1ED0}" srcOrd="2" destOrd="0" presId="urn:microsoft.com/office/officeart/2018/5/layout/IconCircleLabelList"/>
    <dgm:cxn modelId="{979C2D8E-C87C-4843-9D69-7FFE64A0B748}" type="presParOf" srcId="{35643B44-63C5-4CD0-8157-9A96540B8D41}" destId="{7BE5FA1F-9880-4674-A900-EF8B5034F80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3A5680-B1B3-49CF-A5AC-EE8BFCCB64D0}" type="doc">
      <dgm:prSet loTypeId="urn:microsoft.com/office/officeart/2018/5/layout/IconLeaf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7B929A5-F86A-4D37-83E3-346D96A16993}">
      <dgm:prSet/>
      <dgm:spPr/>
      <dgm:t>
        <a:bodyPr/>
        <a:lstStyle/>
        <a:p>
          <a:pPr>
            <a:defRPr cap="all"/>
          </a:pPr>
          <a:r>
            <a:rPr lang="en-MY"/>
            <a:t>Begin with an introduction</a:t>
          </a:r>
          <a:endParaRPr lang="en-US"/>
        </a:p>
      </dgm:t>
    </dgm:pt>
    <dgm:pt modelId="{F7B21B91-4B2E-4849-8B8E-351BD4C65C96}" type="parTrans" cxnId="{5A4616F6-46C4-4284-80F8-58300099758E}">
      <dgm:prSet/>
      <dgm:spPr/>
      <dgm:t>
        <a:bodyPr/>
        <a:lstStyle/>
        <a:p>
          <a:endParaRPr lang="en-US"/>
        </a:p>
      </dgm:t>
    </dgm:pt>
    <dgm:pt modelId="{0047EEB6-5EE8-48A0-853F-4D3E57141180}" type="sibTrans" cxnId="{5A4616F6-46C4-4284-80F8-58300099758E}">
      <dgm:prSet/>
      <dgm:spPr/>
      <dgm:t>
        <a:bodyPr/>
        <a:lstStyle/>
        <a:p>
          <a:endParaRPr lang="en-US"/>
        </a:p>
      </dgm:t>
    </dgm:pt>
    <dgm:pt modelId="{D1D53D03-D9BC-466D-8028-1F1176388C7E}">
      <dgm:prSet/>
      <dgm:spPr/>
      <dgm:t>
        <a:bodyPr/>
        <a:lstStyle/>
        <a:p>
          <a:pPr>
            <a:defRPr cap="all"/>
          </a:pPr>
          <a:r>
            <a:rPr lang="en-MY"/>
            <a:t>Ask questions</a:t>
          </a:r>
          <a:endParaRPr lang="en-US"/>
        </a:p>
      </dgm:t>
    </dgm:pt>
    <dgm:pt modelId="{035227E4-EE74-4B2D-A1F2-8217A7769CE8}" type="parTrans" cxnId="{2F2E0DCB-D63C-49C0-9929-463151BA06C8}">
      <dgm:prSet/>
      <dgm:spPr/>
      <dgm:t>
        <a:bodyPr/>
        <a:lstStyle/>
        <a:p>
          <a:endParaRPr lang="en-US"/>
        </a:p>
      </dgm:t>
    </dgm:pt>
    <dgm:pt modelId="{A7050D8D-CF8B-4880-ADE6-639DA352E209}" type="sibTrans" cxnId="{2F2E0DCB-D63C-49C0-9929-463151BA06C8}">
      <dgm:prSet/>
      <dgm:spPr/>
      <dgm:t>
        <a:bodyPr/>
        <a:lstStyle/>
        <a:p>
          <a:endParaRPr lang="en-US"/>
        </a:p>
      </dgm:t>
    </dgm:pt>
    <dgm:pt modelId="{D2176DA4-9E5E-4AD9-B6BD-F50580F90B7C}">
      <dgm:prSet/>
      <dgm:spPr/>
      <dgm:t>
        <a:bodyPr/>
        <a:lstStyle/>
        <a:p>
          <a:pPr>
            <a:defRPr cap="all"/>
          </a:pPr>
          <a:r>
            <a:rPr lang="en-MY"/>
            <a:t>Encourage discussion </a:t>
          </a:r>
          <a:endParaRPr lang="en-US"/>
        </a:p>
      </dgm:t>
    </dgm:pt>
    <dgm:pt modelId="{CADC090E-98EF-4FA3-BA9F-731527FCC593}" type="parTrans" cxnId="{C85A8134-92C1-4788-A3A1-349AA494B6A0}">
      <dgm:prSet/>
      <dgm:spPr/>
      <dgm:t>
        <a:bodyPr/>
        <a:lstStyle/>
        <a:p>
          <a:endParaRPr lang="en-US"/>
        </a:p>
      </dgm:t>
    </dgm:pt>
    <dgm:pt modelId="{35D4E95F-31C0-4E6B-A0CC-B636DB119566}" type="sibTrans" cxnId="{C85A8134-92C1-4788-A3A1-349AA494B6A0}">
      <dgm:prSet/>
      <dgm:spPr/>
      <dgm:t>
        <a:bodyPr/>
        <a:lstStyle/>
        <a:p>
          <a:endParaRPr lang="en-US"/>
        </a:p>
      </dgm:t>
    </dgm:pt>
    <dgm:pt modelId="{CB262E12-8DF4-4137-8599-9512894BADC5}">
      <dgm:prSet/>
      <dgm:spPr/>
      <dgm:t>
        <a:bodyPr/>
        <a:lstStyle/>
        <a:p>
          <a:pPr>
            <a:defRPr cap="all"/>
          </a:pPr>
          <a:r>
            <a:rPr lang="en-MY"/>
            <a:t>Record responses for later analysis.</a:t>
          </a:r>
          <a:endParaRPr lang="en-US"/>
        </a:p>
      </dgm:t>
    </dgm:pt>
    <dgm:pt modelId="{A4923A1E-FD39-4738-BD3E-F592F4B21337}" type="parTrans" cxnId="{BFAE0457-5C42-4D5E-A8EE-7C017AE1B5D3}">
      <dgm:prSet/>
      <dgm:spPr/>
      <dgm:t>
        <a:bodyPr/>
        <a:lstStyle/>
        <a:p>
          <a:endParaRPr lang="en-US"/>
        </a:p>
      </dgm:t>
    </dgm:pt>
    <dgm:pt modelId="{60579B68-EC3E-4429-8B3E-917948BF520E}" type="sibTrans" cxnId="{BFAE0457-5C42-4D5E-A8EE-7C017AE1B5D3}">
      <dgm:prSet/>
      <dgm:spPr/>
      <dgm:t>
        <a:bodyPr/>
        <a:lstStyle/>
        <a:p>
          <a:endParaRPr lang="en-US"/>
        </a:p>
      </dgm:t>
    </dgm:pt>
    <dgm:pt modelId="{12B6101A-3396-43E4-BE83-E282BB347ECA}" type="pres">
      <dgm:prSet presAssocID="{6C3A5680-B1B3-49CF-A5AC-EE8BFCCB64D0}" presName="root" presStyleCnt="0">
        <dgm:presLayoutVars>
          <dgm:dir/>
          <dgm:resizeHandles val="exact"/>
        </dgm:presLayoutVars>
      </dgm:prSet>
      <dgm:spPr/>
    </dgm:pt>
    <dgm:pt modelId="{D4708A0A-C9A8-4608-8F86-51D4AD3038D7}" type="pres">
      <dgm:prSet presAssocID="{17B929A5-F86A-4D37-83E3-346D96A16993}" presName="compNode" presStyleCnt="0"/>
      <dgm:spPr/>
    </dgm:pt>
    <dgm:pt modelId="{29383198-7FB0-4F46-B963-09F05BE68A6E}" type="pres">
      <dgm:prSet presAssocID="{17B929A5-F86A-4D37-83E3-346D96A16993}" presName="iconBgRect" presStyleLbl="bgShp" presStyleIdx="0" presStyleCnt="4"/>
      <dgm:spPr>
        <a:prstGeom prst="round2DiagRect">
          <a:avLst>
            <a:gd name="adj1" fmla="val 29727"/>
            <a:gd name="adj2" fmla="val 0"/>
          </a:avLst>
        </a:prstGeom>
      </dgm:spPr>
    </dgm:pt>
    <dgm:pt modelId="{69765DB5-ADC1-48F3-A552-CF15F31CF021}" type="pres">
      <dgm:prSet presAssocID="{17B929A5-F86A-4D37-83E3-346D96A1699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489DC43D-96E4-4736-A1E3-FD2EAE717BF1}" type="pres">
      <dgm:prSet presAssocID="{17B929A5-F86A-4D37-83E3-346D96A16993}" presName="spaceRect" presStyleCnt="0"/>
      <dgm:spPr/>
    </dgm:pt>
    <dgm:pt modelId="{33EF9F04-EC0B-4328-AD91-767CABA00130}" type="pres">
      <dgm:prSet presAssocID="{17B929A5-F86A-4D37-83E3-346D96A16993}" presName="textRect" presStyleLbl="revTx" presStyleIdx="0" presStyleCnt="4">
        <dgm:presLayoutVars>
          <dgm:chMax val="1"/>
          <dgm:chPref val="1"/>
        </dgm:presLayoutVars>
      </dgm:prSet>
      <dgm:spPr/>
    </dgm:pt>
    <dgm:pt modelId="{F7FA4E11-F4AA-4648-B32D-26C2ABE11243}" type="pres">
      <dgm:prSet presAssocID="{0047EEB6-5EE8-48A0-853F-4D3E57141180}" presName="sibTrans" presStyleCnt="0"/>
      <dgm:spPr/>
    </dgm:pt>
    <dgm:pt modelId="{C4888588-DAA0-4DA9-BC1E-CBE32F9BE76F}" type="pres">
      <dgm:prSet presAssocID="{D1D53D03-D9BC-466D-8028-1F1176388C7E}" presName="compNode" presStyleCnt="0"/>
      <dgm:spPr/>
    </dgm:pt>
    <dgm:pt modelId="{E3439A22-7C64-477B-95BE-1F3CA29E1065}" type="pres">
      <dgm:prSet presAssocID="{D1D53D03-D9BC-466D-8028-1F1176388C7E}" presName="iconBgRect" presStyleLbl="bgShp" presStyleIdx="1" presStyleCnt="4"/>
      <dgm:spPr>
        <a:prstGeom prst="round2DiagRect">
          <a:avLst>
            <a:gd name="adj1" fmla="val 29727"/>
            <a:gd name="adj2" fmla="val 0"/>
          </a:avLst>
        </a:prstGeom>
      </dgm:spPr>
    </dgm:pt>
    <dgm:pt modelId="{8572AF91-E9F1-4E4C-A6DE-9E01CF1E6166}" type="pres">
      <dgm:prSet presAssocID="{D1D53D03-D9BC-466D-8028-1F1176388C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9533C536-13CA-481D-BB96-6A4EA1EEC575}" type="pres">
      <dgm:prSet presAssocID="{D1D53D03-D9BC-466D-8028-1F1176388C7E}" presName="spaceRect" presStyleCnt="0"/>
      <dgm:spPr/>
    </dgm:pt>
    <dgm:pt modelId="{8CBA4D62-2575-4029-BED8-BFFEE651BFB4}" type="pres">
      <dgm:prSet presAssocID="{D1D53D03-D9BC-466D-8028-1F1176388C7E}" presName="textRect" presStyleLbl="revTx" presStyleIdx="1" presStyleCnt="4">
        <dgm:presLayoutVars>
          <dgm:chMax val="1"/>
          <dgm:chPref val="1"/>
        </dgm:presLayoutVars>
      </dgm:prSet>
      <dgm:spPr/>
    </dgm:pt>
    <dgm:pt modelId="{0EC5BFFB-8C5F-4165-8FC4-935837805FA8}" type="pres">
      <dgm:prSet presAssocID="{A7050D8D-CF8B-4880-ADE6-639DA352E209}" presName="sibTrans" presStyleCnt="0"/>
      <dgm:spPr/>
    </dgm:pt>
    <dgm:pt modelId="{F9266548-602D-4746-A9B9-627E8F09F579}" type="pres">
      <dgm:prSet presAssocID="{D2176DA4-9E5E-4AD9-B6BD-F50580F90B7C}" presName="compNode" presStyleCnt="0"/>
      <dgm:spPr/>
    </dgm:pt>
    <dgm:pt modelId="{F34067D6-E74F-4CC1-AC36-207593C302D7}" type="pres">
      <dgm:prSet presAssocID="{D2176DA4-9E5E-4AD9-B6BD-F50580F90B7C}" presName="iconBgRect" presStyleLbl="bgShp" presStyleIdx="2" presStyleCnt="4"/>
      <dgm:spPr>
        <a:prstGeom prst="round2DiagRect">
          <a:avLst>
            <a:gd name="adj1" fmla="val 29727"/>
            <a:gd name="adj2" fmla="val 0"/>
          </a:avLst>
        </a:prstGeom>
      </dgm:spPr>
    </dgm:pt>
    <dgm:pt modelId="{2667364A-8B88-43E0-9118-8A14DF3D3788}" type="pres">
      <dgm:prSet presAssocID="{D2176DA4-9E5E-4AD9-B6BD-F50580F90B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D38F8C05-FFFD-4CF1-9763-47D3F6932251}" type="pres">
      <dgm:prSet presAssocID="{D2176DA4-9E5E-4AD9-B6BD-F50580F90B7C}" presName="spaceRect" presStyleCnt="0"/>
      <dgm:spPr/>
    </dgm:pt>
    <dgm:pt modelId="{1E8E5E61-AF61-4096-A3AF-85252D372415}" type="pres">
      <dgm:prSet presAssocID="{D2176DA4-9E5E-4AD9-B6BD-F50580F90B7C}" presName="textRect" presStyleLbl="revTx" presStyleIdx="2" presStyleCnt="4">
        <dgm:presLayoutVars>
          <dgm:chMax val="1"/>
          <dgm:chPref val="1"/>
        </dgm:presLayoutVars>
      </dgm:prSet>
      <dgm:spPr/>
    </dgm:pt>
    <dgm:pt modelId="{44435365-C22E-4085-B574-8C3E2EB06DCA}" type="pres">
      <dgm:prSet presAssocID="{35D4E95F-31C0-4E6B-A0CC-B636DB119566}" presName="sibTrans" presStyleCnt="0"/>
      <dgm:spPr/>
    </dgm:pt>
    <dgm:pt modelId="{7A23470E-A330-4807-AFA2-97AE4AE9130E}" type="pres">
      <dgm:prSet presAssocID="{CB262E12-8DF4-4137-8599-9512894BADC5}" presName="compNode" presStyleCnt="0"/>
      <dgm:spPr/>
    </dgm:pt>
    <dgm:pt modelId="{8D956DE1-9562-4648-9725-4269CA4BA978}" type="pres">
      <dgm:prSet presAssocID="{CB262E12-8DF4-4137-8599-9512894BADC5}" presName="iconBgRect" presStyleLbl="bgShp" presStyleIdx="3" presStyleCnt="4"/>
      <dgm:spPr>
        <a:prstGeom prst="round2DiagRect">
          <a:avLst>
            <a:gd name="adj1" fmla="val 29727"/>
            <a:gd name="adj2" fmla="val 0"/>
          </a:avLst>
        </a:prstGeom>
      </dgm:spPr>
    </dgm:pt>
    <dgm:pt modelId="{1833B442-953C-495E-8C56-3905EEAE1297}" type="pres">
      <dgm:prSet presAssocID="{CB262E12-8DF4-4137-8599-9512894BADC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75E220C0-2A03-43B5-AD6F-FDF50EEA48DC}" type="pres">
      <dgm:prSet presAssocID="{CB262E12-8DF4-4137-8599-9512894BADC5}" presName="spaceRect" presStyleCnt="0"/>
      <dgm:spPr/>
    </dgm:pt>
    <dgm:pt modelId="{0F176A36-E552-418C-81F7-BF2A4C57BE1E}" type="pres">
      <dgm:prSet presAssocID="{CB262E12-8DF4-4137-8599-9512894BADC5}" presName="textRect" presStyleLbl="revTx" presStyleIdx="3" presStyleCnt="4">
        <dgm:presLayoutVars>
          <dgm:chMax val="1"/>
          <dgm:chPref val="1"/>
        </dgm:presLayoutVars>
      </dgm:prSet>
      <dgm:spPr/>
    </dgm:pt>
  </dgm:ptLst>
  <dgm:cxnLst>
    <dgm:cxn modelId="{C85A8134-92C1-4788-A3A1-349AA494B6A0}" srcId="{6C3A5680-B1B3-49CF-A5AC-EE8BFCCB64D0}" destId="{D2176DA4-9E5E-4AD9-B6BD-F50580F90B7C}" srcOrd="2" destOrd="0" parTransId="{CADC090E-98EF-4FA3-BA9F-731527FCC593}" sibTransId="{35D4E95F-31C0-4E6B-A0CC-B636DB119566}"/>
    <dgm:cxn modelId="{BFAE0457-5C42-4D5E-A8EE-7C017AE1B5D3}" srcId="{6C3A5680-B1B3-49CF-A5AC-EE8BFCCB64D0}" destId="{CB262E12-8DF4-4137-8599-9512894BADC5}" srcOrd="3" destOrd="0" parTransId="{A4923A1E-FD39-4738-BD3E-F592F4B21337}" sibTransId="{60579B68-EC3E-4429-8B3E-917948BF520E}"/>
    <dgm:cxn modelId="{84E7BC8F-DB64-4C93-9D69-A92FF1E97C81}" type="presOf" srcId="{6C3A5680-B1B3-49CF-A5AC-EE8BFCCB64D0}" destId="{12B6101A-3396-43E4-BE83-E282BB347ECA}" srcOrd="0" destOrd="0" presId="urn:microsoft.com/office/officeart/2018/5/layout/IconLeafLabelList"/>
    <dgm:cxn modelId="{02E6C399-B248-4634-880A-4624DF3634B0}" type="presOf" srcId="{D2176DA4-9E5E-4AD9-B6BD-F50580F90B7C}" destId="{1E8E5E61-AF61-4096-A3AF-85252D372415}" srcOrd="0" destOrd="0" presId="urn:microsoft.com/office/officeart/2018/5/layout/IconLeafLabelList"/>
    <dgm:cxn modelId="{AAEBAFB0-F19C-4528-8308-547E9582C6AB}" type="presOf" srcId="{CB262E12-8DF4-4137-8599-9512894BADC5}" destId="{0F176A36-E552-418C-81F7-BF2A4C57BE1E}" srcOrd="0" destOrd="0" presId="urn:microsoft.com/office/officeart/2018/5/layout/IconLeafLabelList"/>
    <dgm:cxn modelId="{2F2E0DCB-D63C-49C0-9929-463151BA06C8}" srcId="{6C3A5680-B1B3-49CF-A5AC-EE8BFCCB64D0}" destId="{D1D53D03-D9BC-466D-8028-1F1176388C7E}" srcOrd="1" destOrd="0" parTransId="{035227E4-EE74-4B2D-A1F2-8217A7769CE8}" sibTransId="{A7050D8D-CF8B-4880-ADE6-639DA352E209}"/>
    <dgm:cxn modelId="{22C0F3CE-0339-4E4C-B183-BE836E67629E}" type="presOf" srcId="{D1D53D03-D9BC-466D-8028-1F1176388C7E}" destId="{8CBA4D62-2575-4029-BED8-BFFEE651BFB4}" srcOrd="0" destOrd="0" presId="urn:microsoft.com/office/officeart/2018/5/layout/IconLeafLabelList"/>
    <dgm:cxn modelId="{84EADEEE-C37B-4DCC-B336-A47284C14BE1}" type="presOf" srcId="{17B929A5-F86A-4D37-83E3-346D96A16993}" destId="{33EF9F04-EC0B-4328-AD91-767CABA00130}" srcOrd="0" destOrd="0" presId="urn:microsoft.com/office/officeart/2018/5/layout/IconLeafLabelList"/>
    <dgm:cxn modelId="{5A4616F6-46C4-4284-80F8-58300099758E}" srcId="{6C3A5680-B1B3-49CF-A5AC-EE8BFCCB64D0}" destId="{17B929A5-F86A-4D37-83E3-346D96A16993}" srcOrd="0" destOrd="0" parTransId="{F7B21B91-4B2E-4849-8B8E-351BD4C65C96}" sibTransId="{0047EEB6-5EE8-48A0-853F-4D3E57141180}"/>
    <dgm:cxn modelId="{63CB80DA-CB76-4426-9D58-F2571A3BE23B}" type="presParOf" srcId="{12B6101A-3396-43E4-BE83-E282BB347ECA}" destId="{D4708A0A-C9A8-4608-8F86-51D4AD3038D7}" srcOrd="0" destOrd="0" presId="urn:microsoft.com/office/officeart/2018/5/layout/IconLeafLabelList"/>
    <dgm:cxn modelId="{47DD1707-283F-48B9-8827-6404553B0471}" type="presParOf" srcId="{D4708A0A-C9A8-4608-8F86-51D4AD3038D7}" destId="{29383198-7FB0-4F46-B963-09F05BE68A6E}" srcOrd="0" destOrd="0" presId="urn:microsoft.com/office/officeart/2018/5/layout/IconLeafLabelList"/>
    <dgm:cxn modelId="{8F18F0D9-D709-4B22-B6CF-57F65B2989C9}" type="presParOf" srcId="{D4708A0A-C9A8-4608-8F86-51D4AD3038D7}" destId="{69765DB5-ADC1-48F3-A552-CF15F31CF021}" srcOrd="1" destOrd="0" presId="urn:microsoft.com/office/officeart/2018/5/layout/IconLeafLabelList"/>
    <dgm:cxn modelId="{7E552C9B-C84C-44C8-8B52-7F22941DBE34}" type="presParOf" srcId="{D4708A0A-C9A8-4608-8F86-51D4AD3038D7}" destId="{489DC43D-96E4-4736-A1E3-FD2EAE717BF1}" srcOrd="2" destOrd="0" presId="urn:microsoft.com/office/officeart/2018/5/layout/IconLeafLabelList"/>
    <dgm:cxn modelId="{DF875F6D-23EC-43F5-B598-375A9F15CB38}" type="presParOf" srcId="{D4708A0A-C9A8-4608-8F86-51D4AD3038D7}" destId="{33EF9F04-EC0B-4328-AD91-767CABA00130}" srcOrd="3" destOrd="0" presId="urn:microsoft.com/office/officeart/2018/5/layout/IconLeafLabelList"/>
    <dgm:cxn modelId="{44B3BD1D-883B-4403-83C6-357598D5C16C}" type="presParOf" srcId="{12B6101A-3396-43E4-BE83-E282BB347ECA}" destId="{F7FA4E11-F4AA-4648-B32D-26C2ABE11243}" srcOrd="1" destOrd="0" presId="urn:microsoft.com/office/officeart/2018/5/layout/IconLeafLabelList"/>
    <dgm:cxn modelId="{688D9B63-0E6A-4228-8372-FC32849A7B16}" type="presParOf" srcId="{12B6101A-3396-43E4-BE83-E282BB347ECA}" destId="{C4888588-DAA0-4DA9-BC1E-CBE32F9BE76F}" srcOrd="2" destOrd="0" presId="urn:microsoft.com/office/officeart/2018/5/layout/IconLeafLabelList"/>
    <dgm:cxn modelId="{1A0318E2-CDAD-4EA0-99B7-5A813A36686A}" type="presParOf" srcId="{C4888588-DAA0-4DA9-BC1E-CBE32F9BE76F}" destId="{E3439A22-7C64-477B-95BE-1F3CA29E1065}" srcOrd="0" destOrd="0" presId="urn:microsoft.com/office/officeart/2018/5/layout/IconLeafLabelList"/>
    <dgm:cxn modelId="{27B86606-4CE0-4DB3-AC43-6443271E5CEB}" type="presParOf" srcId="{C4888588-DAA0-4DA9-BC1E-CBE32F9BE76F}" destId="{8572AF91-E9F1-4E4C-A6DE-9E01CF1E6166}" srcOrd="1" destOrd="0" presId="urn:microsoft.com/office/officeart/2018/5/layout/IconLeafLabelList"/>
    <dgm:cxn modelId="{F2C4B855-41D2-42C4-89CE-1FFC1E1B36C2}" type="presParOf" srcId="{C4888588-DAA0-4DA9-BC1E-CBE32F9BE76F}" destId="{9533C536-13CA-481D-BB96-6A4EA1EEC575}" srcOrd="2" destOrd="0" presId="urn:microsoft.com/office/officeart/2018/5/layout/IconLeafLabelList"/>
    <dgm:cxn modelId="{B6EEE52D-0192-4270-9EE1-E992809437A8}" type="presParOf" srcId="{C4888588-DAA0-4DA9-BC1E-CBE32F9BE76F}" destId="{8CBA4D62-2575-4029-BED8-BFFEE651BFB4}" srcOrd="3" destOrd="0" presId="urn:microsoft.com/office/officeart/2018/5/layout/IconLeafLabelList"/>
    <dgm:cxn modelId="{4FBFB082-866C-4A5E-A4DE-882610011168}" type="presParOf" srcId="{12B6101A-3396-43E4-BE83-E282BB347ECA}" destId="{0EC5BFFB-8C5F-4165-8FC4-935837805FA8}" srcOrd="3" destOrd="0" presId="urn:microsoft.com/office/officeart/2018/5/layout/IconLeafLabelList"/>
    <dgm:cxn modelId="{ADD5AA1B-EF10-46A4-8819-AA813EF36010}" type="presParOf" srcId="{12B6101A-3396-43E4-BE83-E282BB347ECA}" destId="{F9266548-602D-4746-A9B9-627E8F09F579}" srcOrd="4" destOrd="0" presId="urn:microsoft.com/office/officeart/2018/5/layout/IconLeafLabelList"/>
    <dgm:cxn modelId="{A9998CA1-293A-44A0-88FC-B50943F68BF5}" type="presParOf" srcId="{F9266548-602D-4746-A9B9-627E8F09F579}" destId="{F34067D6-E74F-4CC1-AC36-207593C302D7}" srcOrd="0" destOrd="0" presId="urn:microsoft.com/office/officeart/2018/5/layout/IconLeafLabelList"/>
    <dgm:cxn modelId="{FA863A52-FBAD-41D3-92DD-FAF4B65C52D6}" type="presParOf" srcId="{F9266548-602D-4746-A9B9-627E8F09F579}" destId="{2667364A-8B88-43E0-9118-8A14DF3D3788}" srcOrd="1" destOrd="0" presId="urn:microsoft.com/office/officeart/2018/5/layout/IconLeafLabelList"/>
    <dgm:cxn modelId="{EC3C71FF-767B-440A-BF18-92C535D62D07}" type="presParOf" srcId="{F9266548-602D-4746-A9B9-627E8F09F579}" destId="{D38F8C05-FFFD-4CF1-9763-47D3F6932251}" srcOrd="2" destOrd="0" presId="urn:microsoft.com/office/officeart/2018/5/layout/IconLeafLabelList"/>
    <dgm:cxn modelId="{313E171B-F272-4D7B-82E5-95681E1DFD40}" type="presParOf" srcId="{F9266548-602D-4746-A9B9-627E8F09F579}" destId="{1E8E5E61-AF61-4096-A3AF-85252D372415}" srcOrd="3" destOrd="0" presId="urn:microsoft.com/office/officeart/2018/5/layout/IconLeafLabelList"/>
    <dgm:cxn modelId="{84563ED5-731E-42C2-9B79-7B45ED972F19}" type="presParOf" srcId="{12B6101A-3396-43E4-BE83-E282BB347ECA}" destId="{44435365-C22E-4085-B574-8C3E2EB06DCA}" srcOrd="5" destOrd="0" presId="urn:microsoft.com/office/officeart/2018/5/layout/IconLeafLabelList"/>
    <dgm:cxn modelId="{549B00AA-C16D-4250-A608-571B74487BB6}" type="presParOf" srcId="{12B6101A-3396-43E4-BE83-E282BB347ECA}" destId="{7A23470E-A330-4807-AFA2-97AE4AE9130E}" srcOrd="6" destOrd="0" presId="urn:microsoft.com/office/officeart/2018/5/layout/IconLeafLabelList"/>
    <dgm:cxn modelId="{791D3C06-A284-40CB-BA66-37F91ED189D4}" type="presParOf" srcId="{7A23470E-A330-4807-AFA2-97AE4AE9130E}" destId="{8D956DE1-9562-4648-9725-4269CA4BA978}" srcOrd="0" destOrd="0" presId="urn:microsoft.com/office/officeart/2018/5/layout/IconLeafLabelList"/>
    <dgm:cxn modelId="{C2AA43A8-303D-42B8-9898-A2502DECB900}" type="presParOf" srcId="{7A23470E-A330-4807-AFA2-97AE4AE9130E}" destId="{1833B442-953C-495E-8C56-3905EEAE1297}" srcOrd="1" destOrd="0" presId="urn:microsoft.com/office/officeart/2018/5/layout/IconLeafLabelList"/>
    <dgm:cxn modelId="{FD04EBB4-32EE-46DD-BCAF-BE63E40EE59A}" type="presParOf" srcId="{7A23470E-A330-4807-AFA2-97AE4AE9130E}" destId="{75E220C0-2A03-43B5-AD6F-FDF50EEA48DC}" srcOrd="2" destOrd="0" presId="urn:microsoft.com/office/officeart/2018/5/layout/IconLeafLabelList"/>
    <dgm:cxn modelId="{E27580F9-E832-4F81-9977-C4A5C711F5C9}" type="presParOf" srcId="{7A23470E-A330-4807-AFA2-97AE4AE9130E}" destId="{0F176A36-E552-418C-81F7-BF2A4C57BE1E}"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703B3-6E0D-44F4-8B47-B0BCDC5D1E04}">
      <dsp:nvSpPr>
        <dsp:cNvPr id="0" name=""/>
        <dsp:cNvSpPr/>
      </dsp:nvSpPr>
      <dsp:spPr>
        <a:xfrm>
          <a:off x="828914" y="119628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A0EC88-01B2-4E03-834A-28839AD6BB18}">
      <dsp:nvSpPr>
        <dsp:cNvPr id="0" name=""/>
        <dsp:cNvSpPr/>
      </dsp:nvSpPr>
      <dsp:spPr>
        <a:xfrm>
          <a:off x="33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Planning</a:t>
          </a:r>
        </a:p>
      </dsp:txBody>
      <dsp:txXfrm>
        <a:off x="333914" y="2276522"/>
        <a:ext cx="1800000" cy="720000"/>
      </dsp:txXfrm>
    </dsp:sp>
    <dsp:sp modelId="{380623C7-1CB7-4D6C-82A7-17254D469C57}">
      <dsp:nvSpPr>
        <dsp:cNvPr id="0" name=""/>
        <dsp:cNvSpPr/>
      </dsp:nvSpPr>
      <dsp:spPr>
        <a:xfrm>
          <a:off x="2943914" y="119628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2158E7-0EA2-4D49-9273-25C7AC366673}">
      <dsp:nvSpPr>
        <dsp:cNvPr id="0" name=""/>
        <dsp:cNvSpPr/>
      </dsp:nvSpPr>
      <dsp:spPr>
        <a:xfrm>
          <a:off x="244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Analysis</a:t>
          </a:r>
        </a:p>
      </dsp:txBody>
      <dsp:txXfrm>
        <a:off x="2448914" y="2276522"/>
        <a:ext cx="1800000" cy="720000"/>
      </dsp:txXfrm>
    </dsp:sp>
    <dsp:sp modelId="{F4FEF552-7916-44FE-996B-021905A3D3C2}">
      <dsp:nvSpPr>
        <dsp:cNvPr id="0" name=""/>
        <dsp:cNvSpPr/>
      </dsp:nvSpPr>
      <dsp:spPr>
        <a:xfrm>
          <a:off x="5058914" y="1196282"/>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3A2D2F-B2F1-48FF-96FD-0AFA4696918C}">
      <dsp:nvSpPr>
        <dsp:cNvPr id="0" name=""/>
        <dsp:cNvSpPr/>
      </dsp:nvSpPr>
      <dsp:spPr>
        <a:xfrm>
          <a:off x="456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Design</a:t>
          </a:r>
        </a:p>
      </dsp:txBody>
      <dsp:txXfrm>
        <a:off x="4563914" y="2276522"/>
        <a:ext cx="1800000" cy="720000"/>
      </dsp:txXfrm>
    </dsp:sp>
    <dsp:sp modelId="{38D57283-188B-42EF-A979-9615DDAEE3EB}">
      <dsp:nvSpPr>
        <dsp:cNvPr id="0" name=""/>
        <dsp:cNvSpPr/>
      </dsp:nvSpPr>
      <dsp:spPr>
        <a:xfrm>
          <a:off x="7173914" y="1196282"/>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F9589C-5D96-4A6C-B264-2BD3BA0EFB23}">
      <dsp:nvSpPr>
        <dsp:cNvPr id="0" name=""/>
        <dsp:cNvSpPr/>
      </dsp:nvSpPr>
      <dsp:spPr>
        <a:xfrm>
          <a:off x="6678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Implementation</a:t>
          </a:r>
        </a:p>
      </dsp:txBody>
      <dsp:txXfrm>
        <a:off x="6678914" y="2276522"/>
        <a:ext cx="1800000" cy="720000"/>
      </dsp:txXfrm>
    </dsp:sp>
    <dsp:sp modelId="{C7A5C679-B071-475D-8E89-76A7EBE637A4}">
      <dsp:nvSpPr>
        <dsp:cNvPr id="0" name=""/>
        <dsp:cNvSpPr/>
      </dsp:nvSpPr>
      <dsp:spPr>
        <a:xfrm>
          <a:off x="9288914" y="1196282"/>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C76B26-9D34-46BD-8449-601DE1ED50E5}">
      <dsp:nvSpPr>
        <dsp:cNvPr id="0" name=""/>
        <dsp:cNvSpPr/>
      </dsp:nvSpPr>
      <dsp:spPr>
        <a:xfrm>
          <a:off x="8793914"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Maintenance</a:t>
          </a:r>
        </a:p>
      </dsp:txBody>
      <dsp:txXfrm>
        <a:off x="8793914" y="2276522"/>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181CB-3B81-4BB3-87D1-74E656697F7A}">
      <dsp:nvSpPr>
        <dsp:cNvPr id="0" name=""/>
        <dsp:cNvSpPr/>
      </dsp:nvSpPr>
      <dsp:spPr>
        <a:xfrm>
          <a:off x="718664"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EF6A28-37D2-4933-8370-DF41164FBE58}">
      <dsp:nvSpPr>
        <dsp:cNvPr id="0" name=""/>
        <dsp:cNvSpPr/>
      </dsp:nvSpPr>
      <dsp:spPr>
        <a:xfrm>
          <a:off x="1135476" y="870715"/>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FE785C-F2F4-41A0-B392-4BC62ABE63C0}">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MY" sz="1800" kern="1200"/>
            <a:t>Define interview objectives</a:t>
          </a:r>
          <a:endParaRPr lang="en-US" sz="1800" kern="1200"/>
        </a:p>
      </dsp:txBody>
      <dsp:txXfrm>
        <a:off x="93445" y="3018902"/>
        <a:ext cx="3206250" cy="720000"/>
      </dsp:txXfrm>
    </dsp:sp>
    <dsp:sp modelId="{BB692D75-0A5C-4088-957F-6D28D8EF5A1D}">
      <dsp:nvSpPr>
        <dsp:cNvPr id="0" name=""/>
        <dsp:cNvSpPr/>
      </dsp:nvSpPr>
      <dsp:spPr>
        <a:xfrm>
          <a:off x="4486008"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ABAC90-1CF4-4BFF-A751-E6EA5D692E5A}">
      <dsp:nvSpPr>
        <dsp:cNvPr id="0" name=""/>
        <dsp:cNvSpPr/>
      </dsp:nvSpPr>
      <dsp:spPr>
        <a:xfrm>
          <a:off x="4902820" y="870715"/>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DD1211-120A-4F29-920A-5871DF06A5E9}">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MY" sz="1800" kern="1200"/>
            <a:t>Identify interviewees</a:t>
          </a:r>
          <a:endParaRPr lang="en-US" sz="1800" kern="1200"/>
        </a:p>
      </dsp:txBody>
      <dsp:txXfrm>
        <a:off x="3860789" y="3018902"/>
        <a:ext cx="3206250" cy="720000"/>
      </dsp:txXfrm>
    </dsp:sp>
    <dsp:sp modelId="{9C7FCBAD-CF09-4077-880C-70024609B713}">
      <dsp:nvSpPr>
        <dsp:cNvPr id="0" name=""/>
        <dsp:cNvSpPr/>
      </dsp:nvSpPr>
      <dsp:spPr>
        <a:xfrm>
          <a:off x="8253352"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E206F2-AC73-49C2-8E9F-500234751330}">
      <dsp:nvSpPr>
        <dsp:cNvPr id="0" name=""/>
        <dsp:cNvSpPr/>
      </dsp:nvSpPr>
      <dsp:spPr>
        <a:xfrm>
          <a:off x="8670164" y="870715"/>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E5FA1F-9880-4674-A900-EF8B5034F806}">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MY" sz="1800" kern="1200"/>
            <a:t>Prepare questions to cover key areas of inquiry.</a:t>
          </a:r>
          <a:endParaRPr lang="en-US" sz="1800" kern="1200" dirty="0"/>
        </a:p>
      </dsp:txBody>
      <dsp:txXfrm>
        <a:off x="7628133" y="3018902"/>
        <a:ext cx="32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383198-7FB0-4F46-B963-09F05BE68A6E}">
      <dsp:nvSpPr>
        <dsp:cNvPr id="0" name=""/>
        <dsp:cNvSpPr/>
      </dsp:nvSpPr>
      <dsp:spPr>
        <a:xfrm>
          <a:off x="562927"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765DB5-ADC1-48F3-A552-CF15F31CF021}">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EF9F04-EC0B-4328-AD91-767CABA00130}">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Begin with an introduction</a:t>
          </a:r>
          <a:endParaRPr lang="en-US" sz="1900" kern="1200"/>
        </a:p>
      </dsp:txBody>
      <dsp:txXfrm>
        <a:off x="100682" y="2684598"/>
        <a:ext cx="2370489" cy="720000"/>
      </dsp:txXfrm>
    </dsp:sp>
    <dsp:sp modelId="{E3439A22-7C64-477B-95BE-1F3CA29E1065}">
      <dsp:nvSpPr>
        <dsp:cNvPr id="0" name=""/>
        <dsp:cNvSpPr/>
      </dsp:nvSpPr>
      <dsp:spPr>
        <a:xfrm>
          <a:off x="3348252"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72AF91-E9F1-4E4C-A6DE-9E01CF1E6166}">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BA4D62-2575-4029-BED8-BFFEE651BFB4}">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Ask questions</a:t>
          </a:r>
          <a:endParaRPr lang="en-US" sz="1900" kern="1200"/>
        </a:p>
      </dsp:txBody>
      <dsp:txXfrm>
        <a:off x="2886007" y="2684598"/>
        <a:ext cx="2370489" cy="720000"/>
      </dsp:txXfrm>
    </dsp:sp>
    <dsp:sp modelId="{F34067D6-E74F-4CC1-AC36-207593C302D7}">
      <dsp:nvSpPr>
        <dsp:cNvPr id="0" name=""/>
        <dsp:cNvSpPr/>
      </dsp:nvSpPr>
      <dsp:spPr>
        <a:xfrm>
          <a:off x="6133577"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67364A-8B88-43E0-9118-8A14DF3D3788}">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8E5E61-AF61-4096-A3AF-85252D372415}">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Encourage discussion </a:t>
          </a:r>
          <a:endParaRPr lang="en-US" sz="1900" kern="1200"/>
        </a:p>
      </dsp:txBody>
      <dsp:txXfrm>
        <a:off x="5671332" y="2684598"/>
        <a:ext cx="2370489" cy="720000"/>
      </dsp:txXfrm>
    </dsp:sp>
    <dsp:sp modelId="{8D956DE1-9562-4648-9725-4269CA4BA978}">
      <dsp:nvSpPr>
        <dsp:cNvPr id="0" name=""/>
        <dsp:cNvSpPr/>
      </dsp:nvSpPr>
      <dsp:spPr>
        <a:xfrm>
          <a:off x="8918902" y="788206"/>
          <a:ext cx="1445998" cy="1445998"/>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33B442-953C-495E-8C56-3905EEAE1297}">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176A36-E552-418C-81F7-BF2A4C57BE1E}">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MY" sz="1900" kern="1200"/>
            <a:t>Record responses for later analysis.</a:t>
          </a:r>
          <a:endParaRPr lang="en-US" sz="1900" kern="1200"/>
        </a:p>
      </dsp:txBody>
      <dsp:txXfrm>
        <a:off x="8456657" y="26845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5CD02-4727-3C62-E41A-E635C75A377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1AC760B-3ABF-956B-767D-8FD08C31FC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F7014FE-44E9-774A-B434-AB905B203BD3}"/>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5" name="Footer Placeholder 4">
            <a:extLst>
              <a:ext uri="{FF2B5EF4-FFF2-40B4-BE49-F238E27FC236}">
                <a16:creationId xmlns:a16="http://schemas.microsoft.com/office/drawing/2014/main" id="{D11D48D2-D414-C6B2-7D3A-FC77C0334F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96CD53-9002-21A1-5B09-326489F7D04A}"/>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584399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51D4-E982-4091-3828-66BCE76633C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B40FF4-4DE0-2FC0-9A90-DAD970E37E7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23B138-94AD-BCFF-67F6-8675772A5140}"/>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5" name="Footer Placeholder 4">
            <a:extLst>
              <a:ext uri="{FF2B5EF4-FFF2-40B4-BE49-F238E27FC236}">
                <a16:creationId xmlns:a16="http://schemas.microsoft.com/office/drawing/2014/main" id="{769ECDEC-43A5-193B-9E35-CE1284CA9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C9CD0-FB42-9893-4331-BF9A7C26EFD2}"/>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482067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8A2D3-61CC-EC6F-6555-7BF77565C88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67EDEF9-97F3-CF09-4FDB-08EC3BC7F7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A2B53BC-8176-0C0C-FDCE-D8F0ECCCAB99}"/>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5" name="Footer Placeholder 4">
            <a:extLst>
              <a:ext uri="{FF2B5EF4-FFF2-40B4-BE49-F238E27FC236}">
                <a16:creationId xmlns:a16="http://schemas.microsoft.com/office/drawing/2014/main" id="{410AA552-B071-F04F-C9B0-26B72571F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7913BD-BA10-B53E-DF7A-55ACA085A2C9}"/>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082604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E019-844C-6E35-3AE6-EE433DD87B4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F99492A-2E09-5D7A-0934-2CC2B000FD4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AAA295-14A2-9B1A-3502-49E891854E2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44D62A5-B36A-251F-9481-9D4FEE55EEEB}"/>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6" name="Footer Placeholder 5">
            <a:extLst>
              <a:ext uri="{FF2B5EF4-FFF2-40B4-BE49-F238E27FC236}">
                <a16:creationId xmlns:a16="http://schemas.microsoft.com/office/drawing/2014/main" id="{A44D6D0A-CCB1-8BA6-3CE4-E15DCA965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CA9642-88D1-E5F5-A990-3B3FDF9022CA}"/>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210888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19197-5734-CB18-DB13-CFC2F210F8A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2338FE9-D2D8-44CD-4E1E-6BFB3A00E1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561D5CA-EAD3-5231-34BC-AA8DE6F09F3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5AA7858-04A2-D3D3-DE28-8FD29A38EC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0DF2693-B930-1958-C454-76E975B4232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B51C36A-11CC-DC28-EB85-019589A29817}"/>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8" name="Footer Placeholder 7">
            <a:extLst>
              <a:ext uri="{FF2B5EF4-FFF2-40B4-BE49-F238E27FC236}">
                <a16:creationId xmlns:a16="http://schemas.microsoft.com/office/drawing/2014/main" id="{B6EB525A-1B97-1D25-B084-D6739C41A9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33EB04-097E-FC85-8CD3-FD21B99C6F23}"/>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732561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122F-5B6A-3BFD-FFD4-DD5CAD1F34C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1FEA704-EC27-9907-F006-63A7D8C0B8C5}"/>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4" name="Footer Placeholder 3">
            <a:extLst>
              <a:ext uri="{FF2B5EF4-FFF2-40B4-BE49-F238E27FC236}">
                <a16:creationId xmlns:a16="http://schemas.microsoft.com/office/drawing/2014/main" id="{D12A68F6-7187-7F30-A7FB-1BE6199346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CE1F51-36F1-44E3-7FE7-8F596712B7E4}"/>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1211331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C7A5F2-82FB-AA1F-CA8D-D399267419D1}"/>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3" name="Footer Placeholder 2">
            <a:extLst>
              <a:ext uri="{FF2B5EF4-FFF2-40B4-BE49-F238E27FC236}">
                <a16:creationId xmlns:a16="http://schemas.microsoft.com/office/drawing/2014/main" id="{1B3F87DC-1B1F-7E5B-0310-D8C04CC9F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BC2110-5C40-F1C3-C98A-6FA5CA66349D}"/>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27281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CE1CA-2B3E-A7D4-600C-67964385E2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28A4EB0-F6DE-8B06-B248-BEC7D286AB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273FD7F-1362-CA68-9DCB-F4C44CEBD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51A290-7697-B5DD-6331-ABFC5947CD68}"/>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6" name="Footer Placeholder 5">
            <a:extLst>
              <a:ext uri="{FF2B5EF4-FFF2-40B4-BE49-F238E27FC236}">
                <a16:creationId xmlns:a16="http://schemas.microsoft.com/office/drawing/2014/main" id="{E473FD13-2043-8406-AEF3-1601292F8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891B86-6490-3BCF-A8B1-4D4FB863448C}"/>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3497208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25E5E-F634-3068-7DDB-56E61D59BB7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2DEFED9-1386-7345-8FFD-A62AD60CE9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17EB44-7AF2-E82E-8E66-C7EC10BF96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90C659-08AE-76EE-1B46-C5465232DA95}"/>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6" name="Footer Placeholder 5">
            <a:extLst>
              <a:ext uri="{FF2B5EF4-FFF2-40B4-BE49-F238E27FC236}">
                <a16:creationId xmlns:a16="http://schemas.microsoft.com/office/drawing/2014/main" id="{0AC4E3AA-E33E-13D1-F4FE-604DEBF473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C22B9-C2CD-176A-50F2-EE62D59C4853}"/>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2848122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FAA21-9D6E-BC33-13FE-B31C016BC08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FF8E8F-2233-7E1B-1BF7-F790FBE99F1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DF7E879-FB51-CB52-3291-D9DF1110140E}"/>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5" name="Footer Placeholder 4">
            <a:extLst>
              <a:ext uri="{FF2B5EF4-FFF2-40B4-BE49-F238E27FC236}">
                <a16:creationId xmlns:a16="http://schemas.microsoft.com/office/drawing/2014/main" id="{5372D922-3105-3CA7-BDA3-EF81C7AC8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6CFD5-2CFD-DE52-AE25-4DDF922E3B2B}"/>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1701645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C34D38-6B73-BF69-9EF1-47BBBEBA7D6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BB57A7-E466-52FD-B3A4-D72E84F01E1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7E37AF-C1AD-C915-3929-0843E3F517C6}"/>
              </a:ext>
            </a:extLst>
          </p:cNvPr>
          <p:cNvSpPr>
            <a:spLocks noGrp="1"/>
          </p:cNvSpPr>
          <p:nvPr>
            <p:ph type="dt" sz="half" idx="10"/>
          </p:nvPr>
        </p:nvSpPr>
        <p:spPr/>
        <p:txBody>
          <a:bodyPr/>
          <a:lstStyle/>
          <a:p>
            <a:fld id="{B5E88DBC-5224-F543-B2C9-102A40BEBD07}" type="datetimeFigureOut">
              <a:rPr lang="en-US" smtClean="0"/>
              <a:t>4/29/2025</a:t>
            </a:fld>
            <a:endParaRPr lang="en-US"/>
          </a:p>
        </p:txBody>
      </p:sp>
      <p:sp>
        <p:nvSpPr>
          <p:cNvPr id="5" name="Footer Placeholder 4">
            <a:extLst>
              <a:ext uri="{FF2B5EF4-FFF2-40B4-BE49-F238E27FC236}">
                <a16:creationId xmlns:a16="http://schemas.microsoft.com/office/drawing/2014/main" id="{4497BE05-A930-F98E-0D36-953B26D4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053C8-A458-43B1-BDB5-9DEBCD077E73}"/>
              </a:ext>
            </a:extLst>
          </p:cNvPr>
          <p:cNvSpPr>
            <a:spLocks noGrp="1"/>
          </p:cNvSpPr>
          <p:nvPr>
            <p:ph type="sldNum" sz="quarter" idx="12"/>
          </p:nvPr>
        </p:nvSpPr>
        <p:spPr/>
        <p:txBody>
          <a:bodyPr/>
          <a:lstStyle/>
          <a:p>
            <a:fld id="{AC6695E1-F5CB-8044-B4F1-8E91BA21D1CE}" type="slidenum">
              <a:rPr lang="en-US" smtClean="0"/>
              <a:t>‹#›</a:t>
            </a:fld>
            <a:endParaRPr lang="en-US"/>
          </a:p>
        </p:txBody>
      </p:sp>
    </p:spTree>
    <p:extLst>
      <p:ext uri="{BB962C8B-B14F-4D97-AF65-F5344CB8AC3E}">
        <p14:creationId xmlns:p14="http://schemas.microsoft.com/office/powerpoint/2010/main" val="3839963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85C190-AE91-C542-C4CF-3D95B1EDD6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B9A61D2-0499-C51B-7D93-17065E4404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46A4B4-5E15-3704-0AAB-FD7A682E66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E88DBC-5224-F543-B2C9-102A40BEBD07}" type="datetimeFigureOut">
              <a:rPr lang="en-US" smtClean="0"/>
              <a:t>4/29/2025</a:t>
            </a:fld>
            <a:endParaRPr lang="en-US"/>
          </a:p>
        </p:txBody>
      </p:sp>
      <p:sp>
        <p:nvSpPr>
          <p:cNvPr id="5" name="Footer Placeholder 4">
            <a:extLst>
              <a:ext uri="{FF2B5EF4-FFF2-40B4-BE49-F238E27FC236}">
                <a16:creationId xmlns:a16="http://schemas.microsoft.com/office/drawing/2014/main" id="{B76F80A5-C8F0-F366-AE5C-D6B189F19B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8FD4F0-EA82-2292-7B22-9340751FE2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6695E1-F5CB-8044-B4F1-8E91BA21D1CE}" type="slidenum">
              <a:rPr lang="en-US" smtClean="0"/>
              <a:t>‹#›</a:t>
            </a:fld>
            <a:endParaRPr lang="en-US"/>
          </a:p>
        </p:txBody>
      </p:sp>
    </p:spTree>
    <p:extLst>
      <p:ext uri="{BB962C8B-B14F-4D97-AF65-F5344CB8AC3E}">
        <p14:creationId xmlns:p14="http://schemas.microsoft.com/office/powerpoint/2010/main" val="981341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1 – Introduction to Requirements Engineering</a:t>
            </a:r>
          </a:p>
          <a:p>
            <a:pPr algn="l"/>
            <a:r>
              <a:rPr lang="en-US" sz="1600" dirty="0"/>
              <a:t>CLO 1</a:t>
            </a:r>
          </a:p>
          <a:p>
            <a:pPr algn="l"/>
            <a:r>
              <a:rPr lang="en-US" sz="1600" dirty="0"/>
              <a:t>4 Hours</a:t>
            </a:r>
          </a:p>
        </p:txBody>
      </p:sp>
    </p:spTree>
    <p:extLst>
      <p:ext uri="{BB962C8B-B14F-4D97-AF65-F5344CB8AC3E}">
        <p14:creationId xmlns:p14="http://schemas.microsoft.com/office/powerpoint/2010/main" val="3477311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E4DC-7165-4E4B-65B7-AA26111AD458}"/>
              </a:ext>
            </a:extLst>
          </p:cNvPr>
          <p:cNvSpPr>
            <a:spLocks noGrp="1"/>
          </p:cNvSpPr>
          <p:nvPr>
            <p:ph type="title"/>
          </p:nvPr>
        </p:nvSpPr>
        <p:spPr/>
        <p:txBody>
          <a:bodyPr/>
          <a:lstStyle/>
          <a:p>
            <a:r>
              <a:rPr lang="en-US" dirty="0"/>
              <a:t>Introduction to Software Engineering</a:t>
            </a:r>
          </a:p>
        </p:txBody>
      </p:sp>
      <p:sp>
        <p:nvSpPr>
          <p:cNvPr id="3" name="Content Placeholder 2">
            <a:extLst>
              <a:ext uri="{FF2B5EF4-FFF2-40B4-BE49-F238E27FC236}">
                <a16:creationId xmlns:a16="http://schemas.microsoft.com/office/drawing/2014/main" id="{753F7223-3E7F-76B9-2A79-757537C2A3A3}"/>
              </a:ext>
            </a:extLst>
          </p:cNvPr>
          <p:cNvSpPr>
            <a:spLocks noGrp="1"/>
          </p:cNvSpPr>
          <p:nvPr>
            <p:ph idx="1"/>
          </p:nvPr>
        </p:nvSpPr>
        <p:spPr>
          <a:xfrm>
            <a:off x="838200" y="1578199"/>
            <a:ext cx="10515600" cy="4351338"/>
          </a:xfrm>
        </p:spPr>
        <p:txBody>
          <a:bodyPr>
            <a:normAutofit fontScale="55000" lnSpcReduction="20000"/>
          </a:bodyPr>
          <a:lstStyle/>
          <a:p>
            <a:pPr marL="0" indent="0">
              <a:lnSpc>
                <a:spcPct val="120000"/>
              </a:lnSpc>
              <a:buNone/>
            </a:pPr>
            <a:r>
              <a:rPr lang="en-MY" b="1" dirty="0"/>
              <a:t>Definition:</a:t>
            </a:r>
            <a:br>
              <a:rPr lang="en-MY" dirty="0"/>
            </a:br>
            <a:r>
              <a:rPr lang="en-MY" dirty="0"/>
              <a:t>Software engineering is the application of engineering principles to the development, operation, and maintenance of software systems. It involves a systematic, disciplined, and quantifiable approach to software development, ensuring high quality and efficiency.</a:t>
            </a:r>
          </a:p>
          <a:p>
            <a:pPr marL="0" indent="0">
              <a:lnSpc>
                <a:spcPct val="120000"/>
              </a:lnSpc>
              <a:buNone/>
            </a:pPr>
            <a:r>
              <a:rPr lang="en-MY" b="1" dirty="0"/>
              <a:t>Key Components:</a:t>
            </a:r>
            <a:endParaRPr lang="en-MY" dirty="0"/>
          </a:p>
          <a:p>
            <a:pPr>
              <a:lnSpc>
                <a:spcPct val="120000"/>
              </a:lnSpc>
              <a:buFont typeface="+mj-lt"/>
              <a:buAutoNum type="arabicPeriod"/>
            </a:pPr>
            <a:r>
              <a:rPr lang="en-MY" b="1" dirty="0"/>
              <a:t>Processes:</a:t>
            </a:r>
            <a:br>
              <a:rPr lang="en-MY" dirty="0"/>
            </a:br>
            <a:r>
              <a:rPr lang="en-MY" dirty="0"/>
              <a:t>These are structured sequences of activities that guide software development, such as planning, analysis, design, implementation, testing, and maintenance. Processes ensure a systematic approach and are often tailored to project needs.</a:t>
            </a:r>
          </a:p>
          <a:p>
            <a:pPr>
              <a:lnSpc>
                <a:spcPct val="120000"/>
              </a:lnSpc>
              <a:buFont typeface="+mj-lt"/>
              <a:buAutoNum type="arabicPeriod"/>
            </a:pPr>
            <a:r>
              <a:rPr lang="en-MY" b="1" dirty="0"/>
              <a:t>Tools:</a:t>
            </a:r>
            <a:br>
              <a:rPr lang="en-MY" dirty="0"/>
            </a:br>
            <a:r>
              <a:rPr lang="en-MY" dirty="0"/>
              <a:t>Software tools are used to support processes and methodologies. Examples include integrated development environments (IDEs), version control systems, and testing frameworks.</a:t>
            </a:r>
          </a:p>
          <a:p>
            <a:pPr>
              <a:lnSpc>
                <a:spcPct val="120000"/>
              </a:lnSpc>
              <a:buFont typeface="+mj-lt"/>
              <a:buAutoNum type="arabicPeriod"/>
            </a:pPr>
            <a:r>
              <a:rPr lang="en-MY" b="1" dirty="0"/>
              <a:t>Methodologies:</a:t>
            </a:r>
            <a:br>
              <a:rPr lang="en-MY" dirty="0"/>
            </a:br>
            <a:r>
              <a:rPr lang="en-MY" dirty="0"/>
              <a:t>These are frameworks that dictate how processes are implemented. Examples include Agile, Waterfall, and DevOps. Methodologies help teams align on goals and strategies throughout the project lifecycle.</a:t>
            </a:r>
          </a:p>
          <a:p>
            <a:pPr>
              <a:lnSpc>
                <a:spcPct val="120000"/>
              </a:lnSpc>
            </a:pPr>
            <a:endParaRPr lang="en-US" dirty="0"/>
          </a:p>
        </p:txBody>
      </p:sp>
    </p:spTree>
    <p:extLst>
      <p:ext uri="{BB962C8B-B14F-4D97-AF65-F5344CB8AC3E}">
        <p14:creationId xmlns:p14="http://schemas.microsoft.com/office/powerpoint/2010/main" val="4257021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BC3B5-F690-823B-00C8-817D7030DB6D}"/>
              </a:ext>
            </a:extLst>
          </p:cNvPr>
          <p:cNvSpPr>
            <a:spLocks noGrp="1"/>
          </p:cNvSpPr>
          <p:nvPr>
            <p:ph type="title"/>
          </p:nvPr>
        </p:nvSpPr>
        <p:spPr/>
        <p:txBody>
          <a:bodyPr/>
          <a:lstStyle/>
          <a:p>
            <a:r>
              <a:rPr lang="en-MY" dirty="0"/>
              <a:t>Software Development Lifecycle (SDLC) Overview</a:t>
            </a:r>
            <a:endParaRPr lang="en-US" dirty="0"/>
          </a:p>
        </p:txBody>
      </p:sp>
      <p:graphicFrame>
        <p:nvGraphicFramePr>
          <p:cNvPr id="7" name="Content Placeholder 2">
            <a:extLst>
              <a:ext uri="{FF2B5EF4-FFF2-40B4-BE49-F238E27FC236}">
                <a16:creationId xmlns:a16="http://schemas.microsoft.com/office/drawing/2014/main" id="{E38217E7-A61B-4C13-CD56-2FDBAF3B8D78}"/>
              </a:ext>
            </a:extLst>
          </p:cNvPr>
          <p:cNvGraphicFramePr>
            <a:graphicFrameLocks/>
          </p:cNvGraphicFramePr>
          <p:nvPr>
            <p:extLst>
              <p:ext uri="{D42A27DB-BD31-4B8C-83A1-F6EECF244321}">
                <p14:modId xmlns:p14="http://schemas.microsoft.com/office/powerpoint/2010/main" val="3164276485"/>
              </p:ext>
            </p:extLst>
          </p:nvPr>
        </p:nvGraphicFramePr>
        <p:xfrm>
          <a:off x="632085" y="169068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5938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72FF2-AFD8-8A91-0647-CD8F351CC0DE}"/>
              </a:ext>
            </a:extLst>
          </p:cNvPr>
          <p:cNvSpPr>
            <a:spLocks noGrp="1"/>
          </p:cNvSpPr>
          <p:nvPr>
            <p:ph type="title"/>
          </p:nvPr>
        </p:nvSpPr>
        <p:spPr/>
        <p:txBody>
          <a:bodyPr/>
          <a:lstStyle/>
          <a:p>
            <a:r>
              <a:rPr lang="en-MY" dirty="0"/>
              <a:t>Importance of Processes in Software Development</a:t>
            </a:r>
            <a:endParaRPr lang="en-US" dirty="0"/>
          </a:p>
        </p:txBody>
      </p:sp>
      <p:sp>
        <p:nvSpPr>
          <p:cNvPr id="3" name="Content Placeholder 2">
            <a:extLst>
              <a:ext uri="{FF2B5EF4-FFF2-40B4-BE49-F238E27FC236}">
                <a16:creationId xmlns:a16="http://schemas.microsoft.com/office/drawing/2014/main" id="{B48E2489-3BB1-DF0C-7F30-BEFB0994A0E7}"/>
              </a:ext>
            </a:extLst>
          </p:cNvPr>
          <p:cNvSpPr>
            <a:spLocks noGrp="1"/>
          </p:cNvSpPr>
          <p:nvPr>
            <p:ph idx="1"/>
          </p:nvPr>
        </p:nvSpPr>
        <p:spPr/>
        <p:txBody>
          <a:bodyPr>
            <a:normAutofit fontScale="70000" lnSpcReduction="20000"/>
          </a:bodyPr>
          <a:lstStyle/>
          <a:p>
            <a:pPr>
              <a:lnSpc>
                <a:spcPct val="120000"/>
              </a:lnSpc>
            </a:pPr>
            <a:r>
              <a:rPr lang="en-MY" b="1" dirty="0"/>
              <a:t>Ensures Consistency and Quality:</a:t>
            </a:r>
            <a:br>
              <a:rPr lang="en-MY" dirty="0"/>
            </a:br>
            <a:r>
              <a:rPr lang="en-MY" dirty="0"/>
              <a:t>Well-defined processes help maintain consistency across teams and projects. By following standard procedures, teams can deliver software that meets quality expectations and adheres to best practices.</a:t>
            </a:r>
          </a:p>
          <a:p>
            <a:pPr>
              <a:lnSpc>
                <a:spcPct val="120000"/>
              </a:lnSpc>
            </a:pPr>
            <a:r>
              <a:rPr lang="en-MY" b="1" dirty="0"/>
              <a:t>Manages Complexity and Reduces Risks:</a:t>
            </a:r>
            <a:br>
              <a:rPr lang="en-MY" dirty="0"/>
            </a:br>
            <a:r>
              <a:rPr lang="en-MY" dirty="0"/>
              <a:t>Software development often involves handling complex systems and technologies. Processes help break down these complexities into manageable steps and identify potential risks early, allowing teams to mitigate them proactively.</a:t>
            </a:r>
          </a:p>
          <a:p>
            <a:pPr>
              <a:lnSpc>
                <a:spcPct val="120000"/>
              </a:lnSpc>
            </a:pPr>
            <a:r>
              <a:rPr lang="en-MY" b="1" dirty="0"/>
              <a:t>Facilitates Communication Among Stakeholders:</a:t>
            </a:r>
            <a:br>
              <a:rPr lang="en-MY" dirty="0"/>
            </a:br>
            <a:r>
              <a:rPr lang="en-MY" dirty="0"/>
              <a:t>Processes provide a common framework and terminology for developers, project managers, clients, and other stakeholders. This fosters better collaboration, clearer expectations, and alignment on project goals.</a:t>
            </a:r>
          </a:p>
          <a:p>
            <a:endParaRPr lang="en-US" dirty="0"/>
          </a:p>
        </p:txBody>
      </p:sp>
    </p:spTree>
    <p:extLst>
      <p:ext uri="{BB962C8B-B14F-4D97-AF65-F5344CB8AC3E}">
        <p14:creationId xmlns:p14="http://schemas.microsoft.com/office/powerpoint/2010/main" val="3499045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9D67F-D1DB-8A37-1E65-BDBD0AB72A69}"/>
              </a:ext>
            </a:extLst>
          </p:cNvPr>
          <p:cNvSpPr>
            <a:spLocks noGrp="1"/>
          </p:cNvSpPr>
          <p:nvPr>
            <p:ph type="title"/>
          </p:nvPr>
        </p:nvSpPr>
        <p:spPr/>
        <p:txBody>
          <a:bodyPr/>
          <a:lstStyle/>
          <a:p>
            <a:r>
              <a:rPr lang="en-MY" dirty="0"/>
              <a:t>Relationship Between Software Processes and Requirements</a:t>
            </a:r>
            <a:endParaRPr lang="en-US" dirty="0"/>
          </a:p>
        </p:txBody>
      </p:sp>
      <p:sp>
        <p:nvSpPr>
          <p:cNvPr id="3" name="Content Placeholder 2">
            <a:extLst>
              <a:ext uri="{FF2B5EF4-FFF2-40B4-BE49-F238E27FC236}">
                <a16:creationId xmlns:a16="http://schemas.microsoft.com/office/drawing/2014/main" id="{AFF602DF-1FC9-2FD6-4ECE-6E718E0CD9AD}"/>
              </a:ext>
            </a:extLst>
          </p:cNvPr>
          <p:cNvSpPr>
            <a:spLocks noGrp="1"/>
          </p:cNvSpPr>
          <p:nvPr>
            <p:ph idx="1"/>
          </p:nvPr>
        </p:nvSpPr>
        <p:spPr/>
        <p:txBody>
          <a:bodyPr>
            <a:normAutofit fontScale="62500" lnSpcReduction="20000"/>
          </a:bodyPr>
          <a:lstStyle/>
          <a:p>
            <a:pPr>
              <a:lnSpc>
                <a:spcPct val="120000"/>
              </a:lnSpc>
            </a:pPr>
            <a:r>
              <a:rPr lang="en-MY" b="1" dirty="0"/>
              <a:t>Foundation of Subsequent Phases:</a:t>
            </a:r>
            <a:br>
              <a:rPr lang="en-MY" dirty="0"/>
            </a:br>
            <a:r>
              <a:rPr lang="en-MY" dirty="0"/>
              <a:t>Requirements serve as the cornerstone of software development. They define what the software must do and set the scope of the project. All subsequent phases—design, implementation, testing, and maintenance—rely on accurate and comprehensive requirements.</a:t>
            </a:r>
          </a:p>
          <a:p>
            <a:pPr>
              <a:lnSpc>
                <a:spcPct val="120000"/>
              </a:lnSpc>
            </a:pPr>
            <a:r>
              <a:rPr lang="en-MY" b="1" dirty="0"/>
              <a:t>Impact of Poor Requirements:</a:t>
            </a:r>
            <a:br>
              <a:rPr lang="en-MY" dirty="0"/>
            </a:br>
            <a:r>
              <a:rPr lang="en-MY" dirty="0"/>
              <a:t>Ambiguous, incomplete, or incorrect requirements can lead to misaligned development efforts, increased costs, and delays. In worst-case scenarios, poor requirements can result in the complete failure of a project.</a:t>
            </a:r>
          </a:p>
          <a:p>
            <a:pPr>
              <a:lnSpc>
                <a:spcPct val="120000"/>
              </a:lnSpc>
            </a:pPr>
            <a:r>
              <a:rPr lang="en-MY" b="1" dirty="0"/>
              <a:t>Processes to Improve Requirement Quality:</a:t>
            </a:r>
            <a:endParaRPr lang="en-MY" dirty="0"/>
          </a:p>
          <a:p>
            <a:pPr lvl="1">
              <a:lnSpc>
                <a:spcPct val="120000"/>
              </a:lnSpc>
            </a:pPr>
            <a:r>
              <a:rPr lang="en-MY" b="1" dirty="0"/>
              <a:t>Requirement Elicitation:</a:t>
            </a:r>
            <a:r>
              <a:rPr lang="en-MY" dirty="0"/>
              <a:t> Engaging stakeholders through interviews, surveys, and workshops to gather detailed requirements.</a:t>
            </a:r>
          </a:p>
          <a:p>
            <a:pPr lvl="1">
              <a:lnSpc>
                <a:spcPct val="120000"/>
              </a:lnSpc>
            </a:pPr>
            <a:r>
              <a:rPr lang="en-MY" b="1" dirty="0"/>
              <a:t>Requirement Validation:</a:t>
            </a:r>
            <a:r>
              <a:rPr lang="en-MY" dirty="0"/>
              <a:t> Ensuring requirements are clear, consistent, and feasible before moving to the design phase.</a:t>
            </a:r>
          </a:p>
          <a:p>
            <a:pPr lvl="1">
              <a:lnSpc>
                <a:spcPct val="120000"/>
              </a:lnSpc>
            </a:pPr>
            <a:r>
              <a:rPr lang="en-MY" b="1" dirty="0"/>
              <a:t>Requirement Management:</a:t>
            </a:r>
            <a:r>
              <a:rPr lang="en-MY" dirty="0"/>
              <a:t> Continuously tracking and updating requirements throughout the project lifecycle.</a:t>
            </a:r>
          </a:p>
        </p:txBody>
      </p:sp>
    </p:spTree>
    <p:extLst>
      <p:ext uri="{BB962C8B-B14F-4D97-AF65-F5344CB8AC3E}">
        <p14:creationId xmlns:p14="http://schemas.microsoft.com/office/powerpoint/2010/main" val="3616317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939B-D408-610A-F78F-FE00FB572DFC}"/>
              </a:ext>
            </a:extLst>
          </p:cNvPr>
          <p:cNvSpPr>
            <a:spLocks noGrp="1"/>
          </p:cNvSpPr>
          <p:nvPr>
            <p:ph type="title"/>
          </p:nvPr>
        </p:nvSpPr>
        <p:spPr/>
        <p:txBody>
          <a:bodyPr/>
          <a:lstStyle/>
          <a:p>
            <a:r>
              <a:rPr lang="en-MY" dirty="0"/>
              <a:t>Definition of Requirements Engineering</a:t>
            </a:r>
            <a:endParaRPr lang="en-US" dirty="0"/>
          </a:p>
        </p:txBody>
      </p:sp>
      <p:sp>
        <p:nvSpPr>
          <p:cNvPr id="3" name="Content Placeholder 2">
            <a:extLst>
              <a:ext uri="{FF2B5EF4-FFF2-40B4-BE49-F238E27FC236}">
                <a16:creationId xmlns:a16="http://schemas.microsoft.com/office/drawing/2014/main" id="{7849F85D-EBB9-EBFC-078A-6C760067928D}"/>
              </a:ext>
            </a:extLst>
          </p:cNvPr>
          <p:cNvSpPr>
            <a:spLocks noGrp="1"/>
          </p:cNvSpPr>
          <p:nvPr>
            <p:ph idx="1"/>
          </p:nvPr>
        </p:nvSpPr>
        <p:spPr>
          <a:xfrm>
            <a:off x="838200" y="1556684"/>
            <a:ext cx="10515600" cy="4351338"/>
          </a:xfrm>
        </p:spPr>
        <p:txBody>
          <a:bodyPr>
            <a:normAutofit fontScale="62500" lnSpcReduction="20000"/>
          </a:bodyPr>
          <a:lstStyle/>
          <a:p>
            <a:pPr>
              <a:lnSpc>
                <a:spcPct val="120000"/>
              </a:lnSpc>
            </a:pPr>
            <a:r>
              <a:rPr lang="en-MY" b="1" dirty="0"/>
              <a:t>Definition:</a:t>
            </a:r>
            <a:br>
              <a:rPr lang="en-MY" dirty="0"/>
            </a:br>
            <a:r>
              <a:rPr lang="en-MY" dirty="0"/>
              <a:t>Requirements engineering is the systematic process of identifying, documenting, and maintaining software requirements. It ensures that the software being developed aligns with user needs and business goals. This process is iterative and involves continuous interaction with stakeholders.</a:t>
            </a:r>
          </a:p>
          <a:p>
            <a:pPr>
              <a:lnSpc>
                <a:spcPct val="120000"/>
              </a:lnSpc>
            </a:pPr>
            <a:r>
              <a:rPr lang="en-MY" b="1" dirty="0"/>
              <a:t>Key Activities in Requirements Engineering:</a:t>
            </a:r>
            <a:endParaRPr lang="en-MY" dirty="0"/>
          </a:p>
          <a:p>
            <a:pPr lvl="1">
              <a:lnSpc>
                <a:spcPct val="120000"/>
              </a:lnSpc>
              <a:buFont typeface="+mj-lt"/>
              <a:buAutoNum type="arabicPeriod"/>
            </a:pPr>
            <a:r>
              <a:rPr lang="en-MY" b="1" dirty="0"/>
              <a:t>Elicitation:</a:t>
            </a:r>
            <a:br>
              <a:rPr lang="en-MY" dirty="0"/>
            </a:br>
            <a:r>
              <a:rPr lang="en-MY" dirty="0"/>
              <a:t>Gathering requirements from stakeholders through interviews, surveys, observation, and workshops.</a:t>
            </a:r>
          </a:p>
          <a:p>
            <a:pPr lvl="1">
              <a:lnSpc>
                <a:spcPct val="120000"/>
              </a:lnSpc>
              <a:buFont typeface="+mj-lt"/>
              <a:buAutoNum type="arabicPeriod"/>
            </a:pPr>
            <a:r>
              <a:rPr lang="en-MY" b="1" dirty="0"/>
              <a:t>Documentation:</a:t>
            </a:r>
            <a:br>
              <a:rPr lang="en-MY" dirty="0"/>
            </a:br>
            <a:r>
              <a:rPr lang="en-MY" dirty="0"/>
              <a:t>Structuring the gathered requirements into clear, unambiguous, and verifiable documents, such as Software Requirement Specifications (SRS).</a:t>
            </a:r>
          </a:p>
          <a:p>
            <a:pPr lvl="1">
              <a:lnSpc>
                <a:spcPct val="120000"/>
              </a:lnSpc>
              <a:buFont typeface="+mj-lt"/>
              <a:buAutoNum type="arabicPeriod"/>
            </a:pPr>
            <a:r>
              <a:rPr lang="en-MY" b="1" dirty="0"/>
              <a:t>Validation:</a:t>
            </a:r>
            <a:br>
              <a:rPr lang="en-MY" dirty="0"/>
            </a:br>
            <a:r>
              <a:rPr lang="en-MY" dirty="0"/>
              <a:t>Ensuring that requirements are complete, feasible, and correctly understood by all parties.</a:t>
            </a:r>
          </a:p>
          <a:p>
            <a:pPr lvl="1">
              <a:lnSpc>
                <a:spcPct val="120000"/>
              </a:lnSpc>
              <a:buFont typeface="+mj-lt"/>
              <a:buAutoNum type="arabicPeriod"/>
            </a:pPr>
            <a:r>
              <a:rPr lang="en-MY" b="1" dirty="0"/>
              <a:t>Management:</a:t>
            </a:r>
            <a:br>
              <a:rPr lang="en-MY" dirty="0"/>
            </a:br>
            <a:r>
              <a:rPr lang="en-MY" dirty="0"/>
              <a:t>Maintaining and updating requirements throughout the software development lifecycle to address changes and evolving needs.</a:t>
            </a:r>
          </a:p>
          <a:p>
            <a:pPr>
              <a:lnSpc>
                <a:spcPct val="120000"/>
              </a:lnSpc>
            </a:pPr>
            <a:endParaRPr lang="en-US" dirty="0"/>
          </a:p>
        </p:txBody>
      </p:sp>
    </p:spTree>
    <p:extLst>
      <p:ext uri="{BB962C8B-B14F-4D97-AF65-F5344CB8AC3E}">
        <p14:creationId xmlns:p14="http://schemas.microsoft.com/office/powerpoint/2010/main" val="1727836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8341-16C4-6DCF-33AD-255386341253}"/>
              </a:ext>
            </a:extLst>
          </p:cNvPr>
          <p:cNvSpPr>
            <a:spLocks noGrp="1"/>
          </p:cNvSpPr>
          <p:nvPr>
            <p:ph type="title"/>
          </p:nvPr>
        </p:nvSpPr>
        <p:spPr/>
        <p:txBody>
          <a:bodyPr/>
          <a:lstStyle/>
          <a:p>
            <a:r>
              <a:rPr lang="en-MY" dirty="0"/>
              <a:t>Role of Requirements Engineering</a:t>
            </a:r>
            <a:endParaRPr lang="en-US" dirty="0"/>
          </a:p>
        </p:txBody>
      </p:sp>
      <p:sp>
        <p:nvSpPr>
          <p:cNvPr id="3" name="Content Placeholder 2">
            <a:extLst>
              <a:ext uri="{FF2B5EF4-FFF2-40B4-BE49-F238E27FC236}">
                <a16:creationId xmlns:a16="http://schemas.microsoft.com/office/drawing/2014/main" id="{BE4FF354-CD66-CB62-8420-6A47F34EB7C0}"/>
              </a:ext>
            </a:extLst>
          </p:cNvPr>
          <p:cNvSpPr>
            <a:spLocks noGrp="1"/>
          </p:cNvSpPr>
          <p:nvPr>
            <p:ph idx="1"/>
          </p:nvPr>
        </p:nvSpPr>
        <p:spPr/>
        <p:txBody>
          <a:bodyPr>
            <a:normAutofit fontScale="62500" lnSpcReduction="20000"/>
          </a:bodyPr>
          <a:lstStyle/>
          <a:p>
            <a:pPr>
              <a:lnSpc>
                <a:spcPct val="120000"/>
              </a:lnSpc>
            </a:pPr>
            <a:r>
              <a:rPr lang="en-MY" b="1" dirty="0"/>
              <a:t>Bridges the Gap Between Stakeholders and Developers:</a:t>
            </a:r>
            <a:br>
              <a:rPr lang="en-MY" dirty="0"/>
            </a:br>
            <a:r>
              <a:rPr lang="en-MY" dirty="0"/>
              <a:t>Requirements engineering acts as a mediator to translate stakeholder needs into technical specifications. It ensures that developers understand what the stakeholders want and why it’s important.</a:t>
            </a:r>
          </a:p>
          <a:p>
            <a:pPr>
              <a:lnSpc>
                <a:spcPct val="120000"/>
              </a:lnSpc>
            </a:pPr>
            <a:r>
              <a:rPr lang="en-MY" b="1" dirty="0"/>
              <a:t>Establishes a Clear Understanding of Project Goals:</a:t>
            </a:r>
            <a:br>
              <a:rPr lang="en-MY" dirty="0"/>
            </a:br>
            <a:r>
              <a:rPr lang="en-MY" dirty="0"/>
              <a:t>By defining and documenting requirements upfront, all project participants—stakeholders, developers, testers, and managers—gain a shared understanding of the project’s objectives and scope.</a:t>
            </a:r>
          </a:p>
          <a:p>
            <a:pPr>
              <a:lnSpc>
                <a:spcPct val="120000"/>
              </a:lnSpc>
            </a:pPr>
            <a:r>
              <a:rPr lang="en-MY" b="1" dirty="0"/>
              <a:t>Supports Decision-Making:</a:t>
            </a:r>
            <a:br>
              <a:rPr lang="en-MY" dirty="0"/>
            </a:br>
            <a:r>
              <a:rPr lang="en-MY" dirty="0"/>
              <a:t>Well-defined requirements provide a basis for making informed decisions during the project, such as prioritizing features or resolving conflicts between stakeholder expectations.</a:t>
            </a:r>
          </a:p>
          <a:p>
            <a:pPr>
              <a:lnSpc>
                <a:spcPct val="120000"/>
              </a:lnSpc>
            </a:pPr>
            <a:r>
              <a:rPr lang="en-MY" b="1" dirty="0"/>
              <a:t>Enhances Collaboration:</a:t>
            </a:r>
            <a:br>
              <a:rPr lang="en-MY" dirty="0"/>
            </a:br>
            <a:r>
              <a:rPr lang="en-MY" dirty="0"/>
              <a:t>It creates a structured process for continuous communication between the technical and non-technical members of the project team.</a:t>
            </a:r>
          </a:p>
          <a:p>
            <a:pPr>
              <a:lnSpc>
                <a:spcPct val="120000"/>
              </a:lnSpc>
            </a:pPr>
            <a:endParaRPr lang="en-US" dirty="0"/>
          </a:p>
        </p:txBody>
      </p:sp>
    </p:spTree>
    <p:extLst>
      <p:ext uri="{BB962C8B-B14F-4D97-AF65-F5344CB8AC3E}">
        <p14:creationId xmlns:p14="http://schemas.microsoft.com/office/powerpoint/2010/main" val="979767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4AF3-4495-79F7-A787-57FDBAF279EE}"/>
              </a:ext>
            </a:extLst>
          </p:cNvPr>
          <p:cNvSpPr>
            <a:spLocks noGrp="1"/>
          </p:cNvSpPr>
          <p:nvPr>
            <p:ph type="title"/>
          </p:nvPr>
        </p:nvSpPr>
        <p:spPr/>
        <p:txBody>
          <a:bodyPr/>
          <a:lstStyle/>
          <a:p>
            <a:r>
              <a:rPr lang="en-MY" dirty="0"/>
              <a:t>Importance of Requirements Engineering</a:t>
            </a:r>
            <a:endParaRPr lang="en-US" dirty="0"/>
          </a:p>
        </p:txBody>
      </p:sp>
      <p:sp>
        <p:nvSpPr>
          <p:cNvPr id="3" name="Content Placeholder 2">
            <a:extLst>
              <a:ext uri="{FF2B5EF4-FFF2-40B4-BE49-F238E27FC236}">
                <a16:creationId xmlns:a16="http://schemas.microsoft.com/office/drawing/2014/main" id="{90FEE265-5F7A-9A85-8125-CC2F7AF50C39}"/>
              </a:ext>
            </a:extLst>
          </p:cNvPr>
          <p:cNvSpPr>
            <a:spLocks noGrp="1"/>
          </p:cNvSpPr>
          <p:nvPr>
            <p:ph idx="1"/>
          </p:nvPr>
        </p:nvSpPr>
        <p:spPr/>
        <p:txBody>
          <a:bodyPr>
            <a:normAutofit fontScale="55000" lnSpcReduction="20000"/>
          </a:bodyPr>
          <a:lstStyle/>
          <a:p>
            <a:pPr>
              <a:lnSpc>
                <a:spcPct val="120000"/>
              </a:lnSpc>
            </a:pPr>
            <a:r>
              <a:rPr lang="en-MY" b="1" dirty="0"/>
              <a:t>Prevents Scope Creep:</a:t>
            </a:r>
            <a:br>
              <a:rPr lang="en-MY" dirty="0"/>
            </a:br>
            <a:r>
              <a:rPr lang="en-MY" dirty="0"/>
              <a:t>Requirements engineering helps in clearly defining the project scope, preventing uncontrolled expansion of features or functionality during development. This ensures the project stays on track and within budget.</a:t>
            </a:r>
          </a:p>
          <a:p>
            <a:pPr>
              <a:lnSpc>
                <a:spcPct val="120000"/>
              </a:lnSpc>
            </a:pPr>
            <a:r>
              <a:rPr lang="en-MY" b="1" dirty="0"/>
              <a:t>Reduces Development Costs and Time:</a:t>
            </a:r>
            <a:br>
              <a:rPr lang="en-MY" dirty="0"/>
            </a:br>
            <a:r>
              <a:rPr lang="en-MY" dirty="0"/>
              <a:t>Addressing and refining requirements early in the project lifecycle helps identify potential issues and misunderstandings, reducing costly rework during later stages.</a:t>
            </a:r>
          </a:p>
          <a:p>
            <a:pPr>
              <a:lnSpc>
                <a:spcPct val="120000"/>
              </a:lnSpc>
            </a:pPr>
            <a:r>
              <a:rPr lang="en-MY" b="1" dirty="0"/>
              <a:t>Improves Software Quality and User Satisfaction:</a:t>
            </a:r>
            <a:br>
              <a:rPr lang="en-MY" dirty="0"/>
            </a:br>
            <a:r>
              <a:rPr lang="en-MY" dirty="0"/>
              <a:t>By focusing on user needs and expectations, requirements engineering ensures that the delivered software is both functional and user-friendly, leading to higher satisfaction and usability.</a:t>
            </a:r>
          </a:p>
          <a:p>
            <a:pPr>
              <a:lnSpc>
                <a:spcPct val="120000"/>
              </a:lnSpc>
            </a:pPr>
            <a:r>
              <a:rPr lang="en-MY" b="1" dirty="0"/>
              <a:t>Minimizes Risks:</a:t>
            </a:r>
            <a:br>
              <a:rPr lang="en-MY" dirty="0"/>
            </a:br>
            <a:r>
              <a:rPr lang="en-MY" dirty="0"/>
              <a:t>A clear understanding of requirements helps identify risks early, such as technical feasibility or conflicts between stakeholder priorities, enabling better risk management strategies.</a:t>
            </a:r>
          </a:p>
          <a:p>
            <a:pPr>
              <a:lnSpc>
                <a:spcPct val="120000"/>
              </a:lnSpc>
            </a:pPr>
            <a:r>
              <a:rPr lang="en-MY" b="1" dirty="0"/>
              <a:t>Ensures Compliance:</a:t>
            </a:r>
            <a:br>
              <a:rPr lang="en-MY" dirty="0"/>
            </a:br>
            <a:r>
              <a:rPr lang="en-MY" dirty="0"/>
              <a:t>For industries with regulatory requirements, the process ensures that all necessary standards are met.</a:t>
            </a:r>
          </a:p>
          <a:p>
            <a:pPr>
              <a:lnSpc>
                <a:spcPct val="120000"/>
              </a:lnSpc>
            </a:pPr>
            <a:endParaRPr lang="en-US" dirty="0"/>
          </a:p>
        </p:txBody>
      </p:sp>
    </p:spTree>
    <p:extLst>
      <p:ext uri="{BB962C8B-B14F-4D97-AF65-F5344CB8AC3E}">
        <p14:creationId xmlns:p14="http://schemas.microsoft.com/office/powerpoint/2010/main" val="3381377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578D-1CAC-CA1A-E96C-7F21BCBEB994}"/>
              </a:ext>
            </a:extLst>
          </p:cNvPr>
          <p:cNvSpPr>
            <a:spLocks noGrp="1"/>
          </p:cNvSpPr>
          <p:nvPr>
            <p:ph type="title"/>
          </p:nvPr>
        </p:nvSpPr>
        <p:spPr/>
        <p:txBody>
          <a:bodyPr/>
          <a:lstStyle/>
          <a:p>
            <a:r>
              <a:rPr lang="en-MY" dirty="0"/>
              <a:t>Challenges in Requirements Engineering</a:t>
            </a:r>
            <a:endParaRPr lang="en-US" dirty="0"/>
          </a:p>
        </p:txBody>
      </p:sp>
      <p:sp>
        <p:nvSpPr>
          <p:cNvPr id="3" name="Content Placeholder 2">
            <a:extLst>
              <a:ext uri="{FF2B5EF4-FFF2-40B4-BE49-F238E27FC236}">
                <a16:creationId xmlns:a16="http://schemas.microsoft.com/office/drawing/2014/main" id="{D3FDCC0D-DF7A-84C3-F7CF-8358830863B7}"/>
              </a:ext>
            </a:extLst>
          </p:cNvPr>
          <p:cNvSpPr>
            <a:spLocks noGrp="1"/>
          </p:cNvSpPr>
          <p:nvPr>
            <p:ph idx="1"/>
          </p:nvPr>
        </p:nvSpPr>
        <p:spPr/>
        <p:txBody>
          <a:bodyPr>
            <a:normAutofit fontScale="55000" lnSpcReduction="20000"/>
          </a:bodyPr>
          <a:lstStyle/>
          <a:p>
            <a:pPr>
              <a:lnSpc>
                <a:spcPct val="120000"/>
              </a:lnSpc>
            </a:pPr>
            <a:r>
              <a:rPr lang="en-MY" b="1" dirty="0"/>
              <a:t>Changing Requirements:</a:t>
            </a:r>
            <a:br>
              <a:rPr lang="en-MY" dirty="0"/>
            </a:br>
            <a:r>
              <a:rPr lang="en-MY" dirty="0"/>
              <a:t>Stakeholders’ needs may evolve over time due to market changes, new business goals, or feedback from early stages of development. Managing these changes while minimizing their impact is a significant challenge.</a:t>
            </a:r>
          </a:p>
          <a:p>
            <a:pPr>
              <a:lnSpc>
                <a:spcPct val="120000"/>
              </a:lnSpc>
            </a:pPr>
            <a:r>
              <a:rPr lang="en-MY" b="1" dirty="0"/>
              <a:t>Ambiguities and Misunderstandings:</a:t>
            </a:r>
            <a:br>
              <a:rPr lang="en-MY" dirty="0"/>
            </a:br>
            <a:r>
              <a:rPr lang="en-MY" dirty="0"/>
              <a:t>Requirements may be written or communicated in a way that is unclear, leading to differing interpretations by stakeholders and developers.</a:t>
            </a:r>
          </a:p>
          <a:p>
            <a:pPr>
              <a:lnSpc>
                <a:spcPct val="120000"/>
              </a:lnSpc>
            </a:pPr>
            <a:r>
              <a:rPr lang="en-MY" b="1" dirty="0"/>
              <a:t>Communication Gaps Among Stakeholders:</a:t>
            </a:r>
            <a:br>
              <a:rPr lang="en-MY" dirty="0"/>
            </a:br>
            <a:r>
              <a:rPr lang="en-MY" dirty="0"/>
              <a:t>Stakeholders may have conflicting goals or use different terminology, making it challenging to align their expectations.</a:t>
            </a:r>
          </a:p>
          <a:p>
            <a:pPr>
              <a:lnSpc>
                <a:spcPct val="120000"/>
              </a:lnSpc>
            </a:pPr>
            <a:r>
              <a:rPr lang="en-MY" b="1" dirty="0"/>
              <a:t>Limited Stakeholder Involvement:</a:t>
            </a:r>
            <a:br>
              <a:rPr lang="en-MY" dirty="0"/>
            </a:br>
            <a:r>
              <a:rPr lang="en-MY" dirty="0"/>
              <a:t>If stakeholders are not actively engaged in the requirements process, critical needs may be overlooked or misunderstood.</a:t>
            </a:r>
          </a:p>
          <a:p>
            <a:pPr>
              <a:lnSpc>
                <a:spcPct val="120000"/>
              </a:lnSpc>
            </a:pPr>
            <a:r>
              <a:rPr lang="en-MY" b="1" dirty="0"/>
              <a:t>Technical Feasibility Issues:</a:t>
            </a:r>
            <a:br>
              <a:rPr lang="en-MY" dirty="0"/>
            </a:br>
            <a:r>
              <a:rPr lang="en-MY" dirty="0"/>
              <a:t>Some requirements may not be technically or financially feasible, requiring negotiation and adjustment to align with constraints.</a:t>
            </a:r>
          </a:p>
          <a:p>
            <a:pPr>
              <a:lnSpc>
                <a:spcPct val="120000"/>
              </a:lnSpc>
            </a:pPr>
            <a:endParaRPr lang="en-US" dirty="0"/>
          </a:p>
        </p:txBody>
      </p:sp>
    </p:spTree>
    <p:extLst>
      <p:ext uri="{BB962C8B-B14F-4D97-AF65-F5344CB8AC3E}">
        <p14:creationId xmlns:p14="http://schemas.microsoft.com/office/powerpoint/2010/main" val="469998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EF2C-7A97-A84C-27EF-C21347959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86FE1-38DF-1EEA-6EDA-D125588E4DD8}"/>
              </a:ext>
            </a:extLst>
          </p:cNvPr>
          <p:cNvSpPr>
            <a:spLocks noGrp="1"/>
          </p:cNvSpPr>
          <p:nvPr>
            <p:ph type="title"/>
          </p:nvPr>
        </p:nvSpPr>
        <p:spPr/>
        <p:txBody>
          <a:bodyPr/>
          <a:lstStyle/>
          <a:p>
            <a:r>
              <a:rPr lang="en-MY" dirty="0"/>
              <a:t>Challenges in Requirements Engineering</a:t>
            </a:r>
            <a:endParaRPr lang="en-US" dirty="0"/>
          </a:p>
        </p:txBody>
      </p:sp>
      <p:sp>
        <p:nvSpPr>
          <p:cNvPr id="3" name="Content Placeholder 2">
            <a:extLst>
              <a:ext uri="{FF2B5EF4-FFF2-40B4-BE49-F238E27FC236}">
                <a16:creationId xmlns:a16="http://schemas.microsoft.com/office/drawing/2014/main" id="{DC61A445-B25A-1E5F-574A-77BF059A1859}"/>
              </a:ext>
            </a:extLst>
          </p:cNvPr>
          <p:cNvSpPr>
            <a:spLocks noGrp="1"/>
          </p:cNvSpPr>
          <p:nvPr>
            <p:ph idx="1"/>
          </p:nvPr>
        </p:nvSpPr>
        <p:spPr/>
        <p:txBody>
          <a:bodyPr>
            <a:normAutofit/>
          </a:bodyPr>
          <a:lstStyle/>
          <a:p>
            <a:r>
              <a:rPr lang="en-MY" b="1" dirty="0"/>
              <a:t>Addressing These Challenges:</a:t>
            </a:r>
            <a:endParaRPr lang="en-MY" dirty="0"/>
          </a:p>
          <a:p>
            <a:pPr lvl="1"/>
            <a:r>
              <a:rPr lang="en-MY" dirty="0"/>
              <a:t>Use clear, unambiguous language and visual aids like diagrams.</a:t>
            </a:r>
          </a:p>
          <a:p>
            <a:pPr lvl="1"/>
            <a:r>
              <a:rPr lang="en-MY" dirty="0"/>
              <a:t>Involve stakeholders continuously throughout the process.</a:t>
            </a:r>
          </a:p>
          <a:p>
            <a:pPr lvl="1"/>
            <a:r>
              <a:rPr lang="en-MY" dirty="0"/>
              <a:t>Employ requirement management tools for tracking changes.</a:t>
            </a:r>
          </a:p>
          <a:p>
            <a:pPr lvl="1"/>
            <a:r>
              <a:rPr lang="en-MY" dirty="0"/>
              <a:t>Conduct regular validation sessions to ensure alignment among all parties.</a:t>
            </a:r>
          </a:p>
          <a:p>
            <a:pPr marL="0" indent="0">
              <a:lnSpc>
                <a:spcPct val="120000"/>
              </a:lnSpc>
              <a:buNone/>
            </a:pPr>
            <a:endParaRPr lang="en-US" dirty="0"/>
          </a:p>
        </p:txBody>
      </p:sp>
    </p:spTree>
    <p:extLst>
      <p:ext uri="{BB962C8B-B14F-4D97-AF65-F5344CB8AC3E}">
        <p14:creationId xmlns:p14="http://schemas.microsoft.com/office/powerpoint/2010/main" val="1210850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975C-189C-8C9F-7793-1C071C86E025}"/>
              </a:ext>
            </a:extLst>
          </p:cNvPr>
          <p:cNvSpPr>
            <a:spLocks noGrp="1"/>
          </p:cNvSpPr>
          <p:nvPr>
            <p:ph type="title"/>
          </p:nvPr>
        </p:nvSpPr>
        <p:spPr/>
        <p:txBody>
          <a:bodyPr/>
          <a:lstStyle/>
          <a:p>
            <a:r>
              <a:rPr lang="en-MY" dirty="0"/>
              <a:t>Overview of Requirements Engineering Activities</a:t>
            </a:r>
            <a:endParaRPr lang="en-US" dirty="0"/>
          </a:p>
        </p:txBody>
      </p:sp>
      <p:sp>
        <p:nvSpPr>
          <p:cNvPr id="3" name="Content Placeholder 2">
            <a:extLst>
              <a:ext uri="{FF2B5EF4-FFF2-40B4-BE49-F238E27FC236}">
                <a16:creationId xmlns:a16="http://schemas.microsoft.com/office/drawing/2014/main" id="{76408980-D17B-6319-40F8-F698B0484EC8}"/>
              </a:ext>
            </a:extLst>
          </p:cNvPr>
          <p:cNvSpPr>
            <a:spLocks noGrp="1"/>
          </p:cNvSpPr>
          <p:nvPr>
            <p:ph idx="1"/>
          </p:nvPr>
        </p:nvSpPr>
        <p:spPr/>
        <p:txBody>
          <a:bodyPr>
            <a:normAutofit fontScale="70000" lnSpcReduction="20000"/>
          </a:bodyPr>
          <a:lstStyle/>
          <a:p>
            <a:pPr>
              <a:lnSpc>
                <a:spcPct val="120000"/>
              </a:lnSpc>
            </a:pPr>
            <a:r>
              <a:rPr lang="en-MY" b="1" dirty="0"/>
              <a:t>Requirements Engineering Activities:</a:t>
            </a:r>
            <a:endParaRPr lang="en-MY" dirty="0"/>
          </a:p>
          <a:p>
            <a:pPr lvl="1">
              <a:lnSpc>
                <a:spcPct val="120000"/>
              </a:lnSpc>
              <a:buFont typeface="+mj-lt"/>
              <a:buAutoNum type="arabicPeriod"/>
            </a:pPr>
            <a:r>
              <a:rPr lang="en-MY" b="1" dirty="0"/>
              <a:t>Elicitation:</a:t>
            </a:r>
            <a:br>
              <a:rPr lang="en-MY" dirty="0"/>
            </a:br>
            <a:r>
              <a:rPr lang="en-MY" dirty="0"/>
              <a:t>The process of gathering requirements from stakeholders to understand what the system should do.</a:t>
            </a:r>
          </a:p>
          <a:p>
            <a:pPr lvl="1">
              <a:lnSpc>
                <a:spcPct val="120000"/>
              </a:lnSpc>
              <a:buFont typeface="+mj-lt"/>
              <a:buAutoNum type="arabicPeriod"/>
            </a:pPr>
            <a:r>
              <a:rPr lang="en-MY" b="1" dirty="0"/>
              <a:t>Analysis:</a:t>
            </a:r>
            <a:br>
              <a:rPr lang="en-MY" dirty="0"/>
            </a:br>
            <a:r>
              <a:rPr lang="en-MY" dirty="0"/>
              <a:t>Understanding, refining, and prioritizing requirements to ensure they are feasible and align with project goals.</a:t>
            </a:r>
          </a:p>
          <a:p>
            <a:pPr lvl="1">
              <a:lnSpc>
                <a:spcPct val="120000"/>
              </a:lnSpc>
              <a:buFont typeface="+mj-lt"/>
              <a:buAutoNum type="arabicPeriod"/>
            </a:pPr>
            <a:r>
              <a:rPr lang="en-MY" b="1" dirty="0"/>
              <a:t>Specification:</a:t>
            </a:r>
            <a:br>
              <a:rPr lang="en-MY" dirty="0"/>
            </a:br>
            <a:r>
              <a:rPr lang="en-MY" dirty="0"/>
              <a:t>Documenting requirements in a structured format to serve as a reference for all project phases.</a:t>
            </a:r>
          </a:p>
          <a:p>
            <a:pPr lvl="1">
              <a:lnSpc>
                <a:spcPct val="120000"/>
              </a:lnSpc>
              <a:buFont typeface="+mj-lt"/>
              <a:buAutoNum type="arabicPeriod"/>
            </a:pPr>
            <a:r>
              <a:rPr lang="en-MY" b="1" dirty="0"/>
              <a:t>Validation:</a:t>
            </a:r>
            <a:br>
              <a:rPr lang="en-MY" dirty="0"/>
            </a:br>
            <a:r>
              <a:rPr lang="en-MY" dirty="0"/>
              <a:t>Verifying that the documented requirements meet user needs and are complete, consistent, and feasible.</a:t>
            </a:r>
          </a:p>
          <a:p>
            <a:pPr lvl="1">
              <a:lnSpc>
                <a:spcPct val="120000"/>
              </a:lnSpc>
              <a:buFont typeface="+mj-lt"/>
              <a:buAutoNum type="arabicPeriod"/>
            </a:pPr>
            <a:r>
              <a:rPr lang="en-MY" b="1" dirty="0"/>
              <a:t>Management:</a:t>
            </a:r>
            <a:br>
              <a:rPr lang="en-MY" dirty="0"/>
            </a:br>
            <a:r>
              <a:rPr lang="en-MY" dirty="0"/>
              <a:t>Handling changes to requirements throughout the project lifecycle to ensure alignment with evolving needs.</a:t>
            </a:r>
          </a:p>
          <a:p>
            <a:pPr marL="0" indent="0">
              <a:lnSpc>
                <a:spcPct val="120000"/>
              </a:lnSpc>
              <a:buNone/>
            </a:pPr>
            <a:endParaRPr lang="en-US" dirty="0"/>
          </a:p>
        </p:txBody>
      </p:sp>
    </p:spTree>
    <p:extLst>
      <p:ext uri="{BB962C8B-B14F-4D97-AF65-F5344CB8AC3E}">
        <p14:creationId xmlns:p14="http://schemas.microsoft.com/office/powerpoint/2010/main" val="3868776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40B8D-EF8E-EB90-DCF6-8D92C5A4C428}"/>
              </a:ext>
            </a:extLst>
          </p:cNvPr>
          <p:cNvSpPr>
            <a:spLocks noGrp="1"/>
          </p:cNvSpPr>
          <p:nvPr>
            <p:ph type="title"/>
          </p:nvPr>
        </p:nvSpPr>
        <p:spPr/>
        <p:txBody>
          <a:bodyPr/>
          <a:lstStyle/>
          <a:p>
            <a:r>
              <a:rPr lang="en-US" dirty="0"/>
              <a:t>Elicitation</a:t>
            </a:r>
          </a:p>
        </p:txBody>
      </p:sp>
      <p:sp>
        <p:nvSpPr>
          <p:cNvPr id="3" name="Content Placeholder 2">
            <a:extLst>
              <a:ext uri="{FF2B5EF4-FFF2-40B4-BE49-F238E27FC236}">
                <a16:creationId xmlns:a16="http://schemas.microsoft.com/office/drawing/2014/main" id="{2B006D0C-4D07-F868-0311-CFEAF77942B5}"/>
              </a:ext>
            </a:extLst>
          </p:cNvPr>
          <p:cNvSpPr>
            <a:spLocks noGrp="1"/>
          </p:cNvSpPr>
          <p:nvPr>
            <p:ph idx="1"/>
          </p:nvPr>
        </p:nvSpPr>
        <p:spPr/>
        <p:txBody>
          <a:bodyPr>
            <a:normAutofit fontScale="70000" lnSpcReduction="20000"/>
          </a:bodyPr>
          <a:lstStyle/>
          <a:p>
            <a:pPr>
              <a:lnSpc>
                <a:spcPct val="120000"/>
              </a:lnSpc>
            </a:pPr>
            <a:r>
              <a:rPr lang="en-MY" b="1" dirty="0"/>
              <a:t>Definition:</a:t>
            </a:r>
            <a:br>
              <a:rPr lang="en-MY" dirty="0"/>
            </a:br>
            <a:r>
              <a:rPr lang="en-MY" dirty="0"/>
              <a:t>Elicitation is the process of gathering and discovering requirements from stakeholders and other sources. It is the foundation of requirements engineering and involves active engagement with stakeholders.</a:t>
            </a:r>
          </a:p>
          <a:p>
            <a:pPr>
              <a:lnSpc>
                <a:spcPct val="120000"/>
              </a:lnSpc>
            </a:pPr>
            <a:r>
              <a:rPr lang="en-MY" b="1" dirty="0"/>
              <a:t>Techniques:</a:t>
            </a:r>
            <a:endParaRPr lang="en-MY" dirty="0"/>
          </a:p>
          <a:p>
            <a:pPr lvl="1">
              <a:lnSpc>
                <a:spcPct val="120000"/>
              </a:lnSpc>
              <a:buFont typeface="+mj-lt"/>
              <a:buAutoNum type="arabicPeriod"/>
            </a:pPr>
            <a:r>
              <a:rPr lang="en-MY" b="1" dirty="0"/>
              <a:t>Interviews:</a:t>
            </a:r>
            <a:br>
              <a:rPr lang="en-MY" dirty="0"/>
            </a:br>
            <a:r>
              <a:rPr lang="en-MY" dirty="0"/>
              <a:t>Conducting one-on-one or group discussions to understand stakeholder needs and expectations.</a:t>
            </a:r>
          </a:p>
          <a:p>
            <a:pPr lvl="1">
              <a:lnSpc>
                <a:spcPct val="120000"/>
              </a:lnSpc>
              <a:buFont typeface="+mj-lt"/>
              <a:buAutoNum type="arabicPeriod"/>
            </a:pPr>
            <a:r>
              <a:rPr lang="en-MY" b="1" dirty="0"/>
              <a:t>Surveys and Questionnaires:</a:t>
            </a:r>
            <a:br>
              <a:rPr lang="en-MY" dirty="0"/>
            </a:br>
            <a:r>
              <a:rPr lang="en-MY" dirty="0"/>
              <a:t>Distributing structured forms to collect information from a larger group of stakeholders.</a:t>
            </a:r>
          </a:p>
          <a:p>
            <a:pPr lvl="1">
              <a:lnSpc>
                <a:spcPct val="120000"/>
              </a:lnSpc>
              <a:buFont typeface="+mj-lt"/>
              <a:buAutoNum type="arabicPeriod"/>
            </a:pPr>
            <a:r>
              <a:rPr lang="en-MY" b="1" dirty="0"/>
              <a:t>Brainstorming Sessions:</a:t>
            </a:r>
            <a:br>
              <a:rPr lang="en-MY" dirty="0"/>
            </a:br>
            <a:r>
              <a:rPr lang="en-MY" dirty="0"/>
              <a:t>Facilitating collaborative sessions to generate ideas and uncover hidden needs.</a:t>
            </a:r>
          </a:p>
          <a:p>
            <a:pPr lvl="1">
              <a:lnSpc>
                <a:spcPct val="120000"/>
              </a:lnSpc>
              <a:buFont typeface="+mj-lt"/>
              <a:buAutoNum type="arabicPeriod"/>
            </a:pPr>
            <a:r>
              <a:rPr lang="en-MY" b="1" dirty="0"/>
              <a:t>Document Analysis:</a:t>
            </a:r>
            <a:br>
              <a:rPr lang="en-MY" dirty="0"/>
            </a:br>
            <a:r>
              <a:rPr lang="en-MY" dirty="0"/>
              <a:t>Reviewing existing documentation, such as business plans or system manuals, to extract relevant requirements.</a:t>
            </a:r>
          </a:p>
          <a:p>
            <a:pPr marL="0" indent="0">
              <a:buNone/>
            </a:pPr>
            <a:endParaRPr lang="en-US" dirty="0"/>
          </a:p>
        </p:txBody>
      </p:sp>
    </p:spTree>
    <p:extLst>
      <p:ext uri="{BB962C8B-B14F-4D97-AF65-F5344CB8AC3E}">
        <p14:creationId xmlns:p14="http://schemas.microsoft.com/office/powerpoint/2010/main" val="2645080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D8F4-9D0A-52E7-DA01-14406590D333}"/>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FDD7C45E-7341-0418-F4BE-BA09F272B4CD}"/>
              </a:ext>
            </a:extLst>
          </p:cNvPr>
          <p:cNvSpPr>
            <a:spLocks noGrp="1"/>
          </p:cNvSpPr>
          <p:nvPr>
            <p:ph idx="1"/>
          </p:nvPr>
        </p:nvSpPr>
        <p:spPr/>
        <p:txBody>
          <a:bodyPr>
            <a:normAutofit fontScale="70000" lnSpcReduction="20000"/>
          </a:bodyPr>
          <a:lstStyle/>
          <a:p>
            <a:pPr>
              <a:lnSpc>
                <a:spcPct val="120000"/>
              </a:lnSpc>
            </a:pPr>
            <a:r>
              <a:rPr lang="en-MY" b="1" dirty="0"/>
              <a:t>Definition:</a:t>
            </a:r>
            <a:br>
              <a:rPr lang="en-MY" dirty="0"/>
            </a:br>
            <a:r>
              <a:rPr lang="en-MY" dirty="0"/>
              <a:t>Analysis involves understanding, refining, and organizing elicited requirements to ensure they are feasible, consistent, and aligned with project goals.</a:t>
            </a:r>
          </a:p>
          <a:p>
            <a:pPr>
              <a:lnSpc>
                <a:spcPct val="120000"/>
              </a:lnSpc>
            </a:pPr>
            <a:r>
              <a:rPr lang="en-MY" b="1" dirty="0"/>
              <a:t>Key Activities:</a:t>
            </a:r>
            <a:endParaRPr lang="en-MY" dirty="0"/>
          </a:p>
          <a:p>
            <a:pPr lvl="1">
              <a:lnSpc>
                <a:spcPct val="120000"/>
              </a:lnSpc>
              <a:buFont typeface="+mj-lt"/>
              <a:buAutoNum type="arabicPeriod"/>
            </a:pPr>
            <a:r>
              <a:rPr lang="en-MY" b="1" dirty="0"/>
              <a:t>Identifying Dependencies:</a:t>
            </a:r>
            <a:br>
              <a:rPr lang="en-MY" dirty="0"/>
            </a:br>
            <a:r>
              <a:rPr lang="en-MY" dirty="0"/>
              <a:t>Understanding how different requirements are related and ensuring no conflicts exist between them.</a:t>
            </a:r>
          </a:p>
          <a:p>
            <a:pPr lvl="1">
              <a:lnSpc>
                <a:spcPct val="120000"/>
              </a:lnSpc>
              <a:buFont typeface="+mj-lt"/>
              <a:buAutoNum type="arabicPeriod"/>
            </a:pPr>
            <a:r>
              <a:rPr lang="en-MY" b="1" dirty="0"/>
              <a:t>Prioritizing Requirements:</a:t>
            </a:r>
            <a:br>
              <a:rPr lang="en-MY" dirty="0"/>
            </a:br>
            <a:r>
              <a:rPr lang="en-MY" dirty="0"/>
              <a:t>Categorizing requirements based on their importance and urgency to stakeholders. Techniques like the </a:t>
            </a:r>
            <a:r>
              <a:rPr lang="en-MY" dirty="0" err="1"/>
              <a:t>MoSCoW</a:t>
            </a:r>
            <a:r>
              <a:rPr lang="en-MY" dirty="0"/>
              <a:t> method (Must have, Should have, Could have, Won't have) are often used.</a:t>
            </a:r>
          </a:p>
          <a:p>
            <a:pPr lvl="1">
              <a:lnSpc>
                <a:spcPct val="120000"/>
              </a:lnSpc>
              <a:buFont typeface="+mj-lt"/>
              <a:buAutoNum type="arabicPeriod"/>
            </a:pPr>
            <a:r>
              <a:rPr lang="en-MY" b="1" dirty="0"/>
              <a:t>Feasibility Assessment:</a:t>
            </a:r>
            <a:br>
              <a:rPr lang="en-MY" dirty="0"/>
            </a:br>
            <a:r>
              <a:rPr lang="en-MY" dirty="0"/>
              <a:t>Ensuring that the requirements can be achieved within the project’s technical, financial, and time constraints.</a:t>
            </a:r>
          </a:p>
          <a:p>
            <a:pPr marL="0" indent="0">
              <a:lnSpc>
                <a:spcPct val="120000"/>
              </a:lnSpc>
              <a:buNone/>
            </a:pPr>
            <a:endParaRPr lang="en-US" dirty="0"/>
          </a:p>
        </p:txBody>
      </p:sp>
    </p:spTree>
    <p:extLst>
      <p:ext uri="{BB962C8B-B14F-4D97-AF65-F5344CB8AC3E}">
        <p14:creationId xmlns:p14="http://schemas.microsoft.com/office/powerpoint/2010/main" val="3148827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036D-0FDF-84DC-DB35-0723A4FDC8DB}"/>
              </a:ext>
            </a:extLst>
          </p:cNvPr>
          <p:cNvSpPr>
            <a:spLocks noGrp="1"/>
          </p:cNvSpPr>
          <p:nvPr>
            <p:ph type="title"/>
          </p:nvPr>
        </p:nvSpPr>
        <p:spPr/>
        <p:txBody>
          <a:bodyPr/>
          <a:lstStyle/>
          <a:p>
            <a:r>
              <a:rPr lang="en-US" dirty="0" err="1"/>
              <a:t>MoSCoW</a:t>
            </a:r>
            <a:r>
              <a:rPr lang="en-US" dirty="0"/>
              <a:t> Method – Must Have</a:t>
            </a:r>
          </a:p>
        </p:txBody>
      </p:sp>
      <p:sp>
        <p:nvSpPr>
          <p:cNvPr id="3" name="Content Placeholder 2">
            <a:extLst>
              <a:ext uri="{FF2B5EF4-FFF2-40B4-BE49-F238E27FC236}">
                <a16:creationId xmlns:a16="http://schemas.microsoft.com/office/drawing/2014/main" id="{E28C1DEA-0D77-8CBD-1DA1-DF20BF420A29}"/>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the requirements that are critical to the success of the project. Without them, the system cannot function, and the project would be considered a failure.</a:t>
            </a:r>
          </a:p>
          <a:p>
            <a:pPr>
              <a:buFont typeface="Arial" panose="020B0604020202020204" pitchFamily="34" charset="0"/>
              <a:buChar char="•"/>
            </a:pPr>
            <a:r>
              <a:rPr lang="en-MY" b="1" dirty="0"/>
              <a:t>Characteristics:</a:t>
            </a:r>
          </a:p>
          <a:p>
            <a:pPr lvl="1"/>
            <a:r>
              <a:rPr lang="en-MY" dirty="0"/>
              <a:t>Essential for achieving business goals or meeting legal and regulatory requirements.</a:t>
            </a:r>
          </a:p>
          <a:p>
            <a:pPr lvl="1"/>
            <a:r>
              <a:rPr lang="en-MY" dirty="0"/>
              <a:t>Directly impacts the system's core functionality.</a:t>
            </a:r>
          </a:p>
          <a:p>
            <a:pPr>
              <a:buFont typeface="Arial" panose="020B0604020202020204" pitchFamily="34" charset="0"/>
              <a:buChar char="•"/>
            </a:pPr>
            <a:r>
              <a:rPr lang="en-MY" b="1" dirty="0"/>
              <a:t>Examples:</a:t>
            </a:r>
          </a:p>
          <a:p>
            <a:pPr lvl="1"/>
            <a:r>
              <a:rPr lang="en-MY" dirty="0"/>
              <a:t>A banking app </a:t>
            </a:r>
            <a:r>
              <a:rPr lang="en-MY" b="1" dirty="0"/>
              <a:t>must have</a:t>
            </a:r>
            <a:r>
              <a:rPr lang="en-MY" dirty="0"/>
              <a:t> secure login functionality.</a:t>
            </a:r>
          </a:p>
          <a:p>
            <a:pPr lvl="1"/>
            <a:r>
              <a:rPr lang="en-MY" dirty="0"/>
              <a:t>An e-commerce website </a:t>
            </a:r>
            <a:r>
              <a:rPr lang="en-MY" b="1" dirty="0"/>
              <a:t>must have</a:t>
            </a:r>
            <a:r>
              <a:rPr lang="en-MY" dirty="0"/>
              <a:t> a shopping cart feature.</a:t>
            </a:r>
          </a:p>
          <a:p>
            <a:endParaRPr lang="en-US" dirty="0"/>
          </a:p>
        </p:txBody>
      </p:sp>
    </p:spTree>
    <p:extLst>
      <p:ext uri="{BB962C8B-B14F-4D97-AF65-F5344CB8AC3E}">
        <p14:creationId xmlns:p14="http://schemas.microsoft.com/office/powerpoint/2010/main" val="2768378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21455-886C-3AB7-5881-B90ECDBE1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DED51-65AD-FF17-7E79-E42B800DE3E3}"/>
              </a:ext>
            </a:extLst>
          </p:cNvPr>
          <p:cNvSpPr>
            <a:spLocks noGrp="1"/>
          </p:cNvSpPr>
          <p:nvPr>
            <p:ph type="title"/>
          </p:nvPr>
        </p:nvSpPr>
        <p:spPr/>
        <p:txBody>
          <a:bodyPr/>
          <a:lstStyle/>
          <a:p>
            <a:r>
              <a:rPr lang="en-US" dirty="0" err="1"/>
              <a:t>MoSCoW</a:t>
            </a:r>
            <a:r>
              <a:rPr lang="en-US" dirty="0"/>
              <a:t> Method – Should Have</a:t>
            </a:r>
          </a:p>
        </p:txBody>
      </p:sp>
      <p:sp>
        <p:nvSpPr>
          <p:cNvPr id="3" name="Content Placeholder 2">
            <a:extLst>
              <a:ext uri="{FF2B5EF4-FFF2-40B4-BE49-F238E27FC236}">
                <a16:creationId xmlns:a16="http://schemas.microsoft.com/office/drawing/2014/main" id="{1845FDC5-A691-4279-9B64-64488221FD0D}"/>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important requirements but not critical for immediate success. They are often considered high-priority but not mandatory for the first release.</a:t>
            </a:r>
          </a:p>
          <a:p>
            <a:pPr>
              <a:buFont typeface="Arial" panose="020B0604020202020204" pitchFamily="34" charset="0"/>
              <a:buChar char="•"/>
            </a:pPr>
            <a:r>
              <a:rPr lang="en-MY" b="1" dirty="0"/>
              <a:t>Characteristics:</a:t>
            </a:r>
          </a:p>
          <a:p>
            <a:pPr lvl="1"/>
            <a:r>
              <a:rPr lang="en-MY" dirty="0"/>
              <a:t>Adds significant value but can be deferred if necessary.</a:t>
            </a:r>
          </a:p>
          <a:p>
            <a:pPr lvl="1"/>
            <a:r>
              <a:rPr lang="en-MY" dirty="0"/>
              <a:t>May be included if time and resources permit.</a:t>
            </a:r>
          </a:p>
          <a:p>
            <a:pPr>
              <a:buFont typeface="Arial" panose="020B0604020202020204" pitchFamily="34" charset="0"/>
              <a:buChar char="•"/>
            </a:pPr>
            <a:r>
              <a:rPr lang="en-MY" b="1" dirty="0"/>
              <a:t>Examples:</a:t>
            </a:r>
          </a:p>
          <a:p>
            <a:pPr lvl="1"/>
            <a:r>
              <a:rPr lang="en-MY" dirty="0"/>
              <a:t>A system </a:t>
            </a:r>
            <a:r>
              <a:rPr lang="en-MY" b="1" dirty="0"/>
              <a:t>should have</a:t>
            </a:r>
            <a:r>
              <a:rPr lang="en-MY" dirty="0"/>
              <a:t> multiple language support.</a:t>
            </a:r>
          </a:p>
          <a:p>
            <a:pPr lvl="1"/>
            <a:r>
              <a:rPr lang="en-MY" dirty="0"/>
              <a:t>A project management tool </a:t>
            </a:r>
            <a:r>
              <a:rPr lang="en-MY" b="1" dirty="0"/>
              <a:t>should have</a:t>
            </a:r>
            <a:r>
              <a:rPr lang="en-MY" dirty="0"/>
              <a:t> integration with other tools like Slack or Teams.</a:t>
            </a:r>
          </a:p>
        </p:txBody>
      </p:sp>
    </p:spTree>
    <p:extLst>
      <p:ext uri="{BB962C8B-B14F-4D97-AF65-F5344CB8AC3E}">
        <p14:creationId xmlns:p14="http://schemas.microsoft.com/office/powerpoint/2010/main" val="1386095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7AA9-F360-826B-2CC8-C5701B2B2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4BE46-5159-175C-547E-7BD2A454F150}"/>
              </a:ext>
            </a:extLst>
          </p:cNvPr>
          <p:cNvSpPr>
            <a:spLocks noGrp="1"/>
          </p:cNvSpPr>
          <p:nvPr>
            <p:ph type="title"/>
          </p:nvPr>
        </p:nvSpPr>
        <p:spPr/>
        <p:txBody>
          <a:bodyPr/>
          <a:lstStyle/>
          <a:p>
            <a:r>
              <a:rPr lang="en-US" dirty="0" err="1"/>
              <a:t>MoSCoW</a:t>
            </a:r>
            <a:r>
              <a:rPr lang="en-US" dirty="0"/>
              <a:t> Method – </a:t>
            </a:r>
            <a:r>
              <a:rPr lang="en-MY" dirty="0"/>
              <a:t>Could Have</a:t>
            </a:r>
            <a:endParaRPr lang="en-US" dirty="0"/>
          </a:p>
        </p:txBody>
      </p:sp>
      <p:sp>
        <p:nvSpPr>
          <p:cNvPr id="3" name="Content Placeholder 2">
            <a:extLst>
              <a:ext uri="{FF2B5EF4-FFF2-40B4-BE49-F238E27FC236}">
                <a16:creationId xmlns:a16="http://schemas.microsoft.com/office/drawing/2014/main" id="{4DF0168F-3AA3-15BA-0487-D93242275A13}"/>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desirable but not essential requirements. They have a lower priority and are often included if time, budget, and resources allow.</a:t>
            </a:r>
          </a:p>
          <a:p>
            <a:pPr>
              <a:buFont typeface="Arial" panose="020B0604020202020204" pitchFamily="34" charset="0"/>
              <a:buChar char="•"/>
            </a:pPr>
            <a:r>
              <a:rPr lang="en-MY" b="1" dirty="0"/>
              <a:t>Characteristics:</a:t>
            </a:r>
          </a:p>
          <a:p>
            <a:pPr lvl="1"/>
            <a:r>
              <a:rPr lang="en-MY" dirty="0"/>
              <a:t>Nice-to-have features that enhance user experience.</a:t>
            </a:r>
          </a:p>
          <a:p>
            <a:pPr lvl="1"/>
            <a:r>
              <a:rPr lang="en-MY" dirty="0"/>
              <a:t>Does not impact core functionality or business goals.</a:t>
            </a:r>
          </a:p>
          <a:p>
            <a:pPr>
              <a:buFont typeface="Arial" panose="020B0604020202020204" pitchFamily="34" charset="0"/>
              <a:buChar char="•"/>
            </a:pPr>
            <a:r>
              <a:rPr lang="en-MY" b="1" dirty="0"/>
              <a:t>Examples:</a:t>
            </a:r>
          </a:p>
          <a:p>
            <a:pPr lvl="1"/>
            <a:r>
              <a:rPr lang="en-MY" dirty="0"/>
              <a:t>A mobile app </a:t>
            </a:r>
            <a:r>
              <a:rPr lang="en-MY" b="1" dirty="0"/>
              <a:t>could have</a:t>
            </a:r>
            <a:r>
              <a:rPr lang="en-MY" dirty="0"/>
              <a:t> a dark mode.</a:t>
            </a:r>
          </a:p>
          <a:p>
            <a:pPr lvl="1"/>
            <a:r>
              <a:rPr lang="en-MY" dirty="0"/>
              <a:t>A website </a:t>
            </a:r>
            <a:r>
              <a:rPr lang="en-MY" b="1" dirty="0"/>
              <a:t>could have</a:t>
            </a:r>
            <a:r>
              <a:rPr lang="en-MY" dirty="0"/>
              <a:t> animated transitions between pages.</a:t>
            </a:r>
          </a:p>
        </p:txBody>
      </p:sp>
    </p:spTree>
    <p:extLst>
      <p:ext uri="{BB962C8B-B14F-4D97-AF65-F5344CB8AC3E}">
        <p14:creationId xmlns:p14="http://schemas.microsoft.com/office/powerpoint/2010/main" val="169474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A9CF-907A-10D1-5BFA-2C1572577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06C66-098B-A4C0-6602-B07FC88D0268}"/>
              </a:ext>
            </a:extLst>
          </p:cNvPr>
          <p:cNvSpPr>
            <a:spLocks noGrp="1"/>
          </p:cNvSpPr>
          <p:nvPr>
            <p:ph type="title"/>
          </p:nvPr>
        </p:nvSpPr>
        <p:spPr/>
        <p:txBody>
          <a:bodyPr/>
          <a:lstStyle/>
          <a:p>
            <a:r>
              <a:rPr lang="en-US" dirty="0" err="1"/>
              <a:t>MoSCoW</a:t>
            </a:r>
            <a:r>
              <a:rPr lang="en-US" dirty="0"/>
              <a:t> Method – </a:t>
            </a:r>
            <a:r>
              <a:rPr lang="en-MY" dirty="0"/>
              <a:t>Won’t Have</a:t>
            </a:r>
            <a:endParaRPr lang="en-US" dirty="0"/>
          </a:p>
        </p:txBody>
      </p:sp>
      <p:sp>
        <p:nvSpPr>
          <p:cNvPr id="3" name="Content Placeholder 2">
            <a:extLst>
              <a:ext uri="{FF2B5EF4-FFF2-40B4-BE49-F238E27FC236}">
                <a16:creationId xmlns:a16="http://schemas.microsoft.com/office/drawing/2014/main" id="{217700A1-AC9E-AE36-472E-C3EA973C3E24}"/>
              </a:ext>
            </a:extLst>
          </p:cNvPr>
          <p:cNvSpPr>
            <a:spLocks noGrp="1"/>
          </p:cNvSpPr>
          <p:nvPr>
            <p:ph idx="1"/>
          </p:nvPr>
        </p:nvSpPr>
        <p:spPr>
          <a:xfrm>
            <a:off x="838200" y="1524411"/>
            <a:ext cx="10515600" cy="4351338"/>
          </a:xfrm>
        </p:spPr>
        <p:txBody>
          <a:bodyPr>
            <a:normAutofit/>
          </a:bodyPr>
          <a:lstStyle/>
          <a:p>
            <a:pPr>
              <a:buFont typeface="Arial" panose="020B0604020202020204" pitchFamily="34" charset="0"/>
              <a:buChar char="•"/>
            </a:pPr>
            <a:r>
              <a:rPr lang="en-MY" b="1" dirty="0"/>
              <a:t>Definition:</a:t>
            </a:r>
            <a:r>
              <a:rPr lang="en-MY" dirty="0"/>
              <a:t> These are requirements that are agreed to be out of scope for the current project or release but may be considered for future iterations.</a:t>
            </a:r>
          </a:p>
          <a:p>
            <a:pPr>
              <a:buFont typeface="Arial" panose="020B0604020202020204" pitchFamily="34" charset="0"/>
              <a:buChar char="•"/>
            </a:pPr>
            <a:r>
              <a:rPr lang="en-MY" b="1" dirty="0"/>
              <a:t>Characteristics:</a:t>
            </a:r>
          </a:p>
          <a:p>
            <a:pPr lvl="1"/>
            <a:r>
              <a:rPr lang="en-MY" dirty="0"/>
              <a:t>Explicitly documented to avoid confusion or scope creep.</a:t>
            </a:r>
          </a:p>
          <a:p>
            <a:pPr lvl="1"/>
            <a:r>
              <a:rPr lang="en-MY" dirty="0"/>
              <a:t>Can be revisited in later phases or versions.</a:t>
            </a:r>
          </a:p>
          <a:p>
            <a:pPr>
              <a:buFont typeface="Arial" panose="020B0604020202020204" pitchFamily="34" charset="0"/>
              <a:buChar char="•"/>
            </a:pPr>
            <a:r>
              <a:rPr lang="en-MY" b="1" dirty="0"/>
              <a:t>Examples:</a:t>
            </a:r>
          </a:p>
          <a:p>
            <a:pPr lvl="1"/>
            <a:r>
              <a:rPr lang="en-MY" dirty="0"/>
              <a:t>A system </a:t>
            </a:r>
            <a:r>
              <a:rPr lang="en-MY" b="1" dirty="0"/>
              <a:t>won’t have</a:t>
            </a:r>
            <a:r>
              <a:rPr lang="en-MY" dirty="0"/>
              <a:t> voice recognition in the initial release.</a:t>
            </a:r>
          </a:p>
          <a:p>
            <a:pPr lvl="1"/>
            <a:r>
              <a:rPr lang="en-MY" dirty="0"/>
              <a:t>A website </a:t>
            </a:r>
            <a:r>
              <a:rPr lang="en-MY" b="1" dirty="0"/>
              <a:t>won’t have</a:t>
            </a:r>
            <a:r>
              <a:rPr lang="en-MY" dirty="0"/>
              <a:t> augmented reality features in Phase 1.</a:t>
            </a:r>
          </a:p>
        </p:txBody>
      </p:sp>
    </p:spTree>
    <p:extLst>
      <p:ext uri="{BB962C8B-B14F-4D97-AF65-F5344CB8AC3E}">
        <p14:creationId xmlns:p14="http://schemas.microsoft.com/office/powerpoint/2010/main" val="254044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33C8-BDA9-B8D7-AFF2-1B1C468EF2F3}"/>
              </a:ext>
            </a:extLst>
          </p:cNvPr>
          <p:cNvSpPr>
            <a:spLocks noGrp="1"/>
          </p:cNvSpPr>
          <p:nvPr>
            <p:ph type="title"/>
          </p:nvPr>
        </p:nvSpPr>
        <p:spPr/>
        <p:txBody>
          <a:bodyPr/>
          <a:lstStyle/>
          <a:p>
            <a:r>
              <a:rPr lang="en-MY" dirty="0"/>
              <a:t>Specification</a:t>
            </a:r>
            <a:endParaRPr lang="en-US" dirty="0"/>
          </a:p>
        </p:txBody>
      </p:sp>
      <p:sp>
        <p:nvSpPr>
          <p:cNvPr id="3" name="Content Placeholder 2">
            <a:extLst>
              <a:ext uri="{FF2B5EF4-FFF2-40B4-BE49-F238E27FC236}">
                <a16:creationId xmlns:a16="http://schemas.microsoft.com/office/drawing/2014/main" id="{58A28D33-84AF-35C9-AC39-57A359AE0C9D}"/>
              </a:ext>
            </a:extLst>
          </p:cNvPr>
          <p:cNvSpPr>
            <a:spLocks noGrp="1"/>
          </p:cNvSpPr>
          <p:nvPr>
            <p:ph idx="1"/>
          </p:nvPr>
        </p:nvSpPr>
        <p:spPr>
          <a:xfrm>
            <a:off x="838200" y="1690688"/>
            <a:ext cx="10515600" cy="4351338"/>
          </a:xfrm>
        </p:spPr>
        <p:txBody>
          <a:bodyPr>
            <a:normAutofit fontScale="77500" lnSpcReduction="20000"/>
          </a:bodyPr>
          <a:lstStyle/>
          <a:p>
            <a:pPr>
              <a:lnSpc>
                <a:spcPct val="120000"/>
              </a:lnSpc>
            </a:pPr>
            <a:r>
              <a:rPr lang="en-MY" b="1" dirty="0"/>
              <a:t>Definition:</a:t>
            </a:r>
            <a:br>
              <a:rPr lang="en-MY" dirty="0"/>
            </a:br>
            <a:r>
              <a:rPr lang="en-MY" dirty="0"/>
              <a:t>Specification involves documenting the requirements in a clear, structured, and unambiguous format that serves as a reference for all project stakeholders.</a:t>
            </a:r>
          </a:p>
          <a:p>
            <a:pPr>
              <a:lnSpc>
                <a:spcPct val="120000"/>
              </a:lnSpc>
            </a:pPr>
            <a:r>
              <a:rPr lang="en-MY" b="1" dirty="0"/>
              <a:t>Examples of Documentation Formats:</a:t>
            </a:r>
            <a:endParaRPr lang="en-MY" dirty="0"/>
          </a:p>
          <a:p>
            <a:pPr lvl="1">
              <a:lnSpc>
                <a:spcPct val="120000"/>
              </a:lnSpc>
              <a:buFont typeface="+mj-lt"/>
              <a:buAutoNum type="arabicPeriod"/>
            </a:pPr>
            <a:r>
              <a:rPr lang="en-MY" b="1" dirty="0"/>
              <a:t>Use Case Diagrams:</a:t>
            </a:r>
            <a:br>
              <a:rPr lang="en-MY" dirty="0"/>
            </a:br>
            <a:r>
              <a:rPr lang="en-MY" dirty="0"/>
              <a:t>Visual representations of interactions between users and the system to achieve specific goals.</a:t>
            </a:r>
          </a:p>
          <a:p>
            <a:pPr lvl="1">
              <a:lnSpc>
                <a:spcPct val="120000"/>
              </a:lnSpc>
              <a:buFont typeface="+mj-lt"/>
              <a:buAutoNum type="arabicPeriod"/>
            </a:pPr>
            <a:r>
              <a:rPr lang="en-MY" b="1" dirty="0"/>
              <a:t>User Stories:</a:t>
            </a:r>
            <a:br>
              <a:rPr lang="en-MY" dirty="0"/>
            </a:br>
            <a:r>
              <a:rPr lang="en-MY" dirty="0"/>
              <a:t>Short, simple descriptions of a feature from the perspective of the end user.</a:t>
            </a:r>
          </a:p>
          <a:p>
            <a:pPr lvl="1">
              <a:lnSpc>
                <a:spcPct val="120000"/>
              </a:lnSpc>
              <a:buFont typeface="+mj-lt"/>
              <a:buAutoNum type="arabicPeriod"/>
            </a:pPr>
            <a:r>
              <a:rPr lang="en-MY" b="1" dirty="0"/>
              <a:t>Software Requirements Specification (SRS):</a:t>
            </a:r>
            <a:br>
              <a:rPr lang="en-MY" dirty="0"/>
            </a:br>
            <a:r>
              <a:rPr lang="en-MY" dirty="0"/>
              <a:t>A detailed document that outlines functional and non-functional requirements, system constraints, and other relevant details.</a:t>
            </a:r>
          </a:p>
          <a:p>
            <a:pPr marL="0" indent="0">
              <a:lnSpc>
                <a:spcPct val="120000"/>
              </a:lnSpc>
              <a:buNone/>
            </a:pPr>
            <a:endParaRPr lang="en-US" dirty="0"/>
          </a:p>
        </p:txBody>
      </p:sp>
    </p:spTree>
    <p:extLst>
      <p:ext uri="{BB962C8B-B14F-4D97-AF65-F5344CB8AC3E}">
        <p14:creationId xmlns:p14="http://schemas.microsoft.com/office/powerpoint/2010/main" val="1009944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009D-CAC0-00C3-F3E3-2D40690A072D}"/>
              </a:ext>
            </a:extLst>
          </p:cNvPr>
          <p:cNvSpPr>
            <a:spLocks noGrp="1"/>
          </p:cNvSpPr>
          <p:nvPr>
            <p:ph type="title"/>
          </p:nvPr>
        </p:nvSpPr>
        <p:spPr/>
        <p:txBody>
          <a:bodyPr/>
          <a:lstStyle/>
          <a:p>
            <a:r>
              <a:rPr lang="en-MY" dirty="0"/>
              <a:t>Validation</a:t>
            </a:r>
            <a:endParaRPr lang="en-US" dirty="0"/>
          </a:p>
        </p:txBody>
      </p:sp>
      <p:sp>
        <p:nvSpPr>
          <p:cNvPr id="3" name="Content Placeholder 2">
            <a:extLst>
              <a:ext uri="{FF2B5EF4-FFF2-40B4-BE49-F238E27FC236}">
                <a16:creationId xmlns:a16="http://schemas.microsoft.com/office/drawing/2014/main" id="{15D59DD8-D8BB-364A-C861-C8E6631D005E}"/>
              </a:ext>
            </a:extLst>
          </p:cNvPr>
          <p:cNvSpPr>
            <a:spLocks noGrp="1"/>
          </p:cNvSpPr>
          <p:nvPr>
            <p:ph idx="1"/>
          </p:nvPr>
        </p:nvSpPr>
        <p:spPr/>
        <p:txBody>
          <a:bodyPr>
            <a:normAutofit fontScale="70000" lnSpcReduction="20000"/>
          </a:bodyPr>
          <a:lstStyle/>
          <a:p>
            <a:pPr>
              <a:lnSpc>
                <a:spcPct val="120000"/>
              </a:lnSpc>
            </a:pPr>
            <a:r>
              <a:rPr lang="en-MY" b="1" dirty="0"/>
              <a:t>Definition:</a:t>
            </a:r>
            <a:br>
              <a:rPr lang="en-MY" dirty="0"/>
            </a:br>
            <a:r>
              <a:rPr lang="en-MY" dirty="0"/>
              <a:t>Validation ensures that the documented requirements meet user needs and expectations and are complete, consistent, and feasible.</a:t>
            </a:r>
          </a:p>
          <a:p>
            <a:pPr>
              <a:lnSpc>
                <a:spcPct val="120000"/>
              </a:lnSpc>
            </a:pPr>
            <a:r>
              <a:rPr lang="en-MY" b="1" dirty="0"/>
              <a:t>Techniques:</a:t>
            </a:r>
            <a:endParaRPr lang="en-MY" dirty="0"/>
          </a:p>
          <a:p>
            <a:pPr lvl="1">
              <a:lnSpc>
                <a:spcPct val="120000"/>
              </a:lnSpc>
              <a:buFont typeface="+mj-lt"/>
              <a:buAutoNum type="arabicPeriod"/>
            </a:pPr>
            <a:r>
              <a:rPr lang="en-MY" b="1" dirty="0"/>
              <a:t>Reviews and Inspections:</a:t>
            </a:r>
            <a:br>
              <a:rPr lang="en-MY" dirty="0"/>
            </a:br>
            <a:r>
              <a:rPr lang="en-MY" dirty="0"/>
              <a:t>Conducting walkthroughs and reviews with stakeholders and team members to verify requirements.</a:t>
            </a:r>
          </a:p>
          <a:p>
            <a:pPr lvl="1">
              <a:lnSpc>
                <a:spcPct val="120000"/>
              </a:lnSpc>
              <a:buFont typeface="+mj-lt"/>
              <a:buAutoNum type="arabicPeriod"/>
            </a:pPr>
            <a:r>
              <a:rPr lang="en-MY" b="1" dirty="0"/>
              <a:t>Prototyping:</a:t>
            </a:r>
            <a:br>
              <a:rPr lang="en-MY" dirty="0"/>
            </a:br>
            <a:r>
              <a:rPr lang="en-MY" dirty="0"/>
              <a:t>Creating a preliminary version of the system to demonstrate functionality and gather feedback.</a:t>
            </a:r>
          </a:p>
          <a:p>
            <a:pPr lvl="1">
              <a:lnSpc>
                <a:spcPct val="120000"/>
              </a:lnSpc>
              <a:buFont typeface="+mj-lt"/>
              <a:buAutoNum type="arabicPeriod"/>
            </a:pPr>
            <a:r>
              <a:rPr lang="en-MY" b="1" dirty="0"/>
              <a:t>Test Cases:</a:t>
            </a:r>
            <a:br>
              <a:rPr lang="en-MY" dirty="0"/>
            </a:br>
            <a:r>
              <a:rPr lang="en-MY" dirty="0"/>
              <a:t>Writing test cases based on requirements to verify their completeness and correctness during development.</a:t>
            </a:r>
          </a:p>
          <a:p>
            <a:pPr marL="0" indent="0">
              <a:lnSpc>
                <a:spcPct val="120000"/>
              </a:lnSpc>
              <a:buNone/>
            </a:pPr>
            <a:endParaRPr lang="en-US" dirty="0"/>
          </a:p>
        </p:txBody>
      </p:sp>
    </p:spTree>
    <p:extLst>
      <p:ext uri="{BB962C8B-B14F-4D97-AF65-F5344CB8AC3E}">
        <p14:creationId xmlns:p14="http://schemas.microsoft.com/office/powerpoint/2010/main" val="3534818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EC0F6-868E-A68C-582C-21863B4E41CE}"/>
              </a:ext>
            </a:extLst>
          </p:cNvPr>
          <p:cNvSpPr>
            <a:spLocks noGrp="1"/>
          </p:cNvSpPr>
          <p:nvPr>
            <p:ph type="title"/>
          </p:nvPr>
        </p:nvSpPr>
        <p:spPr/>
        <p:txBody>
          <a:bodyPr/>
          <a:lstStyle/>
          <a:p>
            <a:r>
              <a:rPr lang="en-MY" dirty="0"/>
              <a:t>Management</a:t>
            </a:r>
            <a:endParaRPr lang="en-US" dirty="0"/>
          </a:p>
        </p:txBody>
      </p:sp>
      <p:sp>
        <p:nvSpPr>
          <p:cNvPr id="3" name="Content Placeholder 2">
            <a:extLst>
              <a:ext uri="{FF2B5EF4-FFF2-40B4-BE49-F238E27FC236}">
                <a16:creationId xmlns:a16="http://schemas.microsoft.com/office/drawing/2014/main" id="{6E3B516D-06BD-29CF-BEB2-7BCA9AE12BCA}"/>
              </a:ext>
            </a:extLst>
          </p:cNvPr>
          <p:cNvSpPr>
            <a:spLocks noGrp="1"/>
          </p:cNvSpPr>
          <p:nvPr>
            <p:ph idx="1"/>
          </p:nvPr>
        </p:nvSpPr>
        <p:spPr/>
        <p:txBody>
          <a:bodyPr>
            <a:normAutofit fontScale="77500" lnSpcReduction="20000"/>
          </a:bodyPr>
          <a:lstStyle/>
          <a:p>
            <a:pPr>
              <a:lnSpc>
                <a:spcPct val="120000"/>
              </a:lnSpc>
            </a:pPr>
            <a:r>
              <a:rPr lang="en-MY" b="1" dirty="0"/>
              <a:t>Definition:</a:t>
            </a:r>
            <a:br>
              <a:rPr lang="en-MY" dirty="0"/>
            </a:br>
            <a:r>
              <a:rPr lang="en-MY" dirty="0"/>
              <a:t>Management involves handling changes to requirements throughout the project lifecycle, ensuring that updates align with stakeholder needs and do not disrupt the project.</a:t>
            </a:r>
          </a:p>
          <a:p>
            <a:pPr>
              <a:lnSpc>
                <a:spcPct val="120000"/>
              </a:lnSpc>
            </a:pPr>
            <a:r>
              <a:rPr lang="en-MY" b="1" dirty="0"/>
              <a:t>Tools and Techniques:</a:t>
            </a:r>
            <a:endParaRPr lang="en-MY" dirty="0"/>
          </a:p>
          <a:p>
            <a:pPr lvl="1">
              <a:lnSpc>
                <a:spcPct val="120000"/>
              </a:lnSpc>
              <a:buFont typeface="+mj-lt"/>
              <a:buAutoNum type="arabicPeriod"/>
            </a:pPr>
            <a:r>
              <a:rPr lang="en-MY" b="1" dirty="0"/>
              <a:t>Version Control Systems:</a:t>
            </a:r>
            <a:br>
              <a:rPr lang="en-MY" dirty="0"/>
            </a:br>
            <a:r>
              <a:rPr lang="en-MY" dirty="0"/>
              <a:t>Tools like Git to track changes to requirement documents and maintain version history.</a:t>
            </a:r>
          </a:p>
          <a:p>
            <a:pPr lvl="1">
              <a:lnSpc>
                <a:spcPct val="120000"/>
              </a:lnSpc>
              <a:buFont typeface="+mj-lt"/>
              <a:buAutoNum type="arabicPeriod"/>
            </a:pPr>
            <a:r>
              <a:rPr lang="en-MY" b="1" dirty="0"/>
              <a:t>Requirements Management Software:</a:t>
            </a:r>
            <a:br>
              <a:rPr lang="en-MY" dirty="0"/>
            </a:br>
            <a:r>
              <a:rPr lang="en-MY" dirty="0"/>
              <a:t>Tools like Jira or IBM Rational DOORS to organize, prioritize, and track requirements changes.</a:t>
            </a:r>
          </a:p>
          <a:p>
            <a:pPr lvl="1">
              <a:lnSpc>
                <a:spcPct val="120000"/>
              </a:lnSpc>
              <a:buFont typeface="+mj-lt"/>
              <a:buAutoNum type="arabicPeriod"/>
            </a:pPr>
            <a:r>
              <a:rPr lang="en-MY" b="1" dirty="0"/>
              <a:t>Change Control Process:</a:t>
            </a:r>
            <a:br>
              <a:rPr lang="en-MY" dirty="0"/>
            </a:br>
            <a:r>
              <a:rPr lang="en-MY" dirty="0"/>
              <a:t>A formal process for evaluating, approving, and documenting requirement changes to ensure traceability.</a:t>
            </a:r>
          </a:p>
          <a:p>
            <a:pPr marL="0" indent="0">
              <a:lnSpc>
                <a:spcPct val="120000"/>
              </a:lnSpc>
              <a:buNone/>
            </a:pPr>
            <a:endParaRPr lang="en-US" dirty="0"/>
          </a:p>
        </p:txBody>
      </p:sp>
    </p:spTree>
    <p:extLst>
      <p:ext uri="{BB962C8B-B14F-4D97-AF65-F5344CB8AC3E}">
        <p14:creationId xmlns:p14="http://schemas.microsoft.com/office/powerpoint/2010/main" val="3422042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0959-0813-91CD-B5BB-DD4855A0878E}"/>
              </a:ext>
            </a:extLst>
          </p:cNvPr>
          <p:cNvSpPr>
            <a:spLocks noGrp="1"/>
          </p:cNvSpPr>
          <p:nvPr>
            <p:ph type="title"/>
          </p:nvPr>
        </p:nvSpPr>
        <p:spPr/>
        <p:txBody>
          <a:bodyPr/>
          <a:lstStyle/>
          <a:p>
            <a:r>
              <a:rPr lang="en-MY" dirty="0"/>
              <a:t>Introduction to Types of Requirements</a:t>
            </a:r>
            <a:endParaRPr lang="en-US" dirty="0"/>
          </a:p>
        </p:txBody>
      </p:sp>
      <p:sp>
        <p:nvSpPr>
          <p:cNvPr id="3" name="Content Placeholder 2">
            <a:extLst>
              <a:ext uri="{FF2B5EF4-FFF2-40B4-BE49-F238E27FC236}">
                <a16:creationId xmlns:a16="http://schemas.microsoft.com/office/drawing/2014/main" id="{2D63B97B-2CC8-BECD-C89C-73C1971146EE}"/>
              </a:ext>
            </a:extLst>
          </p:cNvPr>
          <p:cNvSpPr>
            <a:spLocks noGrp="1"/>
          </p:cNvSpPr>
          <p:nvPr>
            <p:ph idx="1"/>
          </p:nvPr>
        </p:nvSpPr>
        <p:spPr/>
        <p:txBody>
          <a:bodyPr>
            <a:normAutofit/>
          </a:bodyPr>
          <a:lstStyle/>
          <a:p>
            <a:pPr>
              <a:lnSpc>
                <a:spcPct val="100000"/>
              </a:lnSpc>
            </a:pPr>
            <a:r>
              <a:rPr lang="en-MY" b="1" dirty="0"/>
              <a:t>Overview:</a:t>
            </a:r>
            <a:br>
              <a:rPr lang="en-MY" dirty="0"/>
            </a:br>
            <a:r>
              <a:rPr lang="en-MY" dirty="0"/>
              <a:t>Requirements are the foundation of software development, guiding the design, implementation, and validation of a system. They can be broadly classified into two main categories:</a:t>
            </a:r>
          </a:p>
          <a:p>
            <a:pPr lvl="1">
              <a:lnSpc>
                <a:spcPct val="100000"/>
              </a:lnSpc>
              <a:buFont typeface="+mj-lt"/>
              <a:buAutoNum type="arabicPeriod"/>
            </a:pPr>
            <a:r>
              <a:rPr lang="en-MY" b="1" dirty="0"/>
              <a:t>Functional Requirements:</a:t>
            </a:r>
            <a:br>
              <a:rPr lang="en-MY" dirty="0"/>
            </a:br>
            <a:r>
              <a:rPr lang="en-MY" dirty="0"/>
              <a:t>Define the specific functionalities or features the system must provide.</a:t>
            </a:r>
          </a:p>
          <a:p>
            <a:pPr lvl="1">
              <a:lnSpc>
                <a:spcPct val="100000"/>
              </a:lnSpc>
              <a:buFont typeface="+mj-lt"/>
              <a:buAutoNum type="arabicPeriod"/>
            </a:pPr>
            <a:r>
              <a:rPr lang="en-MY" b="1" dirty="0"/>
              <a:t>Non-Functional Requirements:</a:t>
            </a:r>
            <a:br>
              <a:rPr lang="en-MY" dirty="0"/>
            </a:br>
            <a:r>
              <a:rPr lang="en-MY" dirty="0"/>
              <a:t>Define the quality attributes or performance criteria the system must meet.</a:t>
            </a:r>
          </a:p>
          <a:p>
            <a:pPr marL="0" indent="0">
              <a:lnSpc>
                <a:spcPct val="100000"/>
              </a:lnSpc>
              <a:buNone/>
            </a:pPr>
            <a:endParaRPr lang="en-US" dirty="0"/>
          </a:p>
        </p:txBody>
      </p:sp>
    </p:spTree>
    <p:extLst>
      <p:ext uri="{BB962C8B-B14F-4D97-AF65-F5344CB8AC3E}">
        <p14:creationId xmlns:p14="http://schemas.microsoft.com/office/powerpoint/2010/main" val="959366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2972-5FC9-4CA7-53E9-E2A63B655F5C}"/>
              </a:ext>
            </a:extLst>
          </p:cNvPr>
          <p:cNvSpPr>
            <a:spLocks noGrp="1"/>
          </p:cNvSpPr>
          <p:nvPr>
            <p:ph type="title"/>
          </p:nvPr>
        </p:nvSpPr>
        <p:spPr/>
        <p:txBody>
          <a:bodyPr/>
          <a:lstStyle/>
          <a:p>
            <a:r>
              <a:rPr lang="en-MY" dirty="0"/>
              <a:t>Functional Requirements</a:t>
            </a:r>
            <a:endParaRPr lang="en-US" dirty="0"/>
          </a:p>
        </p:txBody>
      </p:sp>
      <p:sp>
        <p:nvSpPr>
          <p:cNvPr id="3" name="Content Placeholder 2">
            <a:extLst>
              <a:ext uri="{FF2B5EF4-FFF2-40B4-BE49-F238E27FC236}">
                <a16:creationId xmlns:a16="http://schemas.microsoft.com/office/drawing/2014/main" id="{B81C199D-B76C-41DF-0E5F-EADB2822A975}"/>
              </a:ext>
            </a:extLst>
          </p:cNvPr>
          <p:cNvSpPr>
            <a:spLocks noGrp="1"/>
          </p:cNvSpPr>
          <p:nvPr>
            <p:ph idx="1"/>
          </p:nvPr>
        </p:nvSpPr>
        <p:spPr/>
        <p:txBody>
          <a:bodyPr/>
          <a:lstStyle/>
          <a:p>
            <a:r>
              <a:rPr lang="en-MY" dirty="0"/>
              <a:t>Functional requirements specify what the system should do to meet user needs and achieve business goals. They describe the </a:t>
            </a:r>
            <a:r>
              <a:rPr lang="en-MY" dirty="0" err="1"/>
              <a:t>behavior</a:t>
            </a:r>
            <a:r>
              <a:rPr lang="en-MY" dirty="0"/>
              <a:t> of the system in response to inputs and interactions.</a:t>
            </a:r>
          </a:p>
          <a:p>
            <a:endParaRPr lang="en-MY" dirty="0"/>
          </a:p>
          <a:p>
            <a:r>
              <a:rPr lang="en-MY" b="1" dirty="0"/>
              <a:t>Key Characteristics:</a:t>
            </a:r>
            <a:endParaRPr lang="en-MY" dirty="0"/>
          </a:p>
          <a:p>
            <a:pPr lvl="1"/>
            <a:r>
              <a:rPr lang="en-MY" dirty="0"/>
              <a:t>Directly related to user interactions.</a:t>
            </a:r>
          </a:p>
          <a:p>
            <a:pPr lvl="1"/>
            <a:r>
              <a:rPr lang="en-MY" dirty="0"/>
              <a:t>Clearly define inputs, processes, and outputs.</a:t>
            </a:r>
          </a:p>
          <a:p>
            <a:pPr lvl="1"/>
            <a:r>
              <a:rPr lang="en-MY" dirty="0"/>
              <a:t>Serve as the basis for system design and testing.</a:t>
            </a:r>
          </a:p>
          <a:p>
            <a:endParaRPr lang="en-US" dirty="0"/>
          </a:p>
        </p:txBody>
      </p:sp>
    </p:spTree>
    <p:extLst>
      <p:ext uri="{BB962C8B-B14F-4D97-AF65-F5344CB8AC3E}">
        <p14:creationId xmlns:p14="http://schemas.microsoft.com/office/powerpoint/2010/main" val="1215237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F3BCE-DB5D-B982-576D-23DA17C4F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560B0-8D5C-A158-7E7F-2CD91C305E1A}"/>
              </a:ext>
            </a:extLst>
          </p:cNvPr>
          <p:cNvSpPr>
            <a:spLocks noGrp="1"/>
          </p:cNvSpPr>
          <p:nvPr>
            <p:ph type="title"/>
          </p:nvPr>
        </p:nvSpPr>
        <p:spPr/>
        <p:txBody>
          <a:bodyPr/>
          <a:lstStyle/>
          <a:p>
            <a:r>
              <a:rPr lang="en-MY" dirty="0"/>
              <a:t>Functional Requirements</a:t>
            </a:r>
            <a:endParaRPr lang="en-US" dirty="0"/>
          </a:p>
        </p:txBody>
      </p:sp>
      <p:sp>
        <p:nvSpPr>
          <p:cNvPr id="3" name="Content Placeholder 2">
            <a:extLst>
              <a:ext uri="{FF2B5EF4-FFF2-40B4-BE49-F238E27FC236}">
                <a16:creationId xmlns:a16="http://schemas.microsoft.com/office/drawing/2014/main" id="{C5114781-5C13-7085-F188-6607386A1AAA}"/>
              </a:ext>
            </a:extLst>
          </p:cNvPr>
          <p:cNvSpPr>
            <a:spLocks noGrp="1"/>
          </p:cNvSpPr>
          <p:nvPr>
            <p:ph idx="1"/>
          </p:nvPr>
        </p:nvSpPr>
        <p:spPr/>
        <p:txBody>
          <a:bodyPr/>
          <a:lstStyle/>
          <a:p>
            <a:pPr>
              <a:lnSpc>
                <a:spcPct val="100000"/>
              </a:lnSpc>
            </a:pPr>
            <a:r>
              <a:rPr lang="en-MY" b="1" dirty="0"/>
              <a:t>Examples:</a:t>
            </a:r>
            <a:endParaRPr lang="en-MY" dirty="0"/>
          </a:p>
          <a:p>
            <a:pPr lvl="1">
              <a:lnSpc>
                <a:spcPct val="100000"/>
              </a:lnSpc>
              <a:buFont typeface="+mj-lt"/>
              <a:buAutoNum type="arabicPeriod"/>
            </a:pPr>
            <a:r>
              <a:rPr lang="en-MY" b="1" dirty="0"/>
              <a:t>Login Functionality:</a:t>
            </a:r>
            <a:br>
              <a:rPr lang="en-MY" dirty="0"/>
            </a:br>
            <a:r>
              <a:rPr lang="en-MY" dirty="0"/>
              <a:t>The system should allow users to log in with a username and password.</a:t>
            </a:r>
          </a:p>
          <a:p>
            <a:pPr lvl="1">
              <a:lnSpc>
                <a:spcPct val="100000"/>
              </a:lnSpc>
              <a:buFont typeface="+mj-lt"/>
              <a:buAutoNum type="arabicPeriod"/>
            </a:pPr>
            <a:r>
              <a:rPr lang="en-MY" b="1" dirty="0"/>
              <a:t>Search Feature:</a:t>
            </a:r>
            <a:br>
              <a:rPr lang="en-MY" dirty="0"/>
            </a:br>
            <a:r>
              <a:rPr lang="en-MY" dirty="0"/>
              <a:t>The system should provide a search bar that returns relevant results based on user queries.</a:t>
            </a:r>
          </a:p>
          <a:p>
            <a:pPr lvl="1">
              <a:lnSpc>
                <a:spcPct val="100000"/>
              </a:lnSpc>
              <a:buFont typeface="+mj-lt"/>
              <a:buAutoNum type="arabicPeriod"/>
            </a:pPr>
            <a:r>
              <a:rPr lang="en-MY" b="1" dirty="0"/>
              <a:t>Report Generation:</a:t>
            </a:r>
            <a:br>
              <a:rPr lang="en-MY" dirty="0"/>
            </a:br>
            <a:r>
              <a:rPr lang="en-MY" dirty="0"/>
              <a:t>The system should generate monthly sales reports in PDF format.</a:t>
            </a:r>
          </a:p>
          <a:p>
            <a:pPr marL="0" indent="0">
              <a:lnSpc>
                <a:spcPct val="100000"/>
              </a:lnSpc>
              <a:buNone/>
            </a:pPr>
            <a:endParaRPr lang="en-US" dirty="0"/>
          </a:p>
        </p:txBody>
      </p:sp>
    </p:spTree>
    <p:extLst>
      <p:ext uri="{BB962C8B-B14F-4D97-AF65-F5344CB8AC3E}">
        <p14:creationId xmlns:p14="http://schemas.microsoft.com/office/powerpoint/2010/main" val="2403144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C5AA2-849A-7271-A9A8-279E20165BDF}"/>
              </a:ext>
            </a:extLst>
          </p:cNvPr>
          <p:cNvSpPr>
            <a:spLocks noGrp="1"/>
          </p:cNvSpPr>
          <p:nvPr>
            <p:ph type="title"/>
          </p:nvPr>
        </p:nvSpPr>
        <p:spPr/>
        <p:txBody>
          <a:bodyPr/>
          <a:lstStyle/>
          <a:p>
            <a:r>
              <a:rPr lang="en-MY" dirty="0"/>
              <a:t>Non-Functional Requirements</a:t>
            </a:r>
            <a:endParaRPr lang="en-US" dirty="0"/>
          </a:p>
        </p:txBody>
      </p:sp>
      <p:sp>
        <p:nvSpPr>
          <p:cNvPr id="3" name="Content Placeholder 2">
            <a:extLst>
              <a:ext uri="{FF2B5EF4-FFF2-40B4-BE49-F238E27FC236}">
                <a16:creationId xmlns:a16="http://schemas.microsoft.com/office/drawing/2014/main" id="{2BE903E0-7DE7-8C71-BF03-5B2D07BEE92E}"/>
              </a:ext>
            </a:extLst>
          </p:cNvPr>
          <p:cNvSpPr>
            <a:spLocks noGrp="1"/>
          </p:cNvSpPr>
          <p:nvPr>
            <p:ph idx="1"/>
          </p:nvPr>
        </p:nvSpPr>
        <p:spPr/>
        <p:txBody>
          <a:bodyPr/>
          <a:lstStyle/>
          <a:p>
            <a:r>
              <a:rPr lang="en-MY" dirty="0"/>
              <a:t>Non-functional requirements describe how the system should perform rather than what it should do. These requirements focus on quality attributes, ensuring the system operates efficiently and meets user expectations.</a:t>
            </a:r>
          </a:p>
          <a:p>
            <a:endParaRPr lang="en-MY" dirty="0"/>
          </a:p>
          <a:p>
            <a:r>
              <a:rPr lang="en-MY" b="1" dirty="0"/>
              <a:t>Key Characteristics:</a:t>
            </a:r>
            <a:endParaRPr lang="en-MY" dirty="0"/>
          </a:p>
          <a:p>
            <a:pPr lvl="1"/>
            <a:r>
              <a:rPr lang="en-MY" dirty="0"/>
              <a:t>Address operational and environmental aspects.</a:t>
            </a:r>
          </a:p>
          <a:p>
            <a:pPr lvl="1"/>
            <a:r>
              <a:rPr lang="en-MY" dirty="0"/>
              <a:t>Impact user satisfaction and system reliability.</a:t>
            </a:r>
          </a:p>
          <a:p>
            <a:pPr lvl="1"/>
            <a:r>
              <a:rPr lang="en-MY" dirty="0"/>
              <a:t>Often harder to measure and validate.</a:t>
            </a:r>
          </a:p>
          <a:p>
            <a:endParaRPr lang="en-US" dirty="0"/>
          </a:p>
        </p:txBody>
      </p:sp>
    </p:spTree>
    <p:extLst>
      <p:ext uri="{BB962C8B-B14F-4D97-AF65-F5344CB8AC3E}">
        <p14:creationId xmlns:p14="http://schemas.microsoft.com/office/powerpoint/2010/main" val="3693068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72CDC-75D7-9BD3-778D-DA73268E6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42609-2AA0-5EC5-419E-43F29ECD800A}"/>
              </a:ext>
            </a:extLst>
          </p:cNvPr>
          <p:cNvSpPr>
            <a:spLocks noGrp="1"/>
          </p:cNvSpPr>
          <p:nvPr>
            <p:ph type="title"/>
          </p:nvPr>
        </p:nvSpPr>
        <p:spPr/>
        <p:txBody>
          <a:bodyPr/>
          <a:lstStyle/>
          <a:p>
            <a:r>
              <a:rPr lang="en-MY" dirty="0"/>
              <a:t>Non-Functional Requirements</a:t>
            </a:r>
            <a:endParaRPr lang="en-US" dirty="0"/>
          </a:p>
        </p:txBody>
      </p:sp>
      <p:sp>
        <p:nvSpPr>
          <p:cNvPr id="3" name="Content Placeholder 2">
            <a:extLst>
              <a:ext uri="{FF2B5EF4-FFF2-40B4-BE49-F238E27FC236}">
                <a16:creationId xmlns:a16="http://schemas.microsoft.com/office/drawing/2014/main" id="{DFA3F6CB-36A1-E2FC-92DC-770681D04682}"/>
              </a:ext>
            </a:extLst>
          </p:cNvPr>
          <p:cNvSpPr>
            <a:spLocks noGrp="1"/>
          </p:cNvSpPr>
          <p:nvPr>
            <p:ph idx="1"/>
          </p:nvPr>
        </p:nvSpPr>
        <p:spPr/>
        <p:txBody>
          <a:bodyPr>
            <a:normAutofit fontScale="92500" lnSpcReduction="10000"/>
          </a:bodyPr>
          <a:lstStyle/>
          <a:p>
            <a:pPr>
              <a:lnSpc>
                <a:spcPct val="120000"/>
              </a:lnSpc>
            </a:pPr>
            <a:r>
              <a:rPr lang="en-MY" b="1" dirty="0"/>
              <a:t>Examples:</a:t>
            </a:r>
            <a:endParaRPr lang="en-MY" dirty="0"/>
          </a:p>
          <a:p>
            <a:pPr lvl="1">
              <a:lnSpc>
                <a:spcPct val="120000"/>
              </a:lnSpc>
              <a:buFont typeface="+mj-lt"/>
              <a:buAutoNum type="arabicPeriod"/>
            </a:pPr>
            <a:r>
              <a:rPr lang="en-MY" b="1" dirty="0"/>
              <a:t>Performance:</a:t>
            </a:r>
            <a:br>
              <a:rPr lang="en-MY" dirty="0"/>
            </a:br>
            <a:r>
              <a:rPr lang="en-MY" dirty="0"/>
              <a:t>The system should handle 1,000 concurrent users without performance degradation.</a:t>
            </a:r>
          </a:p>
          <a:p>
            <a:pPr lvl="1">
              <a:lnSpc>
                <a:spcPct val="120000"/>
              </a:lnSpc>
              <a:buFont typeface="+mj-lt"/>
              <a:buAutoNum type="arabicPeriod"/>
            </a:pPr>
            <a:r>
              <a:rPr lang="en-MY" b="1" dirty="0"/>
              <a:t>Security:</a:t>
            </a:r>
            <a:br>
              <a:rPr lang="en-MY" dirty="0"/>
            </a:br>
            <a:r>
              <a:rPr lang="en-MY" dirty="0"/>
              <a:t>The system should encrypt user data using AES-256 encryption.</a:t>
            </a:r>
          </a:p>
          <a:p>
            <a:pPr lvl="1">
              <a:lnSpc>
                <a:spcPct val="120000"/>
              </a:lnSpc>
              <a:buFont typeface="+mj-lt"/>
              <a:buAutoNum type="arabicPeriod"/>
            </a:pPr>
            <a:r>
              <a:rPr lang="en-MY" b="1" dirty="0"/>
              <a:t>Scalability:</a:t>
            </a:r>
            <a:br>
              <a:rPr lang="en-MY" dirty="0"/>
            </a:br>
            <a:r>
              <a:rPr lang="en-MY" dirty="0"/>
              <a:t>The system should support increasing workloads by adding additional servers.</a:t>
            </a:r>
          </a:p>
          <a:p>
            <a:pPr lvl="1">
              <a:lnSpc>
                <a:spcPct val="120000"/>
              </a:lnSpc>
              <a:buFont typeface="+mj-lt"/>
              <a:buAutoNum type="arabicPeriod"/>
            </a:pPr>
            <a:r>
              <a:rPr lang="en-MY" b="1" dirty="0"/>
              <a:t>Usability:</a:t>
            </a:r>
            <a:br>
              <a:rPr lang="en-MY" dirty="0"/>
            </a:br>
            <a:r>
              <a:rPr lang="en-MY" dirty="0"/>
              <a:t>The system should have an intuitive user interface with accessible navigation.</a:t>
            </a:r>
          </a:p>
          <a:p>
            <a:pPr>
              <a:lnSpc>
                <a:spcPct val="120000"/>
              </a:lnSpc>
            </a:pPr>
            <a:endParaRPr lang="en-US" dirty="0"/>
          </a:p>
        </p:txBody>
      </p:sp>
    </p:spTree>
    <p:extLst>
      <p:ext uri="{BB962C8B-B14F-4D97-AF65-F5344CB8AC3E}">
        <p14:creationId xmlns:p14="http://schemas.microsoft.com/office/powerpoint/2010/main" val="1833225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C86C-C703-1232-01BD-8A19D51E7CA4}"/>
              </a:ext>
            </a:extLst>
          </p:cNvPr>
          <p:cNvSpPr>
            <a:spLocks noGrp="1"/>
          </p:cNvSpPr>
          <p:nvPr>
            <p:ph type="title"/>
          </p:nvPr>
        </p:nvSpPr>
        <p:spPr/>
        <p:txBody>
          <a:bodyPr/>
          <a:lstStyle/>
          <a:p>
            <a:r>
              <a:rPr lang="en-MY" dirty="0"/>
              <a:t>Comparison: Functional vs. Non-Functional Requirements</a:t>
            </a:r>
            <a:endParaRPr lang="en-US" dirty="0"/>
          </a:p>
        </p:txBody>
      </p:sp>
      <p:graphicFrame>
        <p:nvGraphicFramePr>
          <p:cNvPr id="4" name="Content Placeholder 3">
            <a:extLst>
              <a:ext uri="{FF2B5EF4-FFF2-40B4-BE49-F238E27FC236}">
                <a16:creationId xmlns:a16="http://schemas.microsoft.com/office/drawing/2014/main" id="{99F83EF0-4DA2-E2E6-3202-2C72001A651E}"/>
              </a:ext>
            </a:extLst>
          </p:cNvPr>
          <p:cNvGraphicFramePr>
            <a:graphicFrameLocks noGrp="1"/>
          </p:cNvGraphicFramePr>
          <p:nvPr>
            <p:ph idx="1"/>
            <p:extLst>
              <p:ext uri="{D42A27DB-BD31-4B8C-83A1-F6EECF244321}">
                <p14:modId xmlns:p14="http://schemas.microsoft.com/office/powerpoint/2010/main" val="3293259003"/>
              </p:ext>
            </p:extLst>
          </p:nvPr>
        </p:nvGraphicFramePr>
        <p:xfrm>
          <a:off x="838200" y="1957340"/>
          <a:ext cx="10515600" cy="3291840"/>
        </p:xfrm>
        <a:graphic>
          <a:graphicData uri="http://schemas.openxmlformats.org/drawingml/2006/table">
            <a:tbl>
              <a:tblPr firstRow="1" firstCol="1">
                <a:tableStyleId>{69C7853C-536D-4A76-A0AE-DD22124D55A5}</a:tableStyleId>
              </a:tblPr>
              <a:tblGrid>
                <a:gridCol w="3505200">
                  <a:extLst>
                    <a:ext uri="{9D8B030D-6E8A-4147-A177-3AD203B41FA5}">
                      <a16:colId xmlns:a16="http://schemas.microsoft.com/office/drawing/2014/main" val="2323705939"/>
                    </a:ext>
                  </a:extLst>
                </a:gridCol>
                <a:gridCol w="3505200">
                  <a:extLst>
                    <a:ext uri="{9D8B030D-6E8A-4147-A177-3AD203B41FA5}">
                      <a16:colId xmlns:a16="http://schemas.microsoft.com/office/drawing/2014/main" val="2074210313"/>
                    </a:ext>
                  </a:extLst>
                </a:gridCol>
                <a:gridCol w="3505200">
                  <a:extLst>
                    <a:ext uri="{9D8B030D-6E8A-4147-A177-3AD203B41FA5}">
                      <a16:colId xmlns:a16="http://schemas.microsoft.com/office/drawing/2014/main" val="388943765"/>
                    </a:ext>
                  </a:extLst>
                </a:gridCol>
              </a:tblGrid>
              <a:tr h="0">
                <a:tc>
                  <a:txBody>
                    <a:bodyPr/>
                    <a:lstStyle/>
                    <a:p>
                      <a:r>
                        <a:rPr lang="en-MY" b="1"/>
                        <a:t>Aspect</a:t>
                      </a:r>
                      <a:endParaRPr lang="en-MY"/>
                    </a:p>
                  </a:txBody>
                  <a:tcPr anchor="ctr"/>
                </a:tc>
                <a:tc>
                  <a:txBody>
                    <a:bodyPr/>
                    <a:lstStyle/>
                    <a:p>
                      <a:r>
                        <a:rPr lang="en-MY" b="1"/>
                        <a:t>Functional Requirements</a:t>
                      </a:r>
                      <a:endParaRPr lang="en-MY"/>
                    </a:p>
                  </a:txBody>
                  <a:tcPr anchor="ctr"/>
                </a:tc>
                <a:tc>
                  <a:txBody>
                    <a:bodyPr/>
                    <a:lstStyle/>
                    <a:p>
                      <a:r>
                        <a:rPr lang="en-MY" b="1" dirty="0"/>
                        <a:t>Non-Functional Requirements</a:t>
                      </a:r>
                      <a:endParaRPr lang="en-MY" dirty="0"/>
                    </a:p>
                  </a:txBody>
                  <a:tcPr anchor="ctr"/>
                </a:tc>
                <a:extLst>
                  <a:ext uri="{0D108BD9-81ED-4DB2-BD59-A6C34878D82A}">
                    <a16:rowId xmlns:a16="http://schemas.microsoft.com/office/drawing/2014/main" val="1755813870"/>
                  </a:ext>
                </a:extLst>
              </a:tr>
              <a:tr h="0">
                <a:tc>
                  <a:txBody>
                    <a:bodyPr/>
                    <a:lstStyle/>
                    <a:p>
                      <a:r>
                        <a:rPr lang="en-MY" b="1"/>
                        <a:t>Definition</a:t>
                      </a:r>
                      <a:endParaRPr lang="en-MY"/>
                    </a:p>
                  </a:txBody>
                  <a:tcPr anchor="ctr"/>
                </a:tc>
                <a:tc>
                  <a:txBody>
                    <a:bodyPr/>
                    <a:lstStyle/>
                    <a:p>
                      <a:r>
                        <a:rPr lang="en-MY" dirty="0"/>
                        <a:t>What the system should do</a:t>
                      </a:r>
                    </a:p>
                  </a:txBody>
                  <a:tcPr anchor="ctr"/>
                </a:tc>
                <a:tc>
                  <a:txBody>
                    <a:bodyPr/>
                    <a:lstStyle/>
                    <a:p>
                      <a:r>
                        <a:rPr lang="en-MY"/>
                        <a:t>How the system should perform</a:t>
                      </a:r>
                    </a:p>
                  </a:txBody>
                  <a:tcPr anchor="ctr"/>
                </a:tc>
                <a:extLst>
                  <a:ext uri="{0D108BD9-81ED-4DB2-BD59-A6C34878D82A}">
                    <a16:rowId xmlns:a16="http://schemas.microsoft.com/office/drawing/2014/main" val="2126196259"/>
                  </a:ext>
                </a:extLst>
              </a:tr>
              <a:tr h="0">
                <a:tc>
                  <a:txBody>
                    <a:bodyPr/>
                    <a:lstStyle/>
                    <a:p>
                      <a:r>
                        <a:rPr lang="en-MY" b="1"/>
                        <a:t>Focus</a:t>
                      </a:r>
                      <a:endParaRPr lang="en-MY"/>
                    </a:p>
                  </a:txBody>
                  <a:tcPr anchor="ctr"/>
                </a:tc>
                <a:tc>
                  <a:txBody>
                    <a:bodyPr/>
                    <a:lstStyle/>
                    <a:p>
                      <a:r>
                        <a:rPr lang="en-MY"/>
                        <a:t>Specific functionality and tasks</a:t>
                      </a:r>
                    </a:p>
                  </a:txBody>
                  <a:tcPr anchor="ctr"/>
                </a:tc>
                <a:tc>
                  <a:txBody>
                    <a:bodyPr/>
                    <a:lstStyle/>
                    <a:p>
                      <a:r>
                        <a:rPr lang="en-MY"/>
                        <a:t>Quality attributes and performance</a:t>
                      </a:r>
                    </a:p>
                  </a:txBody>
                  <a:tcPr anchor="ctr"/>
                </a:tc>
                <a:extLst>
                  <a:ext uri="{0D108BD9-81ED-4DB2-BD59-A6C34878D82A}">
                    <a16:rowId xmlns:a16="http://schemas.microsoft.com/office/drawing/2014/main" val="2946183924"/>
                  </a:ext>
                </a:extLst>
              </a:tr>
              <a:tr h="0">
                <a:tc>
                  <a:txBody>
                    <a:bodyPr/>
                    <a:lstStyle/>
                    <a:p>
                      <a:r>
                        <a:rPr lang="en-MY" b="1"/>
                        <a:t>Examples</a:t>
                      </a:r>
                      <a:endParaRPr lang="en-MY"/>
                    </a:p>
                  </a:txBody>
                  <a:tcPr anchor="ctr"/>
                </a:tc>
                <a:tc>
                  <a:txBody>
                    <a:bodyPr/>
                    <a:lstStyle/>
                    <a:p>
                      <a:r>
                        <a:rPr lang="en-MY"/>
                        <a:t>Login, search, report generation</a:t>
                      </a:r>
                    </a:p>
                  </a:txBody>
                  <a:tcPr anchor="ctr"/>
                </a:tc>
                <a:tc>
                  <a:txBody>
                    <a:bodyPr/>
                    <a:lstStyle/>
                    <a:p>
                      <a:r>
                        <a:rPr lang="en-MY"/>
                        <a:t>Performance, security, scalability, usability</a:t>
                      </a:r>
                    </a:p>
                  </a:txBody>
                  <a:tcPr anchor="ctr"/>
                </a:tc>
                <a:extLst>
                  <a:ext uri="{0D108BD9-81ED-4DB2-BD59-A6C34878D82A}">
                    <a16:rowId xmlns:a16="http://schemas.microsoft.com/office/drawing/2014/main" val="375610349"/>
                  </a:ext>
                </a:extLst>
              </a:tr>
              <a:tr h="0">
                <a:tc>
                  <a:txBody>
                    <a:bodyPr/>
                    <a:lstStyle/>
                    <a:p>
                      <a:r>
                        <a:rPr lang="en-MY" b="1"/>
                        <a:t>Measurement</a:t>
                      </a:r>
                      <a:endParaRPr lang="en-MY"/>
                    </a:p>
                  </a:txBody>
                  <a:tcPr anchor="ctr"/>
                </a:tc>
                <a:tc>
                  <a:txBody>
                    <a:bodyPr/>
                    <a:lstStyle/>
                    <a:p>
                      <a:r>
                        <a:rPr lang="en-MY"/>
                        <a:t>Measured through system functionality</a:t>
                      </a:r>
                    </a:p>
                  </a:txBody>
                  <a:tcPr anchor="ctr"/>
                </a:tc>
                <a:tc>
                  <a:txBody>
                    <a:bodyPr/>
                    <a:lstStyle/>
                    <a:p>
                      <a:r>
                        <a:rPr lang="en-MY"/>
                        <a:t>Measured through system benchmarks</a:t>
                      </a:r>
                    </a:p>
                  </a:txBody>
                  <a:tcPr anchor="ctr"/>
                </a:tc>
                <a:extLst>
                  <a:ext uri="{0D108BD9-81ED-4DB2-BD59-A6C34878D82A}">
                    <a16:rowId xmlns:a16="http://schemas.microsoft.com/office/drawing/2014/main" val="425741436"/>
                  </a:ext>
                </a:extLst>
              </a:tr>
              <a:tr h="0">
                <a:tc>
                  <a:txBody>
                    <a:bodyPr/>
                    <a:lstStyle/>
                    <a:p>
                      <a:r>
                        <a:rPr lang="en-MY" b="1"/>
                        <a:t>Impact</a:t>
                      </a:r>
                      <a:endParaRPr lang="en-MY"/>
                    </a:p>
                  </a:txBody>
                  <a:tcPr anchor="ctr"/>
                </a:tc>
                <a:tc>
                  <a:txBody>
                    <a:bodyPr/>
                    <a:lstStyle/>
                    <a:p>
                      <a:r>
                        <a:rPr lang="en-MY"/>
                        <a:t>Directly impacts system operations</a:t>
                      </a:r>
                    </a:p>
                  </a:txBody>
                  <a:tcPr anchor="ctr"/>
                </a:tc>
                <a:tc>
                  <a:txBody>
                    <a:bodyPr/>
                    <a:lstStyle/>
                    <a:p>
                      <a:r>
                        <a:rPr lang="en-MY" dirty="0"/>
                        <a:t>Impacts user satisfaction and system efficiency</a:t>
                      </a:r>
                    </a:p>
                  </a:txBody>
                  <a:tcPr anchor="ctr"/>
                </a:tc>
                <a:extLst>
                  <a:ext uri="{0D108BD9-81ED-4DB2-BD59-A6C34878D82A}">
                    <a16:rowId xmlns:a16="http://schemas.microsoft.com/office/drawing/2014/main" val="812549053"/>
                  </a:ext>
                </a:extLst>
              </a:tr>
            </a:tbl>
          </a:graphicData>
        </a:graphic>
      </p:graphicFrame>
    </p:spTree>
    <p:extLst>
      <p:ext uri="{BB962C8B-B14F-4D97-AF65-F5344CB8AC3E}">
        <p14:creationId xmlns:p14="http://schemas.microsoft.com/office/powerpoint/2010/main" val="3092485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43A92-131B-5E26-F7C0-ECEB75F59632}"/>
              </a:ext>
            </a:extLst>
          </p:cNvPr>
          <p:cNvSpPr>
            <a:spLocks noGrp="1"/>
          </p:cNvSpPr>
          <p:nvPr>
            <p:ph type="title"/>
          </p:nvPr>
        </p:nvSpPr>
        <p:spPr/>
        <p:txBody>
          <a:bodyPr/>
          <a:lstStyle/>
          <a:p>
            <a:r>
              <a:rPr lang="en-MY" dirty="0"/>
              <a:t>Importance of Clear Requirements</a:t>
            </a:r>
            <a:endParaRPr lang="en-US" dirty="0"/>
          </a:p>
        </p:txBody>
      </p:sp>
      <p:sp>
        <p:nvSpPr>
          <p:cNvPr id="3" name="Content Placeholder 2">
            <a:extLst>
              <a:ext uri="{FF2B5EF4-FFF2-40B4-BE49-F238E27FC236}">
                <a16:creationId xmlns:a16="http://schemas.microsoft.com/office/drawing/2014/main" id="{F2D79F60-6A50-F672-3232-C6D102C78105}"/>
              </a:ext>
            </a:extLst>
          </p:cNvPr>
          <p:cNvSpPr>
            <a:spLocks noGrp="1"/>
          </p:cNvSpPr>
          <p:nvPr>
            <p:ph idx="1"/>
          </p:nvPr>
        </p:nvSpPr>
        <p:spPr/>
        <p:txBody>
          <a:bodyPr>
            <a:normAutofit fontScale="85000" lnSpcReduction="10000"/>
          </a:bodyPr>
          <a:lstStyle/>
          <a:p>
            <a:pPr>
              <a:lnSpc>
                <a:spcPct val="120000"/>
              </a:lnSpc>
            </a:pPr>
            <a:r>
              <a:rPr lang="en-MY" b="1" dirty="0"/>
              <a:t>Functional Requirements:</a:t>
            </a:r>
            <a:endParaRPr lang="en-MY" dirty="0"/>
          </a:p>
          <a:p>
            <a:pPr lvl="1">
              <a:lnSpc>
                <a:spcPct val="120000"/>
              </a:lnSpc>
            </a:pPr>
            <a:r>
              <a:rPr lang="en-MY" dirty="0"/>
              <a:t>Clearly defined functional requirements ensure the system </a:t>
            </a:r>
            <a:r>
              <a:rPr lang="en-MY" dirty="0" err="1"/>
              <a:t>fulfills</a:t>
            </a:r>
            <a:r>
              <a:rPr lang="en-MY" dirty="0"/>
              <a:t> user tasks effectively.</a:t>
            </a:r>
          </a:p>
          <a:p>
            <a:pPr lvl="1">
              <a:lnSpc>
                <a:spcPct val="120000"/>
              </a:lnSpc>
            </a:pPr>
            <a:r>
              <a:rPr lang="en-MY" dirty="0"/>
              <a:t>They reduce ambiguity and guide the design and implementation processes.</a:t>
            </a:r>
          </a:p>
          <a:p>
            <a:pPr lvl="1">
              <a:lnSpc>
                <a:spcPct val="120000"/>
              </a:lnSpc>
            </a:pPr>
            <a:r>
              <a:rPr lang="en-MY" dirty="0"/>
              <a:t>Example: If the login functionality is unclear, users may experience frustration or errors.</a:t>
            </a:r>
          </a:p>
          <a:p>
            <a:pPr>
              <a:lnSpc>
                <a:spcPct val="120000"/>
              </a:lnSpc>
            </a:pPr>
            <a:r>
              <a:rPr lang="en-MY" b="1" dirty="0"/>
              <a:t>Non-Functional Requirements:</a:t>
            </a:r>
            <a:endParaRPr lang="en-MY" dirty="0"/>
          </a:p>
          <a:p>
            <a:pPr lvl="1">
              <a:lnSpc>
                <a:spcPct val="120000"/>
              </a:lnSpc>
            </a:pPr>
            <a:r>
              <a:rPr lang="en-MY" dirty="0"/>
              <a:t>These requirements ensure the system performs well under real-world conditions.</a:t>
            </a:r>
          </a:p>
          <a:p>
            <a:pPr lvl="1">
              <a:lnSpc>
                <a:spcPct val="120000"/>
              </a:lnSpc>
            </a:pPr>
            <a:r>
              <a:rPr lang="en-MY" dirty="0"/>
              <a:t>They directly impact user satisfaction, reliability, and scalability.</a:t>
            </a:r>
          </a:p>
          <a:p>
            <a:pPr lvl="1">
              <a:lnSpc>
                <a:spcPct val="120000"/>
              </a:lnSpc>
            </a:pPr>
            <a:r>
              <a:rPr lang="en-MY" dirty="0"/>
              <a:t>Example: A slow or unresponsive system can lead to poor user experiences, even if all functional requirements are met.</a:t>
            </a:r>
          </a:p>
          <a:p>
            <a:pPr>
              <a:lnSpc>
                <a:spcPct val="120000"/>
              </a:lnSpc>
            </a:pPr>
            <a:endParaRPr lang="en-US" dirty="0"/>
          </a:p>
        </p:txBody>
      </p:sp>
    </p:spTree>
    <p:extLst>
      <p:ext uri="{BB962C8B-B14F-4D97-AF65-F5344CB8AC3E}">
        <p14:creationId xmlns:p14="http://schemas.microsoft.com/office/powerpoint/2010/main" val="2746905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04AAD-6F7C-6424-EA6D-30D1E6F41A05}"/>
              </a:ext>
            </a:extLst>
          </p:cNvPr>
          <p:cNvSpPr>
            <a:spLocks noGrp="1"/>
          </p:cNvSpPr>
          <p:nvPr>
            <p:ph type="title"/>
          </p:nvPr>
        </p:nvSpPr>
        <p:spPr/>
        <p:txBody>
          <a:bodyPr/>
          <a:lstStyle/>
          <a:p>
            <a:r>
              <a:rPr lang="en-MY" dirty="0"/>
              <a:t>What Makes a Good Requirement?</a:t>
            </a:r>
            <a:endParaRPr lang="en-US" dirty="0"/>
          </a:p>
        </p:txBody>
      </p:sp>
      <p:sp>
        <p:nvSpPr>
          <p:cNvPr id="3" name="Content Placeholder 2">
            <a:extLst>
              <a:ext uri="{FF2B5EF4-FFF2-40B4-BE49-F238E27FC236}">
                <a16:creationId xmlns:a16="http://schemas.microsoft.com/office/drawing/2014/main" id="{24CD340A-EDFF-721E-7EEC-CC93FB295422}"/>
              </a:ext>
            </a:extLst>
          </p:cNvPr>
          <p:cNvSpPr>
            <a:spLocks noGrp="1"/>
          </p:cNvSpPr>
          <p:nvPr>
            <p:ph idx="1"/>
          </p:nvPr>
        </p:nvSpPr>
        <p:spPr/>
        <p:txBody>
          <a:bodyPr>
            <a:normAutofit fontScale="70000" lnSpcReduction="20000"/>
          </a:bodyPr>
          <a:lstStyle/>
          <a:p>
            <a:pPr>
              <a:lnSpc>
                <a:spcPct val="120000"/>
              </a:lnSpc>
            </a:pPr>
            <a:r>
              <a:rPr lang="en-MY" b="1" dirty="0"/>
              <a:t>Characteristics of a Good Requirement:</a:t>
            </a:r>
            <a:endParaRPr lang="en-MY" dirty="0"/>
          </a:p>
          <a:p>
            <a:pPr lvl="1">
              <a:lnSpc>
                <a:spcPct val="120000"/>
              </a:lnSpc>
              <a:buFont typeface="+mj-lt"/>
              <a:buAutoNum type="arabicPeriod"/>
            </a:pPr>
            <a:r>
              <a:rPr lang="en-MY" b="1" dirty="0"/>
              <a:t>Clear:</a:t>
            </a:r>
            <a:br>
              <a:rPr lang="en-MY" dirty="0"/>
            </a:br>
            <a:r>
              <a:rPr lang="en-MY" dirty="0"/>
              <a:t>The requirement should be easy to understand and leave no room for misinterpretation.</a:t>
            </a:r>
          </a:p>
          <a:p>
            <a:pPr marL="1200150" lvl="2" indent="-285750">
              <a:lnSpc>
                <a:spcPct val="120000"/>
              </a:lnSpc>
              <a:buFont typeface="+mj-lt"/>
              <a:buAutoNum type="arabicPeriod"/>
            </a:pPr>
            <a:r>
              <a:rPr lang="en-MY" dirty="0"/>
              <a:t>Example: "The system shall generate a weekly sales report in PDF format."</a:t>
            </a:r>
          </a:p>
          <a:p>
            <a:pPr lvl="1">
              <a:lnSpc>
                <a:spcPct val="120000"/>
              </a:lnSpc>
              <a:buFont typeface="+mj-lt"/>
              <a:buAutoNum type="arabicPeriod"/>
            </a:pPr>
            <a:r>
              <a:rPr lang="en-MY" b="1" dirty="0"/>
              <a:t>Concise:</a:t>
            </a:r>
            <a:br>
              <a:rPr lang="en-MY" dirty="0"/>
            </a:br>
            <a:r>
              <a:rPr lang="en-MY" dirty="0"/>
              <a:t>The requirement should be brief and to the point while still providing enough detail.</a:t>
            </a:r>
          </a:p>
          <a:p>
            <a:pPr lvl="1">
              <a:lnSpc>
                <a:spcPct val="120000"/>
              </a:lnSpc>
              <a:buFont typeface="+mj-lt"/>
              <a:buAutoNum type="arabicPeriod"/>
            </a:pPr>
            <a:r>
              <a:rPr lang="en-MY" b="1" dirty="0"/>
              <a:t>Testable:</a:t>
            </a:r>
            <a:br>
              <a:rPr lang="en-MY" dirty="0"/>
            </a:br>
            <a:r>
              <a:rPr lang="en-MY" dirty="0"/>
              <a:t>The requirement must be verifiable through testing or demonstration.</a:t>
            </a:r>
          </a:p>
          <a:p>
            <a:pPr marL="1200150" lvl="2" indent="-285750">
              <a:lnSpc>
                <a:spcPct val="120000"/>
              </a:lnSpc>
              <a:buFont typeface="+mj-lt"/>
              <a:buAutoNum type="arabicPeriod"/>
            </a:pPr>
            <a:r>
              <a:rPr lang="en-MY" dirty="0"/>
              <a:t>Example: "The system shall encrypt all user passwords using AES-256 encryption."</a:t>
            </a:r>
          </a:p>
          <a:p>
            <a:pPr lvl="1">
              <a:lnSpc>
                <a:spcPct val="120000"/>
              </a:lnSpc>
              <a:buFont typeface="+mj-lt"/>
              <a:buAutoNum type="arabicPeriod"/>
            </a:pPr>
            <a:r>
              <a:rPr lang="en-MY" b="1" dirty="0"/>
              <a:t>Consistent:</a:t>
            </a:r>
            <a:br>
              <a:rPr lang="en-MY" dirty="0"/>
            </a:br>
            <a:r>
              <a:rPr lang="en-MY" dirty="0"/>
              <a:t>There should be no contradictions between requirements or other project documents.</a:t>
            </a:r>
          </a:p>
          <a:p>
            <a:pPr lvl="1">
              <a:lnSpc>
                <a:spcPct val="120000"/>
              </a:lnSpc>
              <a:buFont typeface="+mj-lt"/>
              <a:buAutoNum type="arabicPeriod"/>
            </a:pPr>
            <a:r>
              <a:rPr lang="en-MY" b="1" dirty="0"/>
              <a:t>Feasible:</a:t>
            </a:r>
            <a:br>
              <a:rPr lang="en-MY" dirty="0"/>
            </a:br>
            <a:r>
              <a:rPr lang="en-MY" dirty="0"/>
              <a:t>The requirement should be achievable within the project’s constraints of time, budget, and technology.</a:t>
            </a:r>
          </a:p>
          <a:p>
            <a:pPr>
              <a:lnSpc>
                <a:spcPct val="120000"/>
              </a:lnSpc>
            </a:pPr>
            <a:endParaRPr lang="en-US" dirty="0"/>
          </a:p>
        </p:txBody>
      </p:sp>
    </p:spTree>
    <p:extLst>
      <p:ext uri="{BB962C8B-B14F-4D97-AF65-F5344CB8AC3E}">
        <p14:creationId xmlns:p14="http://schemas.microsoft.com/office/powerpoint/2010/main" val="3266973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0C39F-BBA7-FD13-26DE-6610FDCE39AE}"/>
              </a:ext>
            </a:extLst>
          </p:cNvPr>
          <p:cNvSpPr>
            <a:spLocks noGrp="1"/>
          </p:cNvSpPr>
          <p:nvPr>
            <p:ph type="title"/>
          </p:nvPr>
        </p:nvSpPr>
        <p:spPr/>
        <p:txBody>
          <a:bodyPr/>
          <a:lstStyle/>
          <a:p>
            <a:r>
              <a:rPr lang="en-MY" dirty="0"/>
              <a:t>Common Pitfalls in Writing Requirements</a:t>
            </a:r>
            <a:endParaRPr lang="en-US" dirty="0"/>
          </a:p>
        </p:txBody>
      </p:sp>
      <p:sp>
        <p:nvSpPr>
          <p:cNvPr id="3" name="Content Placeholder 2">
            <a:extLst>
              <a:ext uri="{FF2B5EF4-FFF2-40B4-BE49-F238E27FC236}">
                <a16:creationId xmlns:a16="http://schemas.microsoft.com/office/drawing/2014/main" id="{6D047AE9-3067-578C-CBD6-89F137EFDB76}"/>
              </a:ext>
            </a:extLst>
          </p:cNvPr>
          <p:cNvSpPr>
            <a:spLocks noGrp="1"/>
          </p:cNvSpPr>
          <p:nvPr>
            <p:ph idx="1"/>
          </p:nvPr>
        </p:nvSpPr>
        <p:spPr/>
        <p:txBody>
          <a:bodyPr>
            <a:normAutofit fontScale="70000" lnSpcReduction="20000"/>
          </a:bodyPr>
          <a:lstStyle/>
          <a:p>
            <a:pPr>
              <a:lnSpc>
                <a:spcPct val="120000"/>
              </a:lnSpc>
            </a:pPr>
            <a:r>
              <a:rPr lang="en-MY" b="1" dirty="0"/>
              <a:t>Ambiguity:</a:t>
            </a:r>
            <a:br>
              <a:rPr lang="en-MY" dirty="0"/>
            </a:br>
            <a:r>
              <a:rPr lang="en-MY" dirty="0"/>
              <a:t>Requirements that can be interpreted in multiple ways lead to confusion.</a:t>
            </a:r>
          </a:p>
          <a:p>
            <a:pPr>
              <a:lnSpc>
                <a:spcPct val="120000"/>
              </a:lnSpc>
              <a:buFont typeface="Arial" panose="020B0604020202020204" pitchFamily="34" charset="0"/>
              <a:buChar char="•"/>
            </a:pPr>
            <a:r>
              <a:rPr lang="en-MY" dirty="0"/>
              <a:t>Example of a poor requirement: "The system should be fast."</a:t>
            </a:r>
          </a:p>
          <a:p>
            <a:pPr>
              <a:lnSpc>
                <a:spcPct val="120000"/>
              </a:lnSpc>
            </a:pPr>
            <a:r>
              <a:rPr lang="en-MY" b="1" dirty="0"/>
              <a:t>Vagueness:</a:t>
            </a:r>
            <a:br>
              <a:rPr lang="en-MY" dirty="0"/>
            </a:br>
            <a:r>
              <a:rPr lang="en-MY" dirty="0"/>
              <a:t>Requirements lacking specific details are difficult to implement and test.</a:t>
            </a:r>
          </a:p>
          <a:p>
            <a:pPr>
              <a:lnSpc>
                <a:spcPct val="120000"/>
              </a:lnSpc>
              <a:buFont typeface="Arial" panose="020B0604020202020204" pitchFamily="34" charset="0"/>
              <a:buChar char="•"/>
            </a:pPr>
            <a:r>
              <a:rPr lang="en-MY" dirty="0"/>
              <a:t>Example: "The system should handle many users."</a:t>
            </a:r>
          </a:p>
          <a:p>
            <a:pPr>
              <a:lnSpc>
                <a:spcPct val="120000"/>
              </a:lnSpc>
            </a:pPr>
            <a:r>
              <a:rPr lang="en-MY" b="1" dirty="0"/>
              <a:t>Lack of Detail:</a:t>
            </a:r>
            <a:br>
              <a:rPr lang="en-MY" dirty="0"/>
            </a:br>
            <a:r>
              <a:rPr lang="en-MY" dirty="0"/>
              <a:t>Insufficient information leaves developers guessing about what is needed.</a:t>
            </a:r>
          </a:p>
          <a:p>
            <a:pPr>
              <a:lnSpc>
                <a:spcPct val="120000"/>
              </a:lnSpc>
            </a:pPr>
            <a:r>
              <a:rPr lang="en-MY" b="1" dirty="0"/>
              <a:t>Over-Specification:</a:t>
            </a:r>
            <a:br>
              <a:rPr lang="en-MY" dirty="0"/>
            </a:br>
            <a:r>
              <a:rPr lang="en-MY" dirty="0"/>
              <a:t>Overly detailed requirements can limit flexibility and creativity in implementation.</a:t>
            </a:r>
          </a:p>
          <a:p>
            <a:pPr>
              <a:lnSpc>
                <a:spcPct val="120000"/>
              </a:lnSpc>
              <a:buFont typeface="Arial" panose="020B0604020202020204" pitchFamily="34" charset="0"/>
              <a:buChar char="•"/>
            </a:pPr>
            <a:r>
              <a:rPr lang="en-MY" dirty="0"/>
              <a:t>Example: Specifying exact implementation methods instead of expected outcomes.</a:t>
            </a:r>
          </a:p>
          <a:p>
            <a:pPr>
              <a:lnSpc>
                <a:spcPct val="120000"/>
              </a:lnSpc>
            </a:pPr>
            <a:endParaRPr lang="en-US" dirty="0"/>
          </a:p>
        </p:txBody>
      </p:sp>
    </p:spTree>
    <p:extLst>
      <p:ext uri="{BB962C8B-B14F-4D97-AF65-F5344CB8AC3E}">
        <p14:creationId xmlns:p14="http://schemas.microsoft.com/office/powerpoint/2010/main" val="2194431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60F38-21D6-A06B-C173-16F8ABB7AD40}"/>
              </a:ext>
            </a:extLst>
          </p:cNvPr>
          <p:cNvSpPr>
            <a:spLocks noGrp="1"/>
          </p:cNvSpPr>
          <p:nvPr>
            <p:ph type="title"/>
          </p:nvPr>
        </p:nvSpPr>
        <p:spPr/>
        <p:txBody>
          <a:bodyPr/>
          <a:lstStyle/>
          <a:p>
            <a:r>
              <a:rPr lang="en-MY" dirty="0"/>
              <a:t>Using Templates and Standards</a:t>
            </a:r>
            <a:endParaRPr lang="en-US" dirty="0"/>
          </a:p>
        </p:txBody>
      </p:sp>
      <p:sp>
        <p:nvSpPr>
          <p:cNvPr id="3" name="Content Placeholder 2">
            <a:extLst>
              <a:ext uri="{FF2B5EF4-FFF2-40B4-BE49-F238E27FC236}">
                <a16:creationId xmlns:a16="http://schemas.microsoft.com/office/drawing/2014/main" id="{AD49B652-3FF5-D99F-60C8-E17F5E0DAE86}"/>
              </a:ext>
            </a:extLst>
          </p:cNvPr>
          <p:cNvSpPr>
            <a:spLocks noGrp="1"/>
          </p:cNvSpPr>
          <p:nvPr>
            <p:ph idx="1"/>
          </p:nvPr>
        </p:nvSpPr>
        <p:spPr/>
        <p:txBody>
          <a:bodyPr/>
          <a:lstStyle/>
          <a:p>
            <a:r>
              <a:rPr lang="en-MY" b="1" dirty="0"/>
              <a:t>Ensures Uniformity:</a:t>
            </a:r>
            <a:br>
              <a:rPr lang="en-MY" dirty="0"/>
            </a:br>
            <a:r>
              <a:rPr lang="en-MY" dirty="0"/>
              <a:t>All requirements are documented in a consistent format, making them easier to understand and review.</a:t>
            </a:r>
          </a:p>
          <a:p>
            <a:r>
              <a:rPr lang="en-MY" b="1" dirty="0"/>
              <a:t>Promotes Completeness:</a:t>
            </a:r>
            <a:br>
              <a:rPr lang="en-MY" dirty="0"/>
            </a:br>
            <a:r>
              <a:rPr lang="en-MY" dirty="0"/>
              <a:t>Templates guide writers to include all necessary information, reducing the risk of missed details.</a:t>
            </a:r>
          </a:p>
          <a:p>
            <a:r>
              <a:rPr lang="en-MY" b="1" dirty="0"/>
              <a:t>Enhances Quality:</a:t>
            </a:r>
            <a:br>
              <a:rPr lang="en-MY" dirty="0"/>
            </a:br>
            <a:r>
              <a:rPr lang="en-MY" dirty="0"/>
              <a:t>Standards ensure that requirements meet industry best practices.</a:t>
            </a:r>
          </a:p>
          <a:p>
            <a:endParaRPr lang="en-US" dirty="0"/>
          </a:p>
        </p:txBody>
      </p:sp>
    </p:spTree>
    <p:extLst>
      <p:ext uri="{BB962C8B-B14F-4D97-AF65-F5344CB8AC3E}">
        <p14:creationId xmlns:p14="http://schemas.microsoft.com/office/powerpoint/2010/main" val="1943119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5C2AB-207A-04BB-5D65-3ACAA8572175}"/>
              </a:ext>
            </a:extLst>
          </p:cNvPr>
          <p:cNvSpPr>
            <a:spLocks noGrp="1"/>
          </p:cNvSpPr>
          <p:nvPr>
            <p:ph type="title"/>
          </p:nvPr>
        </p:nvSpPr>
        <p:spPr/>
        <p:txBody>
          <a:bodyPr/>
          <a:lstStyle/>
          <a:p>
            <a:r>
              <a:rPr lang="en-MY" dirty="0"/>
              <a:t>Examples of Well-Written Requirements</a:t>
            </a:r>
            <a:endParaRPr lang="en-US" dirty="0"/>
          </a:p>
        </p:txBody>
      </p:sp>
      <p:sp>
        <p:nvSpPr>
          <p:cNvPr id="3" name="Content Placeholder 2">
            <a:extLst>
              <a:ext uri="{FF2B5EF4-FFF2-40B4-BE49-F238E27FC236}">
                <a16:creationId xmlns:a16="http://schemas.microsoft.com/office/drawing/2014/main" id="{E5984A0B-1C01-DE54-F5AC-2FE1D73E74F1}"/>
              </a:ext>
            </a:extLst>
          </p:cNvPr>
          <p:cNvSpPr>
            <a:spLocks noGrp="1"/>
          </p:cNvSpPr>
          <p:nvPr>
            <p:ph idx="1"/>
          </p:nvPr>
        </p:nvSpPr>
        <p:spPr/>
        <p:txBody>
          <a:bodyPr/>
          <a:lstStyle/>
          <a:p>
            <a:r>
              <a:rPr lang="en-MY" b="1" dirty="0"/>
              <a:t>Functional Requirement:</a:t>
            </a:r>
            <a:endParaRPr lang="en-MY" dirty="0"/>
          </a:p>
          <a:p>
            <a:pPr lvl="1"/>
            <a:r>
              <a:rPr lang="en-MY" b="1" dirty="0"/>
              <a:t>Good Example:</a:t>
            </a:r>
            <a:r>
              <a:rPr lang="en-MY" dirty="0"/>
              <a:t> "The system shall allow users to reset their password using their registered email address."</a:t>
            </a:r>
          </a:p>
          <a:p>
            <a:pPr lvl="1"/>
            <a:r>
              <a:rPr lang="en-MY" b="1" dirty="0"/>
              <a:t>Why it’s good:</a:t>
            </a:r>
            <a:r>
              <a:rPr lang="en-MY" dirty="0"/>
              <a:t> It’s clear, specific, and testable.</a:t>
            </a:r>
          </a:p>
          <a:p>
            <a:r>
              <a:rPr lang="en-MY" b="1" dirty="0"/>
              <a:t>Non-Functional Requirement:</a:t>
            </a:r>
            <a:endParaRPr lang="en-MY" dirty="0"/>
          </a:p>
          <a:p>
            <a:pPr lvl="1"/>
            <a:r>
              <a:rPr lang="en-MY" b="1" dirty="0"/>
              <a:t>Good Example:</a:t>
            </a:r>
            <a:r>
              <a:rPr lang="en-MY" dirty="0"/>
              <a:t> "The system shall support up to 100 concurrent users with a response time of less than 2 seconds for any operation."</a:t>
            </a:r>
          </a:p>
          <a:p>
            <a:pPr lvl="1"/>
            <a:r>
              <a:rPr lang="en-MY" b="1" dirty="0"/>
              <a:t>Why it’s good:</a:t>
            </a:r>
            <a:r>
              <a:rPr lang="en-MY" dirty="0"/>
              <a:t> It defines measurable performance criteria.</a:t>
            </a:r>
          </a:p>
          <a:p>
            <a:endParaRPr lang="en-US" dirty="0"/>
          </a:p>
        </p:txBody>
      </p:sp>
    </p:spTree>
    <p:extLst>
      <p:ext uri="{BB962C8B-B14F-4D97-AF65-F5344CB8AC3E}">
        <p14:creationId xmlns:p14="http://schemas.microsoft.com/office/powerpoint/2010/main" val="758234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74B19-D906-D07D-F644-78FBF5902153}"/>
              </a:ext>
            </a:extLst>
          </p:cNvPr>
          <p:cNvSpPr>
            <a:spLocks noGrp="1"/>
          </p:cNvSpPr>
          <p:nvPr>
            <p:ph type="title"/>
          </p:nvPr>
        </p:nvSpPr>
        <p:spPr/>
        <p:txBody>
          <a:bodyPr/>
          <a:lstStyle/>
          <a:p>
            <a:r>
              <a:rPr lang="en-MY" dirty="0"/>
              <a:t>Techniques to Improve Requirement Quality</a:t>
            </a:r>
            <a:endParaRPr lang="en-US" dirty="0"/>
          </a:p>
        </p:txBody>
      </p:sp>
      <p:sp>
        <p:nvSpPr>
          <p:cNvPr id="3" name="Content Placeholder 2">
            <a:extLst>
              <a:ext uri="{FF2B5EF4-FFF2-40B4-BE49-F238E27FC236}">
                <a16:creationId xmlns:a16="http://schemas.microsoft.com/office/drawing/2014/main" id="{2B2B4EFC-5971-6C50-EEC5-1E999C61F930}"/>
              </a:ext>
            </a:extLst>
          </p:cNvPr>
          <p:cNvSpPr>
            <a:spLocks noGrp="1"/>
          </p:cNvSpPr>
          <p:nvPr>
            <p:ph idx="1"/>
          </p:nvPr>
        </p:nvSpPr>
        <p:spPr/>
        <p:txBody>
          <a:bodyPr>
            <a:normAutofit fontScale="62500" lnSpcReduction="20000"/>
          </a:bodyPr>
          <a:lstStyle/>
          <a:p>
            <a:pPr>
              <a:lnSpc>
                <a:spcPct val="120000"/>
              </a:lnSpc>
            </a:pPr>
            <a:r>
              <a:rPr lang="en-MY" b="1" dirty="0"/>
              <a:t>Use Simple Language:</a:t>
            </a:r>
            <a:br>
              <a:rPr lang="en-MY" dirty="0"/>
            </a:br>
            <a:r>
              <a:rPr lang="en-MY" dirty="0"/>
              <a:t>Write requirements in plain, non-technical language that all stakeholders can understand.</a:t>
            </a:r>
          </a:p>
          <a:p>
            <a:pPr>
              <a:lnSpc>
                <a:spcPct val="120000"/>
              </a:lnSpc>
              <a:buFont typeface="Arial" panose="020B0604020202020204" pitchFamily="34" charset="0"/>
              <a:buChar char="•"/>
            </a:pPr>
            <a:r>
              <a:rPr lang="en-MY" dirty="0"/>
              <a:t>Example: Instead of "implement an asymmetric cryptographic algorithm," write "use public-private key encryption."</a:t>
            </a:r>
          </a:p>
          <a:p>
            <a:pPr>
              <a:lnSpc>
                <a:spcPct val="120000"/>
              </a:lnSpc>
            </a:pPr>
            <a:r>
              <a:rPr lang="en-MY" b="1" dirty="0"/>
              <a:t>Avoid Technical Jargon:</a:t>
            </a:r>
            <a:br>
              <a:rPr lang="en-MY" dirty="0"/>
            </a:br>
            <a:r>
              <a:rPr lang="en-MY" dirty="0"/>
              <a:t>Use terminology that is accessible to both technical and non-technical stakeholders.</a:t>
            </a:r>
          </a:p>
          <a:p>
            <a:pPr>
              <a:lnSpc>
                <a:spcPct val="120000"/>
              </a:lnSpc>
            </a:pPr>
            <a:r>
              <a:rPr lang="en-MY" b="1" dirty="0"/>
              <a:t>Engage Stakeholders in Reviews:</a:t>
            </a:r>
            <a:br>
              <a:rPr lang="en-MY" dirty="0"/>
            </a:br>
            <a:r>
              <a:rPr lang="en-MY" dirty="0"/>
              <a:t>Regularly review requirements with stakeholders to ensure alignment and avoid miscommunication.</a:t>
            </a:r>
          </a:p>
          <a:p>
            <a:pPr>
              <a:lnSpc>
                <a:spcPct val="120000"/>
              </a:lnSpc>
            </a:pPr>
            <a:r>
              <a:rPr lang="en-MY" b="1" dirty="0"/>
              <a:t>Utilize Visual Aids:</a:t>
            </a:r>
            <a:br>
              <a:rPr lang="en-MY" dirty="0"/>
            </a:br>
            <a:r>
              <a:rPr lang="en-MY" dirty="0"/>
              <a:t>Incorporate diagrams, use case models, or flowcharts to supplement textual requirements.</a:t>
            </a:r>
          </a:p>
          <a:p>
            <a:pPr>
              <a:lnSpc>
                <a:spcPct val="120000"/>
              </a:lnSpc>
            </a:pPr>
            <a:r>
              <a:rPr lang="en-MY" b="1" dirty="0"/>
              <a:t>Iterative Refinement:</a:t>
            </a:r>
            <a:br>
              <a:rPr lang="en-MY" dirty="0"/>
            </a:br>
            <a:r>
              <a:rPr lang="en-MY" dirty="0"/>
              <a:t>Continuously refine requirements based on stakeholder feedback and evolving project needs.</a:t>
            </a:r>
          </a:p>
          <a:p>
            <a:pPr>
              <a:lnSpc>
                <a:spcPct val="120000"/>
              </a:lnSpc>
            </a:pPr>
            <a:endParaRPr lang="en-US" dirty="0"/>
          </a:p>
        </p:txBody>
      </p:sp>
    </p:spTree>
    <p:extLst>
      <p:ext uri="{BB962C8B-B14F-4D97-AF65-F5344CB8AC3E}">
        <p14:creationId xmlns:p14="http://schemas.microsoft.com/office/powerpoint/2010/main" val="2112197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7037-A428-2307-4483-16331F462FE8}"/>
              </a:ext>
            </a:extLst>
          </p:cNvPr>
          <p:cNvSpPr>
            <a:spLocks noGrp="1"/>
          </p:cNvSpPr>
          <p:nvPr>
            <p:ph type="title"/>
          </p:nvPr>
        </p:nvSpPr>
        <p:spPr/>
        <p:txBody>
          <a:bodyPr/>
          <a:lstStyle/>
          <a:p>
            <a:r>
              <a:rPr lang="en-US" dirty="0"/>
              <a:t>End of Topic 1</a:t>
            </a:r>
          </a:p>
        </p:txBody>
      </p:sp>
      <p:sp>
        <p:nvSpPr>
          <p:cNvPr id="4" name="TextBox 3">
            <a:extLst>
              <a:ext uri="{FF2B5EF4-FFF2-40B4-BE49-F238E27FC236}">
                <a16:creationId xmlns:a16="http://schemas.microsoft.com/office/drawing/2014/main" id="{675C3EA8-4E7D-3222-18B7-4F82B7F85FD6}"/>
              </a:ext>
            </a:extLst>
          </p:cNvPr>
          <p:cNvSpPr txBox="1"/>
          <p:nvPr/>
        </p:nvSpPr>
        <p:spPr>
          <a:xfrm>
            <a:off x="2422263" y="2398955"/>
            <a:ext cx="7347473" cy="646331"/>
          </a:xfrm>
          <a:prstGeom prst="rect">
            <a:avLst/>
          </a:prstGeom>
          <a:noFill/>
        </p:spPr>
        <p:txBody>
          <a:bodyPr wrap="square" rtlCol="0">
            <a:spAutoFit/>
          </a:bodyPr>
          <a:lstStyle/>
          <a:p>
            <a:r>
              <a:rPr lang="en-MY" dirty="0"/>
              <a:t>"Great software isn’t magic—it’s built on clear goals, solid plans, and knowing what matters most. Nail the basics, and the rest will flow."</a:t>
            </a:r>
            <a:endParaRPr lang="en-US" dirty="0"/>
          </a:p>
        </p:txBody>
      </p:sp>
    </p:spTree>
    <p:extLst>
      <p:ext uri="{BB962C8B-B14F-4D97-AF65-F5344CB8AC3E}">
        <p14:creationId xmlns:p14="http://schemas.microsoft.com/office/powerpoint/2010/main" val="1597697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1 – </a:t>
            </a:r>
            <a:r>
              <a:rPr lang="en-MY" b="1" u="sng" dirty="0"/>
              <a:t>Understanding, Eliciting, and Documenting Software Requirements</a:t>
            </a:r>
          </a:p>
          <a:p>
            <a:pPr algn="l"/>
            <a:r>
              <a:rPr lang="en-US" sz="1600" dirty="0"/>
              <a:t>CLO 1</a:t>
            </a:r>
          </a:p>
          <a:p>
            <a:pPr algn="l"/>
            <a:r>
              <a:rPr lang="en-US" sz="1600" dirty="0"/>
              <a:t>4 Hours</a:t>
            </a:r>
          </a:p>
        </p:txBody>
      </p:sp>
    </p:spTree>
    <p:extLst>
      <p:ext uri="{BB962C8B-B14F-4D97-AF65-F5344CB8AC3E}">
        <p14:creationId xmlns:p14="http://schemas.microsoft.com/office/powerpoint/2010/main" val="4254262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B2FB1-A553-B996-518D-36B053B18E76}"/>
              </a:ext>
            </a:extLst>
          </p:cNvPr>
          <p:cNvSpPr>
            <a:spLocks noGrp="1"/>
          </p:cNvSpPr>
          <p:nvPr>
            <p:ph type="title"/>
          </p:nvPr>
        </p:nvSpPr>
        <p:spPr/>
        <p:txBody>
          <a:bodyPr/>
          <a:lstStyle/>
          <a:p>
            <a:r>
              <a:rPr lang="en-MY" dirty="0"/>
              <a:t>Requirements Inception</a:t>
            </a:r>
            <a:endParaRPr lang="en-US" dirty="0"/>
          </a:p>
        </p:txBody>
      </p:sp>
      <p:sp>
        <p:nvSpPr>
          <p:cNvPr id="3" name="Content Placeholder 2">
            <a:extLst>
              <a:ext uri="{FF2B5EF4-FFF2-40B4-BE49-F238E27FC236}">
                <a16:creationId xmlns:a16="http://schemas.microsoft.com/office/drawing/2014/main" id="{323555F2-D72F-C2AA-A4A8-6BAFB23ADE83}"/>
              </a:ext>
            </a:extLst>
          </p:cNvPr>
          <p:cNvSpPr>
            <a:spLocks noGrp="1"/>
          </p:cNvSpPr>
          <p:nvPr>
            <p:ph idx="1"/>
          </p:nvPr>
        </p:nvSpPr>
        <p:spPr/>
        <p:txBody>
          <a:bodyPr/>
          <a:lstStyle/>
          <a:p>
            <a:r>
              <a:rPr lang="en-MY" dirty="0"/>
              <a:t>The initial phase of gathering high-level requirements and understanding the problem domain.</a:t>
            </a:r>
          </a:p>
          <a:p>
            <a:r>
              <a:rPr lang="en-MY" dirty="0"/>
              <a:t>Understand business needs and goals</a:t>
            </a:r>
          </a:p>
          <a:p>
            <a:r>
              <a:rPr lang="en-MY" dirty="0"/>
              <a:t>Identify key stakeholders</a:t>
            </a:r>
          </a:p>
          <a:p>
            <a:r>
              <a:rPr lang="en-MY" dirty="0"/>
              <a:t>Define high-level system scope</a:t>
            </a:r>
          </a:p>
          <a:p>
            <a:r>
              <a:rPr lang="en-US" dirty="0"/>
              <a:t>Outcome is </a:t>
            </a:r>
            <a:r>
              <a:rPr lang="en-MY" dirty="0"/>
              <a:t>a clear understanding of the problem to be solved.</a:t>
            </a:r>
            <a:endParaRPr lang="en-US" dirty="0"/>
          </a:p>
        </p:txBody>
      </p:sp>
    </p:spTree>
    <p:extLst>
      <p:ext uri="{BB962C8B-B14F-4D97-AF65-F5344CB8AC3E}">
        <p14:creationId xmlns:p14="http://schemas.microsoft.com/office/powerpoint/2010/main" val="1245733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8013C-B206-D55E-9963-D7FF0FCFAF34}"/>
              </a:ext>
            </a:extLst>
          </p:cNvPr>
          <p:cNvSpPr>
            <a:spLocks noGrp="1"/>
          </p:cNvSpPr>
          <p:nvPr>
            <p:ph type="title"/>
          </p:nvPr>
        </p:nvSpPr>
        <p:spPr/>
        <p:txBody>
          <a:bodyPr/>
          <a:lstStyle/>
          <a:p>
            <a:r>
              <a:rPr lang="en-MY" dirty="0"/>
              <a:t>Domain Understanding</a:t>
            </a:r>
            <a:endParaRPr lang="en-US" dirty="0"/>
          </a:p>
        </p:txBody>
      </p:sp>
      <p:sp>
        <p:nvSpPr>
          <p:cNvPr id="3" name="Content Placeholder 2">
            <a:extLst>
              <a:ext uri="{FF2B5EF4-FFF2-40B4-BE49-F238E27FC236}">
                <a16:creationId xmlns:a16="http://schemas.microsoft.com/office/drawing/2014/main" id="{CB849613-33F4-8B05-FE22-232A1F408E00}"/>
              </a:ext>
            </a:extLst>
          </p:cNvPr>
          <p:cNvSpPr>
            <a:spLocks noGrp="1"/>
          </p:cNvSpPr>
          <p:nvPr>
            <p:ph idx="1"/>
          </p:nvPr>
        </p:nvSpPr>
        <p:spPr/>
        <p:txBody>
          <a:bodyPr/>
          <a:lstStyle/>
          <a:p>
            <a:r>
              <a:rPr lang="en-MY" dirty="0"/>
              <a:t>Learning about the industry, business processes, and challenges.</a:t>
            </a:r>
          </a:p>
          <a:p>
            <a:r>
              <a:rPr lang="en-MY" dirty="0"/>
              <a:t>Understanding domain-specific terminology.</a:t>
            </a:r>
          </a:p>
          <a:p>
            <a:endParaRPr lang="en-MY" dirty="0"/>
          </a:p>
          <a:p>
            <a:pPr>
              <a:buFont typeface="Arial" panose="020B0604020202020204" pitchFamily="34" charset="0"/>
              <a:buChar char="•"/>
            </a:pPr>
            <a:r>
              <a:rPr lang="en-MY" dirty="0"/>
              <a:t>How to Achieve It?</a:t>
            </a:r>
          </a:p>
          <a:p>
            <a:pPr lvl="1"/>
            <a:r>
              <a:rPr lang="en-MY" dirty="0"/>
              <a:t>Studying existing systems and documentation.</a:t>
            </a:r>
          </a:p>
          <a:p>
            <a:pPr lvl="1"/>
            <a:r>
              <a:rPr lang="en-MY" dirty="0"/>
              <a:t>Interviewing domain experts.</a:t>
            </a:r>
          </a:p>
          <a:p>
            <a:pPr lvl="1"/>
            <a:r>
              <a:rPr lang="en-MY" dirty="0"/>
              <a:t>Observing real-world business operations.</a:t>
            </a:r>
          </a:p>
          <a:p>
            <a:endParaRPr lang="en-US" dirty="0"/>
          </a:p>
        </p:txBody>
      </p:sp>
    </p:spTree>
    <p:extLst>
      <p:ext uri="{BB962C8B-B14F-4D97-AF65-F5344CB8AC3E}">
        <p14:creationId xmlns:p14="http://schemas.microsoft.com/office/powerpoint/2010/main" val="2528994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B60F0-7B9E-9F1E-8061-3C98128C1E7D}"/>
              </a:ext>
            </a:extLst>
          </p:cNvPr>
          <p:cNvSpPr>
            <a:spLocks noGrp="1"/>
          </p:cNvSpPr>
          <p:nvPr>
            <p:ph type="title"/>
          </p:nvPr>
        </p:nvSpPr>
        <p:spPr/>
        <p:txBody>
          <a:bodyPr/>
          <a:lstStyle/>
          <a:p>
            <a:r>
              <a:rPr lang="en-MY" dirty="0"/>
              <a:t>Product Vision</a:t>
            </a:r>
            <a:endParaRPr lang="en-US" dirty="0"/>
          </a:p>
        </p:txBody>
      </p:sp>
      <p:sp>
        <p:nvSpPr>
          <p:cNvPr id="3" name="Content Placeholder 2">
            <a:extLst>
              <a:ext uri="{FF2B5EF4-FFF2-40B4-BE49-F238E27FC236}">
                <a16:creationId xmlns:a16="http://schemas.microsoft.com/office/drawing/2014/main" id="{6C797C63-518F-1730-617C-16688E41973E}"/>
              </a:ext>
            </a:extLst>
          </p:cNvPr>
          <p:cNvSpPr>
            <a:spLocks noGrp="1"/>
          </p:cNvSpPr>
          <p:nvPr>
            <p:ph idx="1"/>
          </p:nvPr>
        </p:nvSpPr>
        <p:spPr/>
        <p:txBody>
          <a:bodyPr/>
          <a:lstStyle/>
          <a:p>
            <a:r>
              <a:rPr lang="en-MY" dirty="0"/>
              <a:t>A high-level statement that describes what the product will achieve.</a:t>
            </a:r>
          </a:p>
          <a:p>
            <a:pPr>
              <a:buFont typeface="Arial" panose="020B0604020202020204" pitchFamily="34" charset="0"/>
              <a:buChar char="•"/>
            </a:pPr>
            <a:r>
              <a:rPr lang="en-MY" dirty="0"/>
              <a:t>Key Elements of Product Vision:</a:t>
            </a:r>
          </a:p>
          <a:p>
            <a:pPr lvl="1"/>
            <a:r>
              <a:rPr lang="en-MY" dirty="0"/>
              <a:t>Target Users</a:t>
            </a:r>
          </a:p>
          <a:p>
            <a:pPr lvl="1"/>
            <a:r>
              <a:rPr lang="en-MY" dirty="0"/>
              <a:t>Business Value</a:t>
            </a:r>
          </a:p>
          <a:p>
            <a:pPr lvl="1"/>
            <a:r>
              <a:rPr lang="en-MY" dirty="0"/>
              <a:t>Competitive Advantage</a:t>
            </a:r>
          </a:p>
          <a:p>
            <a:pPr lvl="1"/>
            <a:endParaRPr lang="en-MY" dirty="0"/>
          </a:p>
          <a:p>
            <a:pPr marL="457200" lvl="1" indent="0" algn="ctr">
              <a:buNone/>
            </a:pPr>
            <a:r>
              <a:rPr lang="en-MY" dirty="0"/>
              <a:t>"An AI-powered chatbot to automate customer service and reduce response time by 50%."</a:t>
            </a:r>
          </a:p>
          <a:p>
            <a:endParaRPr lang="en-US" dirty="0"/>
          </a:p>
        </p:txBody>
      </p:sp>
    </p:spTree>
    <p:extLst>
      <p:ext uri="{BB962C8B-B14F-4D97-AF65-F5344CB8AC3E}">
        <p14:creationId xmlns:p14="http://schemas.microsoft.com/office/powerpoint/2010/main" val="2037826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8165D-1F40-989B-3E45-65120D5C5BDC}"/>
              </a:ext>
            </a:extLst>
          </p:cNvPr>
          <p:cNvSpPr>
            <a:spLocks noGrp="1"/>
          </p:cNvSpPr>
          <p:nvPr>
            <p:ph type="title"/>
          </p:nvPr>
        </p:nvSpPr>
        <p:spPr/>
        <p:txBody>
          <a:bodyPr/>
          <a:lstStyle/>
          <a:p>
            <a:r>
              <a:rPr lang="en-MY" dirty="0"/>
              <a:t>Defining the Scope</a:t>
            </a:r>
            <a:endParaRPr lang="en-US" dirty="0"/>
          </a:p>
        </p:txBody>
      </p:sp>
      <p:sp>
        <p:nvSpPr>
          <p:cNvPr id="3" name="Content Placeholder 2">
            <a:extLst>
              <a:ext uri="{FF2B5EF4-FFF2-40B4-BE49-F238E27FC236}">
                <a16:creationId xmlns:a16="http://schemas.microsoft.com/office/drawing/2014/main" id="{46BC1DBA-AEC9-895F-5FAF-430611F52632}"/>
              </a:ext>
            </a:extLst>
          </p:cNvPr>
          <p:cNvSpPr>
            <a:spLocks noGrp="1"/>
          </p:cNvSpPr>
          <p:nvPr>
            <p:ph idx="1"/>
          </p:nvPr>
        </p:nvSpPr>
        <p:spPr/>
        <p:txBody>
          <a:bodyPr/>
          <a:lstStyle/>
          <a:p>
            <a:r>
              <a:rPr lang="en-MY" dirty="0"/>
              <a:t>Defines what is included (and excluded) in the system.</a:t>
            </a:r>
          </a:p>
          <a:p>
            <a:r>
              <a:rPr lang="en-MY" dirty="0"/>
              <a:t>Helps avoid </a:t>
            </a:r>
            <a:r>
              <a:rPr lang="en-MY" b="1" u="sng" dirty="0">
                <a:highlight>
                  <a:srgbClr val="FFFF00"/>
                </a:highlight>
              </a:rPr>
              <a:t>scope creep</a:t>
            </a:r>
            <a:r>
              <a:rPr lang="en-MY" dirty="0"/>
              <a:t>.</a:t>
            </a:r>
          </a:p>
          <a:p>
            <a:pPr>
              <a:buFont typeface="Arial" panose="020B0604020202020204" pitchFamily="34" charset="0"/>
              <a:buChar char="•"/>
            </a:pPr>
            <a:r>
              <a:rPr lang="en-MY" dirty="0"/>
              <a:t>Scope Statement Components:</a:t>
            </a:r>
          </a:p>
          <a:p>
            <a:pPr lvl="1"/>
            <a:r>
              <a:rPr lang="en-MY" dirty="0"/>
              <a:t>System Features</a:t>
            </a:r>
          </a:p>
          <a:p>
            <a:pPr lvl="1"/>
            <a:r>
              <a:rPr lang="en-MY" dirty="0"/>
              <a:t>Boundaries &amp; Constraints</a:t>
            </a:r>
          </a:p>
          <a:p>
            <a:pPr lvl="1"/>
            <a:r>
              <a:rPr lang="en-MY" dirty="0"/>
              <a:t>Assumptions</a:t>
            </a:r>
          </a:p>
          <a:p>
            <a:pPr lvl="1"/>
            <a:endParaRPr lang="en-MY" dirty="0"/>
          </a:p>
          <a:p>
            <a:pPr marL="457200" lvl="1" indent="0" algn="ctr">
              <a:buNone/>
            </a:pPr>
            <a:r>
              <a:rPr lang="en-MY" dirty="0"/>
              <a:t>"The system will allow users to register, log in, and make purchases, but will not handle inventory management."</a:t>
            </a:r>
          </a:p>
          <a:p>
            <a:endParaRPr lang="en-US" dirty="0"/>
          </a:p>
        </p:txBody>
      </p:sp>
    </p:spTree>
    <p:extLst>
      <p:ext uri="{BB962C8B-B14F-4D97-AF65-F5344CB8AC3E}">
        <p14:creationId xmlns:p14="http://schemas.microsoft.com/office/powerpoint/2010/main" val="1516635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AF61C-426A-EF26-5EA2-C7C023972E5F}"/>
              </a:ext>
            </a:extLst>
          </p:cNvPr>
          <p:cNvSpPr>
            <a:spLocks noGrp="1"/>
          </p:cNvSpPr>
          <p:nvPr>
            <p:ph type="title"/>
          </p:nvPr>
        </p:nvSpPr>
        <p:spPr/>
        <p:txBody>
          <a:bodyPr/>
          <a:lstStyle/>
          <a:p>
            <a:r>
              <a:rPr lang="en-MY" dirty="0"/>
              <a:t>Requirements Elicitation</a:t>
            </a:r>
            <a:endParaRPr lang="en-US" dirty="0"/>
          </a:p>
        </p:txBody>
      </p:sp>
      <p:sp>
        <p:nvSpPr>
          <p:cNvPr id="3" name="Content Placeholder 2">
            <a:extLst>
              <a:ext uri="{FF2B5EF4-FFF2-40B4-BE49-F238E27FC236}">
                <a16:creationId xmlns:a16="http://schemas.microsoft.com/office/drawing/2014/main" id="{9093CFCD-BA05-B8C4-9A61-8DF46E2339C6}"/>
              </a:ext>
            </a:extLst>
          </p:cNvPr>
          <p:cNvSpPr>
            <a:spLocks noGrp="1"/>
          </p:cNvSpPr>
          <p:nvPr>
            <p:ph idx="1"/>
          </p:nvPr>
        </p:nvSpPr>
        <p:spPr/>
        <p:txBody>
          <a:bodyPr/>
          <a:lstStyle/>
          <a:p>
            <a:r>
              <a:rPr lang="en-MY" dirty="0"/>
              <a:t>The process of gathering requirements from stakeholders.</a:t>
            </a:r>
          </a:p>
          <a:p>
            <a:endParaRPr lang="en-MY" dirty="0"/>
          </a:p>
          <a:p>
            <a:pPr>
              <a:buFont typeface="Arial" panose="020B0604020202020204" pitchFamily="34" charset="0"/>
              <a:buChar char="•"/>
            </a:pPr>
            <a:r>
              <a:rPr lang="en-MY" b="1" dirty="0"/>
              <a:t>Challenges in Elicitation:</a:t>
            </a:r>
          </a:p>
          <a:p>
            <a:pPr lvl="1"/>
            <a:r>
              <a:rPr lang="en-MY" dirty="0"/>
              <a:t>Unclear business needs</a:t>
            </a:r>
          </a:p>
          <a:p>
            <a:pPr lvl="1"/>
            <a:r>
              <a:rPr lang="en-MY" dirty="0"/>
              <a:t>Conflicting stakeholder interests</a:t>
            </a:r>
          </a:p>
          <a:p>
            <a:pPr lvl="1"/>
            <a:r>
              <a:rPr lang="en-MY" dirty="0"/>
              <a:t>Difficulty in expressing requirements</a:t>
            </a:r>
          </a:p>
          <a:p>
            <a:endParaRPr lang="en-US" dirty="0"/>
          </a:p>
        </p:txBody>
      </p:sp>
    </p:spTree>
    <p:extLst>
      <p:ext uri="{BB962C8B-B14F-4D97-AF65-F5344CB8AC3E}">
        <p14:creationId xmlns:p14="http://schemas.microsoft.com/office/powerpoint/2010/main" val="3035706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34D1-B575-E465-AD00-82B6BD775DF9}"/>
              </a:ext>
            </a:extLst>
          </p:cNvPr>
          <p:cNvSpPr>
            <a:spLocks noGrp="1"/>
          </p:cNvSpPr>
          <p:nvPr>
            <p:ph type="title"/>
          </p:nvPr>
        </p:nvSpPr>
        <p:spPr/>
        <p:txBody>
          <a:bodyPr/>
          <a:lstStyle/>
          <a:p>
            <a:r>
              <a:rPr lang="en-MY" dirty="0"/>
              <a:t>Interview Technique</a:t>
            </a:r>
            <a:endParaRPr lang="en-US" dirty="0"/>
          </a:p>
        </p:txBody>
      </p:sp>
      <p:sp>
        <p:nvSpPr>
          <p:cNvPr id="3" name="Content Placeholder 2">
            <a:extLst>
              <a:ext uri="{FF2B5EF4-FFF2-40B4-BE49-F238E27FC236}">
                <a16:creationId xmlns:a16="http://schemas.microsoft.com/office/drawing/2014/main" id="{73AD129E-DEDA-39BF-7A39-DA0C84509922}"/>
              </a:ext>
            </a:extLst>
          </p:cNvPr>
          <p:cNvSpPr>
            <a:spLocks noGrp="1"/>
          </p:cNvSpPr>
          <p:nvPr>
            <p:ph idx="1"/>
          </p:nvPr>
        </p:nvSpPr>
        <p:spPr/>
        <p:txBody>
          <a:bodyPr/>
          <a:lstStyle/>
          <a:p>
            <a:r>
              <a:rPr lang="en-MY" dirty="0"/>
              <a:t>An interview is a conversational method where stakeholders provide insights into their needs and expectations for the system.</a:t>
            </a:r>
          </a:p>
          <a:p>
            <a:pPr>
              <a:buFont typeface="Arial" panose="020B0604020202020204" pitchFamily="34" charset="0"/>
              <a:buChar char="•"/>
            </a:pPr>
            <a:r>
              <a:rPr lang="en-MY" dirty="0"/>
              <a:t>Types of Interviews:</a:t>
            </a:r>
          </a:p>
          <a:p>
            <a:pPr lvl="1"/>
            <a:r>
              <a:rPr lang="en-MY" dirty="0"/>
              <a:t>Structured: Predefined questions for consistency.</a:t>
            </a:r>
          </a:p>
          <a:p>
            <a:pPr lvl="1"/>
            <a:r>
              <a:rPr lang="en-MY" dirty="0"/>
              <a:t>Semi-Structured: Combination of standard questions with some flexibility.</a:t>
            </a:r>
          </a:p>
          <a:p>
            <a:pPr lvl="1"/>
            <a:r>
              <a:rPr lang="en-MY" dirty="0"/>
              <a:t>Unstructured: Open-ended conversation for in-depth exploration.</a:t>
            </a:r>
          </a:p>
          <a:p>
            <a:endParaRPr lang="en-MY" dirty="0"/>
          </a:p>
          <a:p>
            <a:endParaRPr lang="en-US" dirty="0"/>
          </a:p>
        </p:txBody>
      </p:sp>
    </p:spTree>
    <p:extLst>
      <p:ext uri="{BB962C8B-B14F-4D97-AF65-F5344CB8AC3E}">
        <p14:creationId xmlns:p14="http://schemas.microsoft.com/office/powerpoint/2010/main" val="2802125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4538-9360-8DA5-CBF2-538763C08F6D}"/>
              </a:ext>
            </a:extLst>
          </p:cNvPr>
          <p:cNvSpPr>
            <a:spLocks noGrp="1"/>
          </p:cNvSpPr>
          <p:nvPr>
            <p:ph type="title"/>
          </p:nvPr>
        </p:nvSpPr>
        <p:spPr/>
        <p:txBody>
          <a:bodyPr/>
          <a:lstStyle/>
          <a:p>
            <a:r>
              <a:rPr lang="en-US" dirty="0"/>
              <a:t>Structured Interview</a:t>
            </a:r>
          </a:p>
        </p:txBody>
      </p:sp>
      <p:sp>
        <p:nvSpPr>
          <p:cNvPr id="3" name="Content Placeholder 2">
            <a:extLst>
              <a:ext uri="{FF2B5EF4-FFF2-40B4-BE49-F238E27FC236}">
                <a16:creationId xmlns:a16="http://schemas.microsoft.com/office/drawing/2014/main" id="{1D01FA20-09FA-1D62-52FA-0148252ECB74}"/>
              </a:ext>
            </a:extLst>
          </p:cNvPr>
          <p:cNvSpPr>
            <a:spLocks noGrp="1"/>
          </p:cNvSpPr>
          <p:nvPr>
            <p:ph idx="1"/>
          </p:nvPr>
        </p:nvSpPr>
        <p:spPr/>
        <p:txBody>
          <a:bodyPr/>
          <a:lstStyle/>
          <a:p>
            <a:pPr algn="just"/>
            <a:r>
              <a:rPr lang="en-MY" dirty="0"/>
              <a:t>In a structured interview, the interviewer follows a set of predefined questions. Every participant answers the same questions, making the process standardized.</a:t>
            </a:r>
          </a:p>
          <a:p>
            <a:pPr algn="just"/>
            <a:r>
              <a:rPr lang="en-MY" dirty="0"/>
              <a:t>This format ensures consistency and makes it easier to compare responses. However, it may limit in-depth exploration since the questions are fixed.</a:t>
            </a:r>
            <a:endParaRPr lang="en-US" dirty="0"/>
          </a:p>
        </p:txBody>
      </p:sp>
    </p:spTree>
    <p:extLst>
      <p:ext uri="{BB962C8B-B14F-4D97-AF65-F5344CB8AC3E}">
        <p14:creationId xmlns:p14="http://schemas.microsoft.com/office/powerpoint/2010/main" val="3004936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5F50-93B6-1ECB-8334-C43A0285F247}"/>
              </a:ext>
            </a:extLst>
          </p:cNvPr>
          <p:cNvSpPr>
            <a:spLocks noGrp="1"/>
          </p:cNvSpPr>
          <p:nvPr>
            <p:ph type="title"/>
          </p:nvPr>
        </p:nvSpPr>
        <p:spPr/>
        <p:txBody>
          <a:bodyPr/>
          <a:lstStyle/>
          <a:p>
            <a:r>
              <a:rPr lang="en-MY" dirty="0"/>
              <a:t>Semi-Structured Interview:</a:t>
            </a:r>
            <a:endParaRPr lang="en-US" dirty="0"/>
          </a:p>
        </p:txBody>
      </p:sp>
      <p:sp>
        <p:nvSpPr>
          <p:cNvPr id="3" name="Content Placeholder 2">
            <a:extLst>
              <a:ext uri="{FF2B5EF4-FFF2-40B4-BE49-F238E27FC236}">
                <a16:creationId xmlns:a16="http://schemas.microsoft.com/office/drawing/2014/main" id="{AC582A56-88E9-24A8-91FD-4284F9F8318E}"/>
              </a:ext>
            </a:extLst>
          </p:cNvPr>
          <p:cNvSpPr>
            <a:spLocks noGrp="1"/>
          </p:cNvSpPr>
          <p:nvPr>
            <p:ph idx="1"/>
          </p:nvPr>
        </p:nvSpPr>
        <p:spPr/>
        <p:txBody>
          <a:bodyPr/>
          <a:lstStyle/>
          <a:p>
            <a:r>
              <a:rPr lang="en-MY" dirty="0"/>
              <a:t>Semi-structured interviews use a combination of standard questions and allow some flexibility.</a:t>
            </a:r>
          </a:p>
          <a:p>
            <a:r>
              <a:rPr lang="en-MY" dirty="0"/>
              <a:t>The interviewer follows a basic framework of questions but can probe further or ask follow-up questions based on the respondent’s answers.</a:t>
            </a:r>
          </a:p>
          <a:p>
            <a:r>
              <a:rPr lang="en-MY" dirty="0"/>
              <a:t>This approach balances consistency with flexibility, allowing deeper insights while maintaining some structure.</a:t>
            </a:r>
            <a:endParaRPr lang="en-US" dirty="0"/>
          </a:p>
        </p:txBody>
      </p:sp>
    </p:spTree>
    <p:extLst>
      <p:ext uri="{BB962C8B-B14F-4D97-AF65-F5344CB8AC3E}">
        <p14:creationId xmlns:p14="http://schemas.microsoft.com/office/powerpoint/2010/main" val="3644459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413AC-681A-C45D-74B1-640AB86E3A40}"/>
              </a:ext>
            </a:extLst>
          </p:cNvPr>
          <p:cNvSpPr>
            <a:spLocks noGrp="1"/>
          </p:cNvSpPr>
          <p:nvPr>
            <p:ph type="title"/>
          </p:nvPr>
        </p:nvSpPr>
        <p:spPr/>
        <p:txBody>
          <a:bodyPr/>
          <a:lstStyle/>
          <a:p>
            <a:r>
              <a:rPr lang="en-MY" dirty="0"/>
              <a:t>Unstructured Interview:</a:t>
            </a:r>
            <a:endParaRPr lang="en-US" dirty="0"/>
          </a:p>
        </p:txBody>
      </p:sp>
      <p:sp>
        <p:nvSpPr>
          <p:cNvPr id="3" name="Content Placeholder 2">
            <a:extLst>
              <a:ext uri="{FF2B5EF4-FFF2-40B4-BE49-F238E27FC236}">
                <a16:creationId xmlns:a16="http://schemas.microsoft.com/office/drawing/2014/main" id="{D14E3118-A440-EB0C-B90C-8F45B62A45D4}"/>
              </a:ext>
            </a:extLst>
          </p:cNvPr>
          <p:cNvSpPr>
            <a:spLocks noGrp="1"/>
          </p:cNvSpPr>
          <p:nvPr>
            <p:ph idx="1"/>
          </p:nvPr>
        </p:nvSpPr>
        <p:spPr/>
        <p:txBody>
          <a:bodyPr/>
          <a:lstStyle/>
          <a:p>
            <a:r>
              <a:rPr lang="en-MY" dirty="0"/>
              <a:t>In unstructured interviews, the conversation is open-ended, with no strict questions or order. The interviewer may have a few topics in mind but lets the conversation flow naturally.</a:t>
            </a:r>
          </a:p>
          <a:p>
            <a:r>
              <a:rPr lang="en-MY" dirty="0"/>
              <a:t>This approach provides the most flexibility and is ideal for gaining detailed insights and exploring topics in depth.</a:t>
            </a:r>
          </a:p>
          <a:p>
            <a:r>
              <a:rPr lang="en-MY" dirty="0"/>
              <a:t>However, it’s harder to compare responses across participants since the conversation varies widely from one person to another.</a:t>
            </a:r>
            <a:endParaRPr lang="en-US" dirty="0"/>
          </a:p>
        </p:txBody>
      </p:sp>
    </p:spTree>
    <p:extLst>
      <p:ext uri="{BB962C8B-B14F-4D97-AF65-F5344CB8AC3E}">
        <p14:creationId xmlns:p14="http://schemas.microsoft.com/office/powerpoint/2010/main" val="3709559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B965-F4F8-EC4D-444A-4C8D4696EE8F}"/>
              </a:ext>
            </a:extLst>
          </p:cNvPr>
          <p:cNvSpPr>
            <a:spLocks noGrp="1"/>
          </p:cNvSpPr>
          <p:nvPr>
            <p:ph type="title"/>
          </p:nvPr>
        </p:nvSpPr>
        <p:spPr/>
        <p:txBody>
          <a:bodyPr/>
          <a:lstStyle/>
          <a:p>
            <a:r>
              <a:rPr lang="en-US" dirty="0"/>
              <a:t>Benefits of each:</a:t>
            </a:r>
          </a:p>
        </p:txBody>
      </p:sp>
      <p:sp>
        <p:nvSpPr>
          <p:cNvPr id="3" name="Content Placeholder 2">
            <a:extLst>
              <a:ext uri="{FF2B5EF4-FFF2-40B4-BE49-F238E27FC236}">
                <a16:creationId xmlns:a16="http://schemas.microsoft.com/office/drawing/2014/main" id="{8DCA66EA-6818-2979-58E0-51AC3D6E665D}"/>
              </a:ext>
            </a:extLst>
          </p:cNvPr>
          <p:cNvSpPr>
            <a:spLocks noGrp="1"/>
          </p:cNvSpPr>
          <p:nvPr>
            <p:ph idx="1"/>
          </p:nvPr>
        </p:nvSpPr>
        <p:spPr/>
        <p:txBody>
          <a:bodyPr/>
          <a:lstStyle/>
          <a:p>
            <a:pPr algn="just"/>
            <a:r>
              <a:rPr lang="en-MY" b="1" dirty="0"/>
              <a:t>Structured</a:t>
            </a:r>
            <a:r>
              <a:rPr lang="en-MY" dirty="0"/>
              <a:t> is best for consistency and comparison.</a:t>
            </a:r>
          </a:p>
          <a:p>
            <a:pPr algn="just"/>
            <a:r>
              <a:rPr lang="en-MY" b="1" dirty="0"/>
              <a:t>Semi-structured</a:t>
            </a:r>
            <a:r>
              <a:rPr lang="en-MY" dirty="0"/>
              <a:t> works well when a balance of structure and flexibility is needed.</a:t>
            </a:r>
          </a:p>
          <a:p>
            <a:pPr algn="just"/>
            <a:r>
              <a:rPr lang="en-MY" b="1" dirty="0"/>
              <a:t>Unstructured</a:t>
            </a:r>
            <a:r>
              <a:rPr lang="en-MY" dirty="0"/>
              <a:t> is ideal for in-depth exploration but requires skilled interviewers to keep the conversation productive.</a:t>
            </a:r>
            <a:endParaRPr lang="en-US" dirty="0"/>
          </a:p>
        </p:txBody>
      </p:sp>
    </p:spTree>
    <p:extLst>
      <p:ext uri="{BB962C8B-B14F-4D97-AF65-F5344CB8AC3E}">
        <p14:creationId xmlns:p14="http://schemas.microsoft.com/office/powerpoint/2010/main" val="506138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2C7B5-AB30-C8F3-2644-6B63770E3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C4F07A-95D7-3A9A-9B67-8068747329BF}"/>
              </a:ext>
            </a:extLst>
          </p:cNvPr>
          <p:cNvSpPr>
            <a:spLocks noGrp="1"/>
          </p:cNvSpPr>
          <p:nvPr>
            <p:ph type="title"/>
          </p:nvPr>
        </p:nvSpPr>
        <p:spPr/>
        <p:txBody>
          <a:bodyPr/>
          <a:lstStyle/>
          <a:p>
            <a:r>
              <a:rPr lang="en-MY" dirty="0"/>
              <a:t>Preparing for an Interview</a:t>
            </a:r>
            <a:endParaRPr lang="en-US" dirty="0"/>
          </a:p>
        </p:txBody>
      </p:sp>
      <p:graphicFrame>
        <p:nvGraphicFramePr>
          <p:cNvPr id="7" name="Content Placeholder 2">
            <a:extLst>
              <a:ext uri="{FF2B5EF4-FFF2-40B4-BE49-F238E27FC236}">
                <a16:creationId xmlns:a16="http://schemas.microsoft.com/office/drawing/2014/main" id="{9236F831-41B8-6920-6DE7-B88B9AED2799}"/>
              </a:ext>
            </a:extLst>
          </p:cNvPr>
          <p:cNvGraphicFramePr>
            <a:graphicFrameLocks/>
          </p:cNvGraphicFramePr>
          <p:nvPr/>
        </p:nvGraphicFramePr>
        <p:xfrm>
          <a:off x="632085" y="169068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1847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2F8E1-12DF-5C77-9D33-E31ACD4CF662}"/>
              </a:ext>
            </a:extLst>
          </p:cNvPr>
          <p:cNvSpPr>
            <a:spLocks noGrp="1"/>
          </p:cNvSpPr>
          <p:nvPr>
            <p:ph type="title"/>
          </p:nvPr>
        </p:nvSpPr>
        <p:spPr/>
        <p:txBody>
          <a:bodyPr/>
          <a:lstStyle/>
          <a:p>
            <a:r>
              <a:rPr lang="en-US"/>
              <a:t>Conducting an Interview</a:t>
            </a:r>
            <a:endParaRPr lang="en-US" dirty="0"/>
          </a:p>
        </p:txBody>
      </p:sp>
      <p:graphicFrame>
        <p:nvGraphicFramePr>
          <p:cNvPr id="7" name="Content Placeholder 2">
            <a:extLst>
              <a:ext uri="{FF2B5EF4-FFF2-40B4-BE49-F238E27FC236}">
                <a16:creationId xmlns:a16="http://schemas.microsoft.com/office/drawing/2014/main" id="{73219901-4102-D49E-0ECA-EE7A98D2EB25}"/>
              </a:ext>
            </a:extLst>
          </p:cNvPr>
          <p:cNvGraphicFramePr>
            <a:graphicFrameLocks noGrp="1"/>
          </p:cNvGraphicFramePr>
          <p:nvPr>
            <p:ph idx="1"/>
          </p:nvPr>
        </p:nvGraphicFramePr>
        <p:xfrm>
          <a:off x="632085" y="151207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1751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0F96-B9EE-AC09-8C1E-C4F42700E179}"/>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825AE134-95D5-9B66-856F-A178FDC1B100}"/>
              </a:ext>
            </a:extLst>
          </p:cNvPr>
          <p:cNvSpPr>
            <a:spLocks noGrp="1"/>
          </p:cNvSpPr>
          <p:nvPr>
            <p:ph idx="1"/>
          </p:nvPr>
        </p:nvSpPr>
        <p:spPr/>
        <p:txBody>
          <a:bodyPr/>
          <a:lstStyle/>
          <a:p>
            <a:pPr marL="0" indent="0">
              <a:buNone/>
            </a:pPr>
            <a:r>
              <a:rPr lang="en-MY" dirty="0"/>
              <a:t>Benefits: </a:t>
            </a:r>
          </a:p>
          <a:p>
            <a:pPr marL="0" indent="0">
              <a:buNone/>
            </a:pPr>
            <a:r>
              <a:rPr lang="en-MY" dirty="0"/>
              <a:t>	Gathers in-depth information, clarifies expectations.</a:t>
            </a:r>
          </a:p>
          <a:p>
            <a:pPr marL="0" indent="0">
              <a:buNone/>
            </a:pPr>
            <a:endParaRPr lang="en-MY" dirty="0"/>
          </a:p>
          <a:p>
            <a:pPr marL="0" indent="0">
              <a:buNone/>
            </a:pPr>
            <a:r>
              <a:rPr lang="en-MY" dirty="0"/>
              <a:t>Limitations: </a:t>
            </a:r>
          </a:p>
          <a:p>
            <a:pPr marL="0" indent="0">
              <a:buNone/>
            </a:pPr>
            <a:r>
              <a:rPr lang="en-MY" dirty="0"/>
              <a:t>	Time-consuming, may introduce interviewer bias.</a:t>
            </a:r>
            <a:endParaRPr lang="en-US" dirty="0"/>
          </a:p>
        </p:txBody>
      </p:sp>
    </p:spTree>
    <p:extLst>
      <p:ext uri="{BB962C8B-B14F-4D97-AF65-F5344CB8AC3E}">
        <p14:creationId xmlns:p14="http://schemas.microsoft.com/office/powerpoint/2010/main" val="2919906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C3F0-2822-19A1-2A0B-5836B213E18E}"/>
              </a:ext>
            </a:extLst>
          </p:cNvPr>
          <p:cNvSpPr>
            <a:spLocks noGrp="1"/>
          </p:cNvSpPr>
          <p:nvPr>
            <p:ph type="title"/>
          </p:nvPr>
        </p:nvSpPr>
        <p:spPr/>
        <p:txBody>
          <a:bodyPr/>
          <a:lstStyle/>
          <a:p>
            <a:r>
              <a:rPr lang="en-MY" dirty="0"/>
              <a:t>Questionnaire Technique</a:t>
            </a:r>
            <a:endParaRPr lang="en-US" dirty="0"/>
          </a:p>
        </p:txBody>
      </p:sp>
      <p:sp>
        <p:nvSpPr>
          <p:cNvPr id="3" name="Content Placeholder 2">
            <a:extLst>
              <a:ext uri="{FF2B5EF4-FFF2-40B4-BE49-F238E27FC236}">
                <a16:creationId xmlns:a16="http://schemas.microsoft.com/office/drawing/2014/main" id="{AAF6F2F7-7E3F-77BF-141E-5EC2EC675AD0}"/>
              </a:ext>
            </a:extLst>
          </p:cNvPr>
          <p:cNvSpPr>
            <a:spLocks noGrp="1"/>
          </p:cNvSpPr>
          <p:nvPr>
            <p:ph idx="1"/>
          </p:nvPr>
        </p:nvSpPr>
        <p:spPr/>
        <p:txBody>
          <a:bodyPr>
            <a:normAutofit lnSpcReduction="10000"/>
          </a:bodyPr>
          <a:lstStyle/>
          <a:p>
            <a:r>
              <a:rPr lang="en-MY" dirty="0"/>
              <a:t>A questionnaire is a structured form that stakeholders fill out to provide input on their needs and requirements.</a:t>
            </a:r>
          </a:p>
          <a:p>
            <a:pPr>
              <a:buFont typeface="Arial" panose="020B0604020202020204" pitchFamily="34" charset="0"/>
              <a:buChar char="•"/>
            </a:pPr>
            <a:r>
              <a:rPr lang="en-MY" dirty="0"/>
              <a:t>Types of Questionnaires:</a:t>
            </a:r>
          </a:p>
          <a:p>
            <a:pPr lvl="1"/>
            <a:r>
              <a:rPr lang="en-MY" dirty="0"/>
              <a:t>Open-ended: Allows respondents to provide detailed feedback.</a:t>
            </a:r>
          </a:p>
          <a:p>
            <a:pPr lvl="1"/>
            <a:r>
              <a:rPr lang="en-MY" dirty="0"/>
              <a:t>Close-ended: Limits answers to specific choices for easier analysis.</a:t>
            </a:r>
          </a:p>
          <a:p>
            <a:pPr>
              <a:buFont typeface="Arial" panose="020B0604020202020204" pitchFamily="34" charset="0"/>
              <a:buChar char="•"/>
            </a:pPr>
            <a:r>
              <a:rPr lang="en-MY" dirty="0"/>
              <a:t>Designing Effective Questionnaires:</a:t>
            </a:r>
          </a:p>
          <a:p>
            <a:pPr lvl="1"/>
            <a:r>
              <a:rPr lang="en-MY" dirty="0"/>
              <a:t>Use clear, concise questions, include a mix of question types, and avoid leading questions.</a:t>
            </a:r>
          </a:p>
          <a:p>
            <a:pPr>
              <a:buFont typeface="Arial" panose="020B0604020202020204" pitchFamily="34" charset="0"/>
              <a:buChar char="•"/>
            </a:pPr>
            <a:r>
              <a:rPr lang="en-MY" dirty="0"/>
              <a:t>Distributing and Collecting Responses:</a:t>
            </a:r>
          </a:p>
          <a:p>
            <a:pPr lvl="1"/>
            <a:r>
              <a:rPr lang="en-MY" dirty="0"/>
              <a:t>Send via email, post on an online survey tool, or distribute in person to gather responses.</a:t>
            </a:r>
          </a:p>
          <a:p>
            <a:endParaRPr lang="en-US" dirty="0"/>
          </a:p>
        </p:txBody>
      </p:sp>
    </p:spTree>
    <p:extLst>
      <p:ext uri="{BB962C8B-B14F-4D97-AF65-F5344CB8AC3E}">
        <p14:creationId xmlns:p14="http://schemas.microsoft.com/office/powerpoint/2010/main" val="1562663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DAD9-00B9-473E-93C8-22D974FEA745}"/>
              </a:ext>
            </a:extLst>
          </p:cNvPr>
          <p:cNvSpPr>
            <a:spLocks noGrp="1"/>
          </p:cNvSpPr>
          <p:nvPr>
            <p:ph type="title"/>
          </p:nvPr>
        </p:nvSpPr>
        <p:spPr/>
        <p:txBody>
          <a:bodyPr/>
          <a:lstStyle/>
          <a:p>
            <a:r>
              <a:rPr lang="en-US" dirty="0"/>
              <a:t>Examples</a:t>
            </a:r>
          </a:p>
        </p:txBody>
      </p:sp>
      <p:graphicFrame>
        <p:nvGraphicFramePr>
          <p:cNvPr id="4" name="Table 3">
            <a:extLst>
              <a:ext uri="{FF2B5EF4-FFF2-40B4-BE49-F238E27FC236}">
                <a16:creationId xmlns:a16="http://schemas.microsoft.com/office/drawing/2014/main" id="{BBED8348-58C2-B12C-DF39-49A0139051EC}"/>
              </a:ext>
            </a:extLst>
          </p:cNvPr>
          <p:cNvGraphicFramePr>
            <a:graphicFrameLocks noGrp="1"/>
          </p:cNvGraphicFramePr>
          <p:nvPr/>
        </p:nvGraphicFramePr>
        <p:xfrm>
          <a:off x="2032000" y="1867983"/>
          <a:ext cx="8128000" cy="2656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38889109"/>
                    </a:ext>
                  </a:extLst>
                </a:gridCol>
                <a:gridCol w="4064000">
                  <a:extLst>
                    <a:ext uri="{9D8B030D-6E8A-4147-A177-3AD203B41FA5}">
                      <a16:colId xmlns:a16="http://schemas.microsoft.com/office/drawing/2014/main" val="936867240"/>
                    </a:ext>
                  </a:extLst>
                </a:gridCol>
              </a:tblGrid>
              <a:tr h="370840">
                <a:tc>
                  <a:txBody>
                    <a:bodyPr/>
                    <a:lstStyle/>
                    <a:p>
                      <a:r>
                        <a:rPr lang="en-US" dirty="0"/>
                        <a:t>Open Ended Question</a:t>
                      </a:r>
                    </a:p>
                  </a:txBody>
                  <a:tcPr/>
                </a:tc>
                <a:tc>
                  <a:txBody>
                    <a:bodyPr/>
                    <a:lstStyle/>
                    <a:p>
                      <a:r>
                        <a:rPr lang="en-US" dirty="0"/>
                        <a:t>Close Ended Question</a:t>
                      </a:r>
                    </a:p>
                  </a:txBody>
                  <a:tcPr/>
                </a:tc>
                <a:extLst>
                  <a:ext uri="{0D108BD9-81ED-4DB2-BD59-A6C34878D82A}">
                    <a16:rowId xmlns:a16="http://schemas.microsoft.com/office/drawing/2014/main" val="2784443142"/>
                  </a:ext>
                </a:extLst>
              </a:tr>
              <a:tr h="370840">
                <a:tc>
                  <a:txBody>
                    <a:bodyPr/>
                    <a:lstStyle/>
                    <a:p>
                      <a:r>
                        <a:rPr lang="en-MY" dirty="0"/>
                        <a:t>"What challenges do you face when using this system, and how do you think it could be improved?"</a:t>
                      </a:r>
                      <a:endParaRPr lang="en-US" dirty="0"/>
                    </a:p>
                  </a:txBody>
                  <a:tcPr/>
                </a:tc>
                <a:tc>
                  <a:txBody>
                    <a:bodyPr/>
                    <a:lstStyle/>
                    <a:p>
                      <a:r>
                        <a:rPr lang="en-MY" dirty="0"/>
                        <a:t>"How satisfied are you with the system’s ease of use?”</a:t>
                      </a:r>
                    </a:p>
                    <a:p>
                      <a:pPr marL="285750" indent="-285750">
                        <a:buFont typeface="Arial" panose="020B0604020202020204" pitchFamily="34" charset="0"/>
                        <a:buChar char="•"/>
                      </a:pPr>
                      <a:r>
                        <a:rPr lang="en-MY" dirty="0"/>
                        <a:t>Very Satisfied</a:t>
                      </a:r>
                    </a:p>
                    <a:p>
                      <a:pPr marL="285750" indent="-285750">
                        <a:buFont typeface="Arial" panose="020B0604020202020204" pitchFamily="34" charset="0"/>
                        <a:buChar char="•"/>
                      </a:pPr>
                      <a:r>
                        <a:rPr lang="en-MY" dirty="0"/>
                        <a:t>Satisfied</a:t>
                      </a:r>
                    </a:p>
                    <a:p>
                      <a:pPr marL="285750" indent="-285750">
                        <a:buFont typeface="Arial" panose="020B0604020202020204" pitchFamily="34" charset="0"/>
                        <a:buChar char="•"/>
                      </a:pPr>
                      <a:r>
                        <a:rPr lang="en-MY" dirty="0"/>
                        <a:t>Neutral</a:t>
                      </a:r>
                    </a:p>
                    <a:p>
                      <a:pPr marL="285750" indent="-285750">
                        <a:buFont typeface="Arial" panose="020B0604020202020204" pitchFamily="34" charset="0"/>
                        <a:buChar char="•"/>
                      </a:pPr>
                      <a:r>
                        <a:rPr lang="en-MY" dirty="0"/>
                        <a:t>Dissatisfied</a:t>
                      </a:r>
                    </a:p>
                    <a:p>
                      <a:pPr marL="285750" indent="-285750">
                        <a:buFont typeface="Arial" panose="020B0604020202020204" pitchFamily="34" charset="0"/>
                        <a:buChar char="•"/>
                      </a:pPr>
                      <a:r>
                        <a:rPr lang="en-MY" dirty="0"/>
                        <a:t>Very Dissatisfied</a:t>
                      </a:r>
                    </a:p>
                    <a:p>
                      <a:endParaRPr lang="en-US" dirty="0"/>
                    </a:p>
                  </a:txBody>
                  <a:tcPr/>
                </a:tc>
                <a:extLst>
                  <a:ext uri="{0D108BD9-81ED-4DB2-BD59-A6C34878D82A}">
                    <a16:rowId xmlns:a16="http://schemas.microsoft.com/office/drawing/2014/main" val="1247569431"/>
                  </a:ext>
                </a:extLst>
              </a:tr>
            </a:tbl>
          </a:graphicData>
        </a:graphic>
      </p:graphicFrame>
    </p:spTree>
    <p:extLst>
      <p:ext uri="{BB962C8B-B14F-4D97-AF65-F5344CB8AC3E}">
        <p14:creationId xmlns:p14="http://schemas.microsoft.com/office/powerpoint/2010/main" val="4247218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1B05-6668-CAFE-F81D-D3315A8DB8A9}"/>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F4C160DA-B18F-BED7-24CB-4A72C5F6DE70}"/>
              </a:ext>
            </a:extLst>
          </p:cNvPr>
          <p:cNvSpPr>
            <a:spLocks noGrp="1"/>
          </p:cNvSpPr>
          <p:nvPr>
            <p:ph idx="1"/>
          </p:nvPr>
        </p:nvSpPr>
        <p:spPr/>
        <p:txBody>
          <a:bodyPr/>
          <a:lstStyle/>
          <a:p>
            <a:pPr marL="0" indent="0">
              <a:buNone/>
            </a:pPr>
            <a:r>
              <a:rPr lang="en-MY" dirty="0"/>
              <a:t>Benefits: </a:t>
            </a:r>
          </a:p>
          <a:p>
            <a:pPr marL="0" indent="0">
              <a:buNone/>
            </a:pPr>
            <a:r>
              <a:rPr lang="en-MY" dirty="0"/>
              <a:t>	Efficient for large groups, anonymous feedback.</a:t>
            </a:r>
          </a:p>
          <a:p>
            <a:pPr marL="0" indent="0">
              <a:buNone/>
            </a:pPr>
            <a:r>
              <a:rPr lang="en-MY" dirty="0"/>
              <a:t>Limitations: </a:t>
            </a:r>
          </a:p>
          <a:p>
            <a:pPr marL="0" indent="0">
              <a:buNone/>
            </a:pPr>
            <a:r>
              <a:rPr lang="en-MY" dirty="0"/>
              <a:t>	Limited depth, may lack clarity.</a:t>
            </a:r>
            <a:endParaRPr lang="en-US" dirty="0"/>
          </a:p>
        </p:txBody>
      </p:sp>
    </p:spTree>
    <p:extLst>
      <p:ext uri="{BB962C8B-B14F-4D97-AF65-F5344CB8AC3E}">
        <p14:creationId xmlns:p14="http://schemas.microsoft.com/office/powerpoint/2010/main" val="649042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963B-7A43-3C46-9DEC-CC42868BE460}"/>
              </a:ext>
            </a:extLst>
          </p:cNvPr>
          <p:cNvSpPr>
            <a:spLocks noGrp="1"/>
          </p:cNvSpPr>
          <p:nvPr>
            <p:ph type="title"/>
          </p:nvPr>
        </p:nvSpPr>
        <p:spPr/>
        <p:txBody>
          <a:bodyPr/>
          <a:lstStyle/>
          <a:p>
            <a:r>
              <a:rPr lang="en-MY" dirty="0"/>
              <a:t>Observation Technique</a:t>
            </a:r>
            <a:endParaRPr lang="en-US" dirty="0"/>
          </a:p>
        </p:txBody>
      </p:sp>
      <p:sp>
        <p:nvSpPr>
          <p:cNvPr id="3" name="Content Placeholder 2">
            <a:extLst>
              <a:ext uri="{FF2B5EF4-FFF2-40B4-BE49-F238E27FC236}">
                <a16:creationId xmlns:a16="http://schemas.microsoft.com/office/drawing/2014/main" id="{A1B69941-0176-B4AA-9253-9C06F55B6731}"/>
              </a:ext>
            </a:extLst>
          </p:cNvPr>
          <p:cNvSpPr>
            <a:spLocks noGrp="1"/>
          </p:cNvSpPr>
          <p:nvPr>
            <p:ph idx="1"/>
          </p:nvPr>
        </p:nvSpPr>
        <p:spPr/>
        <p:txBody>
          <a:bodyPr/>
          <a:lstStyle/>
          <a:p>
            <a:r>
              <a:rPr lang="en-MY" dirty="0"/>
              <a:t>Observation involves watching users interact with the system or perform tasks to gain insights into their </a:t>
            </a:r>
            <a:r>
              <a:rPr lang="en-MY" dirty="0" err="1"/>
              <a:t>behaviors</a:t>
            </a:r>
            <a:r>
              <a:rPr lang="en-MY" dirty="0"/>
              <a:t> and challenges.</a:t>
            </a:r>
          </a:p>
          <a:p>
            <a:pPr>
              <a:buFont typeface="Arial" panose="020B0604020202020204" pitchFamily="34" charset="0"/>
              <a:buChar char="•"/>
            </a:pPr>
            <a:r>
              <a:rPr lang="en-MY" dirty="0"/>
              <a:t>Types of Observation:</a:t>
            </a:r>
          </a:p>
          <a:p>
            <a:pPr lvl="1"/>
            <a:r>
              <a:rPr lang="en-MY" dirty="0"/>
              <a:t>Direct: Observer is present but does not interact.</a:t>
            </a:r>
          </a:p>
          <a:p>
            <a:pPr lvl="1"/>
            <a:r>
              <a:rPr lang="en-MY" dirty="0"/>
              <a:t>Participant: Observer interacts with the subjects and environment.</a:t>
            </a:r>
          </a:p>
          <a:p>
            <a:r>
              <a:rPr lang="en-MY" dirty="0"/>
              <a:t>Steps for Effective Observation:</a:t>
            </a:r>
          </a:p>
          <a:p>
            <a:pPr lvl="1"/>
            <a:r>
              <a:rPr lang="en-MY" dirty="0"/>
              <a:t>Plan objectives, define scope, and record observations systematically.</a:t>
            </a:r>
          </a:p>
          <a:p>
            <a:endParaRPr lang="en-MY" dirty="0"/>
          </a:p>
          <a:p>
            <a:endParaRPr lang="en-US" dirty="0"/>
          </a:p>
        </p:txBody>
      </p:sp>
    </p:spTree>
    <p:extLst>
      <p:ext uri="{BB962C8B-B14F-4D97-AF65-F5344CB8AC3E}">
        <p14:creationId xmlns:p14="http://schemas.microsoft.com/office/powerpoint/2010/main" val="490448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FF1F2-45A9-352F-7DB1-C464AA754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73A02-4125-F415-1D85-E30131F6BE9F}"/>
              </a:ext>
            </a:extLst>
          </p:cNvPr>
          <p:cNvSpPr>
            <a:spLocks noGrp="1"/>
          </p:cNvSpPr>
          <p:nvPr>
            <p:ph type="title"/>
          </p:nvPr>
        </p:nvSpPr>
        <p:spPr/>
        <p:txBody>
          <a:bodyPr/>
          <a:lstStyle/>
          <a:p>
            <a:r>
              <a:rPr lang="en-MY" dirty="0"/>
              <a:t>Direct Observation</a:t>
            </a:r>
            <a:endParaRPr lang="en-US" dirty="0"/>
          </a:p>
        </p:txBody>
      </p:sp>
      <p:sp>
        <p:nvSpPr>
          <p:cNvPr id="3" name="Content Placeholder 2">
            <a:extLst>
              <a:ext uri="{FF2B5EF4-FFF2-40B4-BE49-F238E27FC236}">
                <a16:creationId xmlns:a16="http://schemas.microsoft.com/office/drawing/2014/main" id="{CF2F4832-AE2D-152C-72D0-6752B839512D}"/>
              </a:ext>
            </a:extLst>
          </p:cNvPr>
          <p:cNvSpPr>
            <a:spLocks noGrp="1"/>
          </p:cNvSpPr>
          <p:nvPr>
            <p:ph idx="1"/>
          </p:nvPr>
        </p:nvSpPr>
        <p:spPr/>
        <p:txBody>
          <a:bodyPr/>
          <a:lstStyle/>
          <a:p>
            <a:pPr algn="just"/>
            <a:r>
              <a:rPr lang="en-MY" dirty="0"/>
              <a:t>In direct observation, the observer watches the users but does not engage or interact with them.</a:t>
            </a:r>
          </a:p>
          <a:p>
            <a:pPr algn="just"/>
            <a:r>
              <a:rPr lang="en-MY" dirty="0"/>
              <a:t>The goal is to see how users naturally interact with the system or perform tasks without influencing their </a:t>
            </a:r>
            <a:r>
              <a:rPr lang="en-MY" dirty="0" err="1"/>
              <a:t>behavior</a:t>
            </a:r>
            <a:r>
              <a:rPr lang="en-MY" dirty="0"/>
              <a:t>.</a:t>
            </a:r>
          </a:p>
          <a:p>
            <a:pPr algn="just"/>
            <a:r>
              <a:rPr lang="en-MY" dirty="0"/>
              <a:t>This approach is helpful for identifying typical user </a:t>
            </a:r>
            <a:r>
              <a:rPr lang="en-MY" dirty="0" err="1"/>
              <a:t>behavior</a:t>
            </a:r>
            <a:r>
              <a:rPr lang="en-MY" dirty="0"/>
              <a:t> and any issues that might not be obvious in interviews or questionnaires.</a:t>
            </a:r>
            <a:endParaRPr lang="en-US" dirty="0"/>
          </a:p>
        </p:txBody>
      </p:sp>
    </p:spTree>
    <p:extLst>
      <p:ext uri="{BB962C8B-B14F-4D97-AF65-F5344CB8AC3E}">
        <p14:creationId xmlns:p14="http://schemas.microsoft.com/office/powerpoint/2010/main" val="2429839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1F94E-14F6-2143-E88A-D219B6983A5D}"/>
              </a:ext>
            </a:extLst>
          </p:cNvPr>
          <p:cNvSpPr>
            <a:spLocks noGrp="1"/>
          </p:cNvSpPr>
          <p:nvPr>
            <p:ph type="title"/>
          </p:nvPr>
        </p:nvSpPr>
        <p:spPr/>
        <p:txBody>
          <a:bodyPr/>
          <a:lstStyle/>
          <a:p>
            <a:r>
              <a:rPr lang="en-US" dirty="0"/>
              <a:t>Participants Observations</a:t>
            </a:r>
          </a:p>
        </p:txBody>
      </p:sp>
      <p:sp>
        <p:nvSpPr>
          <p:cNvPr id="3" name="Content Placeholder 2">
            <a:extLst>
              <a:ext uri="{FF2B5EF4-FFF2-40B4-BE49-F238E27FC236}">
                <a16:creationId xmlns:a16="http://schemas.microsoft.com/office/drawing/2014/main" id="{99673300-313B-188F-DACE-26D29DD3C4AF}"/>
              </a:ext>
            </a:extLst>
          </p:cNvPr>
          <p:cNvSpPr>
            <a:spLocks noGrp="1"/>
          </p:cNvSpPr>
          <p:nvPr>
            <p:ph idx="1"/>
          </p:nvPr>
        </p:nvSpPr>
        <p:spPr/>
        <p:txBody>
          <a:bodyPr/>
          <a:lstStyle/>
          <a:p>
            <a:pPr algn="just"/>
            <a:r>
              <a:rPr lang="en-MY" dirty="0"/>
              <a:t>In participant observation, the observer actively engages in the environment, working alongside the users and sometimes even performing the same tasks.</a:t>
            </a:r>
          </a:p>
          <a:p>
            <a:pPr algn="just"/>
            <a:r>
              <a:rPr lang="en-MY" dirty="0"/>
              <a:t>This method allows the observer to gain a deeper, firsthand understanding of user challenges, needs, and the context in which tasks are performed.</a:t>
            </a:r>
          </a:p>
          <a:p>
            <a:pPr algn="just"/>
            <a:r>
              <a:rPr lang="en-MY" dirty="0"/>
              <a:t>It’s useful for uncovering insights that might only come from experiencing the work environment directly.</a:t>
            </a:r>
            <a:endParaRPr lang="en-US" dirty="0"/>
          </a:p>
        </p:txBody>
      </p:sp>
    </p:spTree>
    <p:extLst>
      <p:ext uri="{BB962C8B-B14F-4D97-AF65-F5344CB8AC3E}">
        <p14:creationId xmlns:p14="http://schemas.microsoft.com/office/powerpoint/2010/main" val="2257879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59189-C083-8CB4-705B-20A00C428438}"/>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EEE6AD9A-6045-1A23-BE80-9423636A432D}"/>
              </a:ext>
            </a:extLst>
          </p:cNvPr>
          <p:cNvSpPr>
            <a:spLocks noGrp="1"/>
          </p:cNvSpPr>
          <p:nvPr>
            <p:ph idx="1"/>
          </p:nvPr>
        </p:nvSpPr>
        <p:spPr/>
        <p:txBody>
          <a:bodyPr/>
          <a:lstStyle/>
          <a:p>
            <a:pPr marL="0" indent="0">
              <a:buNone/>
            </a:pPr>
            <a:r>
              <a:rPr lang="en-MY" dirty="0"/>
              <a:t>Benefits: </a:t>
            </a:r>
          </a:p>
          <a:p>
            <a:pPr marL="0" indent="0">
              <a:buNone/>
            </a:pPr>
            <a:r>
              <a:rPr lang="en-MY" dirty="0"/>
              <a:t>	Captures real user </a:t>
            </a:r>
            <a:r>
              <a:rPr lang="en-MY" dirty="0" err="1"/>
              <a:t>behavior</a:t>
            </a:r>
            <a:r>
              <a:rPr lang="en-MY" dirty="0"/>
              <a:t>, identifies hidden needs.</a:t>
            </a:r>
          </a:p>
          <a:p>
            <a:pPr marL="0" indent="0">
              <a:buNone/>
            </a:pPr>
            <a:r>
              <a:rPr lang="en-MY" dirty="0"/>
              <a:t>Limitations: </a:t>
            </a:r>
          </a:p>
          <a:p>
            <a:pPr marL="0" indent="0">
              <a:buNone/>
            </a:pPr>
            <a:r>
              <a:rPr lang="en-MY" dirty="0"/>
              <a:t>	Observer bias, limited to observable actions.</a:t>
            </a:r>
            <a:endParaRPr lang="en-US" b="1" dirty="0"/>
          </a:p>
        </p:txBody>
      </p:sp>
    </p:spTree>
    <p:extLst>
      <p:ext uri="{BB962C8B-B14F-4D97-AF65-F5344CB8AC3E}">
        <p14:creationId xmlns:p14="http://schemas.microsoft.com/office/powerpoint/2010/main" val="3557503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6C03-82DE-3BAE-0CC7-B17D38607152}"/>
              </a:ext>
            </a:extLst>
          </p:cNvPr>
          <p:cNvSpPr>
            <a:spLocks noGrp="1"/>
          </p:cNvSpPr>
          <p:nvPr>
            <p:ph type="title"/>
          </p:nvPr>
        </p:nvSpPr>
        <p:spPr/>
        <p:txBody>
          <a:bodyPr/>
          <a:lstStyle/>
          <a:p>
            <a:r>
              <a:rPr lang="en-MY" dirty="0"/>
              <a:t>Document Reading Technique</a:t>
            </a:r>
            <a:endParaRPr lang="en-US" dirty="0"/>
          </a:p>
        </p:txBody>
      </p:sp>
      <p:sp>
        <p:nvSpPr>
          <p:cNvPr id="3" name="Content Placeholder 2">
            <a:extLst>
              <a:ext uri="{FF2B5EF4-FFF2-40B4-BE49-F238E27FC236}">
                <a16:creationId xmlns:a16="http://schemas.microsoft.com/office/drawing/2014/main" id="{AAEFF7E0-B485-7F3C-9AB3-9284120D7F1F}"/>
              </a:ext>
            </a:extLst>
          </p:cNvPr>
          <p:cNvSpPr>
            <a:spLocks noGrp="1"/>
          </p:cNvSpPr>
          <p:nvPr>
            <p:ph idx="1"/>
          </p:nvPr>
        </p:nvSpPr>
        <p:spPr/>
        <p:txBody>
          <a:bodyPr/>
          <a:lstStyle/>
          <a:p>
            <a:r>
              <a:rPr lang="en-MY" dirty="0"/>
              <a:t>Document reading involves reviewing existing documents (manuals, reports, and records) to understand system requirements.</a:t>
            </a:r>
          </a:p>
          <a:p>
            <a:r>
              <a:rPr lang="en-MY" b="1" dirty="0"/>
              <a:t>Types of Documents Used</a:t>
            </a:r>
            <a:r>
              <a:rPr lang="en-MY" dirty="0"/>
              <a:t>:</a:t>
            </a:r>
          </a:p>
          <a:p>
            <a:pPr lvl="1"/>
            <a:r>
              <a:rPr lang="en-MY" dirty="0"/>
              <a:t>Manuals, technical specifications, historical records, policy documents.</a:t>
            </a:r>
          </a:p>
          <a:p>
            <a:r>
              <a:rPr lang="en-MY" b="1" dirty="0"/>
              <a:t>Process of Document Analysis</a:t>
            </a:r>
            <a:r>
              <a:rPr lang="en-MY" dirty="0"/>
              <a:t>:</a:t>
            </a:r>
          </a:p>
          <a:p>
            <a:pPr lvl="1"/>
            <a:r>
              <a:rPr lang="en-MY" dirty="0"/>
              <a:t>Identify relevant documents, review contents, and note key information for requirements.</a:t>
            </a:r>
          </a:p>
          <a:p>
            <a:endParaRPr lang="en-MY" dirty="0"/>
          </a:p>
          <a:p>
            <a:endParaRPr lang="en-US" dirty="0"/>
          </a:p>
        </p:txBody>
      </p:sp>
    </p:spTree>
    <p:extLst>
      <p:ext uri="{BB962C8B-B14F-4D97-AF65-F5344CB8AC3E}">
        <p14:creationId xmlns:p14="http://schemas.microsoft.com/office/powerpoint/2010/main" val="3433129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69774-1697-F616-751E-352FEFB15506}"/>
              </a:ext>
            </a:extLst>
          </p:cNvPr>
          <p:cNvSpPr>
            <a:spLocks noGrp="1"/>
          </p:cNvSpPr>
          <p:nvPr>
            <p:ph type="title"/>
          </p:nvPr>
        </p:nvSpPr>
        <p:spPr/>
        <p:txBody>
          <a:bodyPr/>
          <a:lstStyle/>
          <a:p>
            <a:r>
              <a:rPr lang="en-US" dirty="0"/>
              <a:t>Benefits and Limitations</a:t>
            </a:r>
          </a:p>
        </p:txBody>
      </p:sp>
      <p:sp>
        <p:nvSpPr>
          <p:cNvPr id="3" name="Content Placeholder 2">
            <a:extLst>
              <a:ext uri="{FF2B5EF4-FFF2-40B4-BE49-F238E27FC236}">
                <a16:creationId xmlns:a16="http://schemas.microsoft.com/office/drawing/2014/main" id="{FC7AD99D-DD9B-52CA-E0C1-AD4229892CC5}"/>
              </a:ext>
            </a:extLst>
          </p:cNvPr>
          <p:cNvSpPr>
            <a:spLocks noGrp="1"/>
          </p:cNvSpPr>
          <p:nvPr>
            <p:ph idx="1"/>
          </p:nvPr>
        </p:nvSpPr>
        <p:spPr/>
        <p:txBody>
          <a:bodyPr/>
          <a:lstStyle/>
          <a:p>
            <a:r>
              <a:rPr lang="en-MY" dirty="0"/>
              <a:t>Benefits: </a:t>
            </a:r>
          </a:p>
          <a:p>
            <a:pPr lvl="1"/>
            <a:r>
              <a:rPr lang="en-MY" dirty="0"/>
              <a:t>Provides historical context, no stakeholder availability needed.</a:t>
            </a:r>
          </a:p>
          <a:p>
            <a:pPr lvl="1"/>
            <a:endParaRPr lang="en-MY" dirty="0"/>
          </a:p>
          <a:p>
            <a:r>
              <a:rPr lang="en-MY" dirty="0"/>
              <a:t>Limitations: </a:t>
            </a:r>
          </a:p>
          <a:p>
            <a:pPr lvl="1"/>
            <a:r>
              <a:rPr lang="en-MY" dirty="0"/>
              <a:t>May be outdated, lacks interactive clarification.</a:t>
            </a:r>
            <a:endParaRPr lang="en-US" dirty="0"/>
          </a:p>
        </p:txBody>
      </p:sp>
    </p:spTree>
    <p:extLst>
      <p:ext uri="{BB962C8B-B14F-4D97-AF65-F5344CB8AC3E}">
        <p14:creationId xmlns:p14="http://schemas.microsoft.com/office/powerpoint/2010/main" val="1486755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E4D5-8DD9-D877-C0AB-4B7BF4A2E13D}"/>
              </a:ext>
            </a:extLst>
          </p:cNvPr>
          <p:cNvSpPr>
            <a:spLocks noGrp="1"/>
          </p:cNvSpPr>
          <p:nvPr>
            <p:ph type="title"/>
          </p:nvPr>
        </p:nvSpPr>
        <p:spPr/>
        <p:txBody>
          <a:bodyPr/>
          <a:lstStyle/>
          <a:p>
            <a:r>
              <a:rPr lang="en-MY" dirty="0"/>
              <a:t>Requirements Documentation</a:t>
            </a:r>
            <a:endParaRPr lang="en-US" dirty="0"/>
          </a:p>
        </p:txBody>
      </p:sp>
      <p:sp>
        <p:nvSpPr>
          <p:cNvPr id="3" name="Content Placeholder 2">
            <a:extLst>
              <a:ext uri="{FF2B5EF4-FFF2-40B4-BE49-F238E27FC236}">
                <a16:creationId xmlns:a16="http://schemas.microsoft.com/office/drawing/2014/main" id="{9391476E-3EE4-A478-B548-1A9869F11F6E}"/>
              </a:ext>
            </a:extLst>
          </p:cNvPr>
          <p:cNvSpPr>
            <a:spLocks noGrp="1"/>
          </p:cNvSpPr>
          <p:nvPr>
            <p:ph idx="1"/>
          </p:nvPr>
        </p:nvSpPr>
        <p:spPr/>
        <p:txBody>
          <a:bodyPr/>
          <a:lstStyle/>
          <a:p>
            <a:r>
              <a:rPr lang="en-MY" dirty="0"/>
              <a:t>Acts as a reference for development and testing.</a:t>
            </a:r>
          </a:p>
          <a:p>
            <a:r>
              <a:rPr lang="en-MY" dirty="0"/>
              <a:t>Prevents miscommunication.</a:t>
            </a:r>
          </a:p>
          <a:p>
            <a:pPr>
              <a:buFont typeface="Arial" panose="020B0604020202020204" pitchFamily="34" charset="0"/>
              <a:buChar char="•"/>
            </a:pPr>
            <a:r>
              <a:rPr lang="en-MY" dirty="0"/>
              <a:t>Types of Requirement Documents:</a:t>
            </a:r>
          </a:p>
          <a:p>
            <a:pPr lvl="1"/>
            <a:r>
              <a:rPr lang="en-MY" dirty="0"/>
              <a:t>Software Requirements Specification (SRS)</a:t>
            </a:r>
          </a:p>
          <a:p>
            <a:pPr lvl="1"/>
            <a:r>
              <a:rPr lang="en-MY" dirty="0"/>
              <a:t>Use Case Descriptions</a:t>
            </a:r>
          </a:p>
          <a:p>
            <a:pPr lvl="1"/>
            <a:r>
              <a:rPr lang="en-MY" dirty="0"/>
              <a:t>User Stories</a:t>
            </a:r>
          </a:p>
          <a:p>
            <a:endParaRPr lang="en-US" dirty="0"/>
          </a:p>
        </p:txBody>
      </p:sp>
    </p:spTree>
    <p:extLst>
      <p:ext uri="{BB962C8B-B14F-4D97-AF65-F5344CB8AC3E}">
        <p14:creationId xmlns:p14="http://schemas.microsoft.com/office/powerpoint/2010/main" val="3221075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0A90F-FE26-F2A2-7137-52B903FC0AFA}"/>
              </a:ext>
            </a:extLst>
          </p:cNvPr>
          <p:cNvSpPr>
            <a:spLocks noGrp="1"/>
          </p:cNvSpPr>
          <p:nvPr>
            <p:ph type="title"/>
          </p:nvPr>
        </p:nvSpPr>
        <p:spPr/>
        <p:txBody>
          <a:bodyPr/>
          <a:lstStyle/>
          <a:p>
            <a:r>
              <a:rPr lang="en-US" dirty="0"/>
              <a:t>Requirements Documentation</a:t>
            </a:r>
          </a:p>
        </p:txBody>
      </p:sp>
      <p:sp>
        <p:nvSpPr>
          <p:cNvPr id="3" name="Content Placeholder 2">
            <a:extLst>
              <a:ext uri="{FF2B5EF4-FFF2-40B4-BE49-F238E27FC236}">
                <a16:creationId xmlns:a16="http://schemas.microsoft.com/office/drawing/2014/main" id="{0AB56349-16EB-32AB-728A-023333671D94}"/>
              </a:ext>
            </a:extLst>
          </p:cNvPr>
          <p:cNvSpPr>
            <a:spLocks noGrp="1"/>
          </p:cNvSpPr>
          <p:nvPr>
            <p:ph idx="1"/>
          </p:nvPr>
        </p:nvSpPr>
        <p:spPr/>
        <p:txBody>
          <a:bodyPr/>
          <a:lstStyle/>
          <a:p>
            <a:pPr>
              <a:buFont typeface="Arial" panose="020B0604020202020204" pitchFamily="34" charset="0"/>
              <a:buChar char="•"/>
            </a:pPr>
            <a:r>
              <a:rPr lang="en-MY" dirty="0"/>
              <a:t>Characteristics of Good Requirements:</a:t>
            </a:r>
          </a:p>
          <a:p>
            <a:pPr lvl="1"/>
            <a:r>
              <a:rPr lang="en-MY" dirty="0"/>
              <a:t>Clear</a:t>
            </a:r>
          </a:p>
          <a:p>
            <a:pPr lvl="1"/>
            <a:r>
              <a:rPr lang="en-MY" dirty="0"/>
              <a:t>Complete</a:t>
            </a:r>
          </a:p>
          <a:p>
            <a:pPr lvl="1"/>
            <a:r>
              <a:rPr lang="en-MY" dirty="0"/>
              <a:t>Consistent</a:t>
            </a:r>
          </a:p>
          <a:p>
            <a:pPr lvl="1"/>
            <a:r>
              <a:rPr lang="en-MY" dirty="0"/>
              <a:t>Feasible</a:t>
            </a:r>
          </a:p>
          <a:p>
            <a:pPr marL="457200" lvl="1" indent="0">
              <a:buNone/>
            </a:pPr>
            <a:endParaRPr lang="en-MY" dirty="0"/>
          </a:p>
          <a:p>
            <a:pPr marL="0" indent="0" algn="ctr">
              <a:buNone/>
            </a:pPr>
            <a:r>
              <a:rPr lang="en-MY" dirty="0"/>
              <a:t>"The system shall allow users to reset their passwords via email verification."</a:t>
            </a:r>
          </a:p>
          <a:p>
            <a:endParaRPr lang="en-US" dirty="0"/>
          </a:p>
        </p:txBody>
      </p:sp>
    </p:spTree>
    <p:extLst>
      <p:ext uri="{BB962C8B-B14F-4D97-AF65-F5344CB8AC3E}">
        <p14:creationId xmlns:p14="http://schemas.microsoft.com/office/powerpoint/2010/main" val="4099885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64F1D-11ED-522A-637D-3DDF633F08D5}"/>
              </a:ext>
            </a:extLst>
          </p:cNvPr>
          <p:cNvSpPr>
            <a:spLocks noGrp="1"/>
          </p:cNvSpPr>
          <p:nvPr>
            <p:ph type="title"/>
          </p:nvPr>
        </p:nvSpPr>
        <p:spPr/>
        <p:txBody>
          <a:bodyPr/>
          <a:lstStyle/>
          <a:p>
            <a:r>
              <a:rPr lang="en-US" dirty="0"/>
              <a:t>End of Chapter 2</a:t>
            </a:r>
          </a:p>
        </p:txBody>
      </p:sp>
      <p:sp>
        <p:nvSpPr>
          <p:cNvPr id="3" name="Text Placeholder 2">
            <a:extLst>
              <a:ext uri="{FF2B5EF4-FFF2-40B4-BE49-F238E27FC236}">
                <a16:creationId xmlns:a16="http://schemas.microsoft.com/office/drawing/2014/main" id="{4D3F8432-7148-C7D0-3D3E-245184BB0D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66974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25E7-508F-1EA8-0A07-3BC82B759ECC}"/>
              </a:ext>
            </a:extLst>
          </p:cNvPr>
          <p:cNvSpPr>
            <a:spLocks noGrp="1"/>
          </p:cNvSpPr>
          <p:nvPr>
            <p:ph type="ctrTitle"/>
          </p:nvPr>
        </p:nvSpPr>
        <p:spPr>
          <a:xfrm>
            <a:off x="180753" y="1122363"/>
            <a:ext cx="12011247" cy="2387600"/>
          </a:xfrm>
        </p:spPr>
        <p:txBody>
          <a:bodyPr/>
          <a:lstStyle/>
          <a:p>
            <a:r>
              <a:rPr lang="en-US" dirty="0"/>
              <a:t>EC3290 – Software Requirements Engineering</a:t>
            </a:r>
          </a:p>
        </p:txBody>
      </p:sp>
      <p:sp>
        <p:nvSpPr>
          <p:cNvPr id="3" name="Subtitle 2">
            <a:extLst>
              <a:ext uri="{FF2B5EF4-FFF2-40B4-BE49-F238E27FC236}">
                <a16:creationId xmlns:a16="http://schemas.microsoft.com/office/drawing/2014/main" id="{F466ABDB-95C3-5663-AD26-89954274A2FD}"/>
              </a:ext>
            </a:extLst>
          </p:cNvPr>
          <p:cNvSpPr>
            <a:spLocks noGrp="1"/>
          </p:cNvSpPr>
          <p:nvPr>
            <p:ph type="subTitle" idx="1"/>
          </p:nvPr>
        </p:nvSpPr>
        <p:spPr/>
        <p:txBody>
          <a:bodyPr/>
          <a:lstStyle/>
          <a:p>
            <a:pPr algn="l"/>
            <a:r>
              <a:rPr lang="en-US" b="1" u="sng" dirty="0"/>
              <a:t>Topic 3 – </a:t>
            </a:r>
            <a:r>
              <a:rPr lang="en-MY" b="1" u="sng" dirty="0"/>
              <a:t>Requirements Analysis, </a:t>
            </a:r>
            <a:r>
              <a:rPr lang="en-MY" b="1" u="sng" dirty="0" err="1"/>
              <a:t>Modeling</a:t>
            </a:r>
            <a:r>
              <a:rPr lang="en-MY" b="1" u="sng" dirty="0"/>
              <a:t>, and Specification</a:t>
            </a:r>
          </a:p>
        </p:txBody>
      </p:sp>
    </p:spTree>
    <p:extLst>
      <p:ext uri="{BB962C8B-B14F-4D97-AF65-F5344CB8AC3E}">
        <p14:creationId xmlns:p14="http://schemas.microsoft.com/office/powerpoint/2010/main" val="3970252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916E-6E2B-BB40-EE16-E0396CAAE7FC}"/>
              </a:ext>
            </a:extLst>
          </p:cNvPr>
          <p:cNvSpPr>
            <a:spLocks noGrp="1"/>
          </p:cNvSpPr>
          <p:nvPr>
            <p:ph type="title"/>
          </p:nvPr>
        </p:nvSpPr>
        <p:spPr/>
        <p:txBody>
          <a:bodyPr/>
          <a:lstStyle/>
          <a:p>
            <a:r>
              <a:rPr lang="en-MY" b="1" dirty="0"/>
              <a:t>Learning Objectives</a:t>
            </a:r>
            <a:endParaRPr lang="en-US" dirty="0"/>
          </a:p>
        </p:txBody>
      </p:sp>
      <p:sp>
        <p:nvSpPr>
          <p:cNvPr id="3" name="Content Placeholder 2">
            <a:extLst>
              <a:ext uri="{FF2B5EF4-FFF2-40B4-BE49-F238E27FC236}">
                <a16:creationId xmlns:a16="http://schemas.microsoft.com/office/drawing/2014/main" id="{36161E60-CEC4-4EDB-7BF4-5E4B4FFE0AAC}"/>
              </a:ext>
            </a:extLst>
          </p:cNvPr>
          <p:cNvSpPr>
            <a:spLocks noGrp="1"/>
          </p:cNvSpPr>
          <p:nvPr>
            <p:ph idx="1"/>
          </p:nvPr>
        </p:nvSpPr>
        <p:spPr/>
        <p:txBody>
          <a:bodyPr/>
          <a:lstStyle/>
          <a:p>
            <a:pPr>
              <a:buFont typeface="Arial" panose="020B0604020202020204" pitchFamily="34" charset="0"/>
              <a:buChar char="•"/>
            </a:pPr>
            <a:r>
              <a:rPr lang="en-MY" dirty="0"/>
              <a:t>Understand the difference between </a:t>
            </a:r>
            <a:r>
              <a:rPr lang="en-MY" b="1" dirty="0"/>
              <a:t>description and specification</a:t>
            </a:r>
            <a:r>
              <a:rPr lang="en-MY" dirty="0"/>
              <a:t>.</a:t>
            </a:r>
          </a:p>
          <a:p>
            <a:pPr>
              <a:buFont typeface="Arial" panose="020B0604020202020204" pitchFamily="34" charset="0"/>
              <a:buChar char="•"/>
            </a:pPr>
            <a:r>
              <a:rPr lang="en-MY" dirty="0"/>
              <a:t>Learn various </a:t>
            </a:r>
            <a:r>
              <a:rPr lang="en-MY" b="1" dirty="0" err="1"/>
              <a:t>modeling</a:t>
            </a:r>
            <a:r>
              <a:rPr lang="en-MY" b="1" dirty="0"/>
              <a:t> techniques and diagrammatic notations</a:t>
            </a:r>
            <a:r>
              <a:rPr lang="en-MY" dirty="0"/>
              <a:t>.</a:t>
            </a:r>
          </a:p>
          <a:p>
            <a:pPr>
              <a:buFont typeface="Arial" panose="020B0604020202020204" pitchFamily="34" charset="0"/>
              <a:buChar char="•"/>
            </a:pPr>
            <a:r>
              <a:rPr lang="en-MY" dirty="0"/>
              <a:t>Explore </a:t>
            </a:r>
            <a:r>
              <a:rPr lang="en-MY" b="1" dirty="0"/>
              <a:t>Use Case </a:t>
            </a:r>
            <a:r>
              <a:rPr lang="en-MY" b="1" dirty="0" err="1"/>
              <a:t>Modeling</a:t>
            </a:r>
            <a:r>
              <a:rPr lang="en-MY" b="1" dirty="0"/>
              <a:t> and Scenario Descriptions</a:t>
            </a:r>
            <a:r>
              <a:rPr lang="en-MY" dirty="0"/>
              <a:t>.</a:t>
            </a:r>
          </a:p>
          <a:p>
            <a:pPr>
              <a:buFont typeface="Arial" panose="020B0604020202020204" pitchFamily="34" charset="0"/>
              <a:buChar char="•"/>
            </a:pPr>
            <a:r>
              <a:rPr lang="en-MY" dirty="0"/>
              <a:t>Gain insights into </a:t>
            </a:r>
            <a:r>
              <a:rPr lang="en-MY" b="1" dirty="0"/>
              <a:t>domain analysis and requirements understanding</a:t>
            </a:r>
            <a:r>
              <a:rPr lang="en-MY" dirty="0"/>
              <a:t>.</a:t>
            </a:r>
          </a:p>
          <a:p>
            <a:pPr>
              <a:buFont typeface="Arial" panose="020B0604020202020204" pitchFamily="34" charset="0"/>
              <a:buChar char="•"/>
            </a:pPr>
            <a:r>
              <a:rPr lang="en-MY" dirty="0"/>
              <a:t>Introduce </a:t>
            </a:r>
            <a:r>
              <a:rPr lang="en-MY" b="1" dirty="0"/>
              <a:t>formal specification techniques</a:t>
            </a:r>
            <a:r>
              <a:rPr lang="en-MY" dirty="0"/>
              <a:t>.</a:t>
            </a:r>
          </a:p>
        </p:txBody>
      </p:sp>
    </p:spTree>
    <p:extLst>
      <p:ext uri="{BB962C8B-B14F-4D97-AF65-F5344CB8AC3E}">
        <p14:creationId xmlns:p14="http://schemas.microsoft.com/office/powerpoint/2010/main" val="3532732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E30C-1B85-12F4-F5EF-3A4980D308B2}"/>
              </a:ext>
            </a:extLst>
          </p:cNvPr>
          <p:cNvSpPr>
            <a:spLocks noGrp="1"/>
          </p:cNvSpPr>
          <p:nvPr>
            <p:ph type="title"/>
          </p:nvPr>
        </p:nvSpPr>
        <p:spPr/>
        <p:txBody>
          <a:bodyPr/>
          <a:lstStyle/>
          <a:p>
            <a:r>
              <a:rPr lang="en-MY" b="1" dirty="0"/>
              <a:t>Introduction to Requirements Analysis</a:t>
            </a:r>
            <a:endParaRPr lang="en-US" dirty="0"/>
          </a:p>
        </p:txBody>
      </p:sp>
      <p:sp>
        <p:nvSpPr>
          <p:cNvPr id="3" name="Content Placeholder 2">
            <a:extLst>
              <a:ext uri="{FF2B5EF4-FFF2-40B4-BE49-F238E27FC236}">
                <a16:creationId xmlns:a16="http://schemas.microsoft.com/office/drawing/2014/main" id="{307F2193-7E82-E157-6514-A2F4BD59DEDF}"/>
              </a:ext>
            </a:extLst>
          </p:cNvPr>
          <p:cNvSpPr>
            <a:spLocks noGrp="1"/>
          </p:cNvSpPr>
          <p:nvPr>
            <p:ph idx="1"/>
          </p:nvPr>
        </p:nvSpPr>
        <p:spPr/>
        <p:txBody>
          <a:bodyPr/>
          <a:lstStyle/>
          <a:p>
            <a:r>
              <a:rPr lang="en-MY" dirty="0"/>
              <a:t>Process of determining user expectations for a new or modified system.</a:t>
            </a:r>
          </a:p>
          <a:p>
            <a:pPr>
              <a:buFont typeface="Arial" panose="020B0604020202020204" pitchFamily="34" charset="0"/>
              <a:buChar char="•"/>
            </a:pPr>
            <a:r>
              <a:rPr lang="en-MY" dirty="0"/>
              <a:t>Prevents requirement misunderstandings.</a:t>
            </a:r>
          </a:p>
          <a:p>
            <a:pPr>
              <a:buFont typeface="Arial" panose="020B0604020202020204" pitchFamily="34" charset="0"/>
              <a:buChar char="•"/>
            </a:pPr>
            <a:r>
              <a:rPr lang="en-MY" dirty="0"/>
              <a:t>Ensures better system design.</a:t>
            </a:r>
          </a:p>
          <a:p>
            <a:pPr>
              <a:buFont typeface="Arial" panose="020B0604020202020204" pitchFamily="34" charset="0"/>
              <a:buChar char="•"/>
            </a:pPr>
            <a:r>
              <a:rPr lang="en-MY" dirty="0"/>
              <a:t>Reduces project failure risk.</a:t>
            </a:r>
          </a:p>
          <a:p>
            <a:endParaRPr lang="en-US" dirty="0"/>
          </a:p>
        </p:txBody>
      </p:sp>
    </p:spTree>
    <p:extLst>
      <p:ext uri="{BB962C8B-B14F-4D97-AF65-F5344CB8AC3E}">
        <p14:creationId xmlns:p14="http://schemas.microsoft.com/office/powerpoint/2010/main" val="4132970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A2AC8-6710-AB6A-28A6-9491A5AC10D1}"/>
              </a:ext>
            </a:extLst>
          </p:cNvPr>
          <p:cNvSpPr>
            <a:spLocks noGrp="1"/>
          </p:cNvSpPr>
          <p:nvPr>
            <p:ph type="title"/>
          </p:nvPr>
        </p:nvSpPr>
        <p:spPr/>
        <p:txBody>
          <a:bodyPr/>
          <a:lstStyle/>
          <a:p>
            <a:r>
              <a:rPr lang="en-MY" b="1" dirty="0"/>
              <a:t>Description vs. Specification</a:t>
            </a:r>
            <a:endParaRPr lang="en-US" dirty="0"/>
          </a:p>
        </p:txBody>
      </p:sp>
      <p:sp>
        <p:nvSpPr>
          <p:cNvPr id="3" name="Content Placeholder 2">
            <a:extLst>
              <a:ext uri="{FF2B5EF4-FFF2-40B4-BE49-F238E27FC236}">
                <a16:creationId xmlns:a16="http://schemas.microsoft.com/office/drawing/2014/main" id="{2E08D182-4041-A29E-B481-5D1FD9A75A93}"/>
              </a:ext>
            </a:extLst>
          </p:cNvPr>
          <p:cNvSpPr>
            <a:spLocks noGrp="1"/>
          </p:cNvSpPr>
          <p:nvPr>
            <p:ph idx="1"/>
          </p:nvPr>
        </p:nvSpPr>
        <p:spPr/>
        <p:txBody>
          <a:bodyPr/>
          <a:lstStyle/>
          <a:p>
            <a:pPr>
              <a:buFont typeface="Arial" panose="020B0604020202020204" pitchFamily="34" charset="0"/>
              <a:buChar char="•"/>
            </a:pPr>
            <a:r>
              <a:rPr lang="en-MY" b="1" dirty="0"/>
              <a:t>Description:</a:t>
            </a:r>
            <a:endParaRPr lang="en-MY" dirty="0"/>
          </a:p>
          <a:p>
            <a:pPr marL="742950" lvl="1" indent="-285750">
              <a:buFont typeface="Arial" panose="020B0604020202020204" pitchFamily="34" charset="0"/>
              <a:buChar char="•"/>
            </a:pPr>
            <a:r>
              <a:rPr lang="en-MY" dirty="0"/>
              <a:t>Natural language explanation of system </a:t>
            </a:r>
            <a:r>
              <a:rPr lang="en-MY" dirty="0" err="1"/>
              <a:t>behavior</a:t>
            </a:r>
            <a:r>
              <a:rPr lang="en-MY" dirty="0"/>
              <a:t>.</a:t>
            </a:r>
          </a:p>
          <a:p>
            <a:pPr marL="742950" lvl="1" indent="-285750">
              <a:buFont typeface="Arial" panose="020B0604020202020204" pitchFamily="34" charset="0"/>
              <a:buChar char="•"/>
            </a:pPr>
            <a:r>
              <a:rPr lang="en-MY" dirty="0"/>
              <a:t>Often informal and ambiguous.</a:t>
            </a:r>
          </a:p>
          <a:p>
            <a:pPr>
              <a:buFont typeface="Arial" panose="020B0604020202020204" pitchFamily="34" charset="0"/>
              <a:buChar char="•"/>
            </a:pPr>
            <a:r>
              <a:rPr lang="en-MY" b="1" dirty="0"/>
              <a:t>Specification:</a:t>
            </a:r>
            <a:endParaRPr lang="en-MY" dirty="0"/>
          </a:p>
          <a:p>
            <a:pPr marL="742950" lvl="1" indent="-285750">
              <a:buFont typeface="Arial" panose="020B0604020202020204" pitchFamily="34" charset="0"/>
              <a:buChar char="•"/>
            </a:pPr>
            <a:r>
              <a:rPr lang="en-MY" dirty="0"/>
              <a:t>Precise and structured representation of system </a:t>
            </a:r>
            <a:r>
              <a:rPr lang="en-MY" dirty="0" err="1"/>
              <a:t>behavior</a:t>
            </a:r>
            <a:r>
              <a:rPr lang="en-MY" dirty="0"/>
              <a:t>.</a:t>
            </a:r>
          </a:p>
          <a:p>
            <a:pPr marL="742950" lvl="1" indent="-285750">
              <a:buFont typeface="Arial" panose="020B0604020202020204" pitchFamily="34" charset="0"/>
              <a:buChar char="•"/>
            </a:pPr>
            <a:r>
              <a:rPr lang="en-MY" dirty="0"/>
              <a:t>Uses models, diagrams, and formal notations.</a:t>
            </a:r>
          </a:p>
          <a:p>
            <a:pPr>
              <a:buFont typeface="Arial" panose="020B0604020202020204" pitchFamily="34" charset="0"/>
              <a:buChar char="•"/>
            </a:pPr>
            <a:r>
              <a:rPr lang="en-MY" b="1" dirty="0"/>
              <a:t>Example:</a:t>
            </a:r>
            <a:endParaRPr lang="en-MY" dirty="0"/>
          </a:p>
          <a:p>
            <a:pPr marL="742950" lvl="1" indent="-285750">
              <a:buFont typeface="Arial" panose="020B0604020202020204" pitchFamily="34" charset="0"/>
              <a:buChar char="•"/>
            </a:pPr>
            <a:r>
              <a:rPr lang="en-MY" dirty="0"/>
              <a:t>Description: "The system should allow users to login."</a:t>
            </a:r>
          </a:p>
          <a:p>
            <a:pPr marL="742950" lvl="1" indent="-285750">
              <a:buFont typeface="Arial" panose="020B0604020202020204" pitchFamily="34" charset="0"/>
              <a:buChar char="•"/>
            </a:pPr>
            <a:r>
              <a:rPr lang="en-MY" dirty="0"/>
              <a:t>Specification: "The system shall authenticate users using a valid username and password stored in the database."</a:t>
            </a:r>
          </a:p>
          <a:p>
            <a:pPr marL="0" indent="0">
              <a:buNone/>
            </a:pPr>
            <a:endParaRPr lang="en-US" dirty="0"/>
          </a:p>
        </p:txBody>
      </p:sp>
    </p:spTree>
    <p:extLst>
      <p:ext uri="{BB962C8B-B14F-4D97-AF65-F5344CB8AC3E}">
        <p14:creationId xmlns:p14="http://schemas.microsoft.com/office/powerpoint/2010/main" val="3466522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B386A-A2FF-FEE9-8A85-1B74464986C3}"/>
              </a:ext>
            </a:extLst>
          </p:cNvPr>
          <p:cNvSpPr>
            <a:spLocks noGrp="1"/>
          </p:cNvSpPr>
          <p:nvPr>
            <p:ph type="title"/>
          </p:nvPr>
        </p:nvSpPr>
        <p:spPr/>
        <p:txBody>
          <a:bodyPr/>
          <a:lstStyle/>
          <a:p>
            <a:r>
              <a:rPr lang="en-MY" b="1" dirty="0"/>
              <a:t>Requirements Modelling Techniques</a:t>
            </a:r>
            <a:endParaRPr lang="en-US" dirty="0"/>
          </a:p>
        </p:txBody>
      </p:sp>
      <p:sp>
        <p:nvSpPr>
          <p:cNvPr id="3" name="Content Placeholder 2">
            <a:extLst>
              <a:ext uri="{FF2B5EF4-FFF2-40B4-BE49-F238E27FC236}">
                <a16:creationId xmlns:a16="http://schemas.microsoft.com/office/drawing/2014/main" id="{D8CF455C-896C-115D-9004-3B9336F174EC}"/>
              </a:ext>
            </a:extLst>
          </p:cNvPr>
          <p:cNvSpPr>
            <a:spLocks noGrp="1"/>
          </p:cNvSpPr>
          <p:nvPr>
            <p:ph idx="1"/>
          </p:nvPr>
        </p:nvSpPr>
        <p:spPr/>
        <p:txBody>
          <a:bodyPr/>
          <a:lstStyle/>
          <a:p>
            <a:pPr>
              <a:buFont typeface="Arial" panose="020B0604020202020204" pitchFamily="34" charset="0"/>
              <a:buChar char="•"/>
            </a:pPr>
            <a:r>
              <a:rPr lang="en-MY" b="1" dirty="0"/>
              <a:t>Purpose of Modelling:</a:t>
            </a:r>
            <a:endParaRPr lang="en-MY" dirty="0"/>
          </a:p>
          <a:p>
            <a:pPr marL="742950" lvl="1" indent="-285750">
              <a:buFont typeface="Arial" panose="020B0604020202020204" pitchFamily="34" charset="0"/>
              <a:buChar char="•"/>
            </a:pPr>
            <a:r>
              <a:rPr lang="en-MY" dirty="0"/>
              <a:t>Visual representation of complex system requirements.</a:t>
            </a:r>
          </a:p>
          <a:p>
            <a:pPr marL="742950" lvl="1" indent="-285750">
              <a:buFont typeface="Arial" panose="020B0604020202020204" pitchFamily="34" charset="0"/>
              <a:buChar char="•"/>
            </a:pPr>
            <a:r>
              <a:rPr lang="en-MY" dirty="0"/>
              <a:t>Enhances understanding and communication.</a:t>
            </a:r>
          </a:p>
          <a:p>
            <a:pPr>
              <a:buFont typeface="Arial" panose="020B0604020202020204" pitchFamily="34" charset="0"/>
              <a:buChar char="•"/>
            </a:pPr>
            <a:r>
              <a:rPr lang="en-MY" b="1" dirty="0"/>
              <a:t>Key Techniques:</a:t>
            </a:r>
            <a:endParaRPr lang="en-MY" dirty="0"/>
          </a:p>
          <a:p>
            <a:pPr marL="742950" lvl="1" indent="-285750">
              <a:buFont typeface="Arial" panose="020B0604020202020204" pitchFamily="34" charset="0"/>
              <a:buChar char="•"/>
            </a:pPr>
            <a:r>
              <a:rPr lang="en-MY" b="1" dirty="0"/>
              <a:t>Use Case Modelling</a:t>
            </a:r>
            <a:endParaRPr lang="en-MY" dirty="0"/>
          </a:p>
          <a:p>
            <a:pPr marL="742950" lvl="1" indent="-285750">
              <a:buFont typeface="Arial" panose="020B0604020202020204" pitchFamily="34" charset="0"/>
              <a:buChar char="•"/>
            </a:pPr>
            <a:r>
              <a:rPr lang="en-MY" b="1" dirty="0"/>
              <a:t>Data Flow Diagrams (DFD)</a:t>
            </a:r>
            <a:endParaRPr lang="en-MY" dirty="0"/>
          </a:p>
          <a:p>
            <a:pPr marL="742950" lvl="1" indent="-285750">
              <a:buFont typeface="Arial" panose="020B0604020202020204" pitchFamily="34" charset="0"/>
              <a:buChar char="•"/>
            </a:pPr>
            <a:r>
              <a:rPr lang="en-MY" b="1" dirty="0"/>
              <a:t>Entity-Relationship Diagrams (ERD)</a:t>
            </a:r>
            <a:endParaRPr lang="en-MY" dirty="0"/>
          </a:p>
          <a:p>
            <a:pPr marL="742950" lvl="1" indent="-285750">
              <a:buFont typeface="Arial" panose="020B0604020202020204" pitchFamily="34" charset="0"/>
              <a:buChar char="•"/>
            </a:pPr>
            <a:r>
              <a:rPr lang="en-MY" b="1" dirty="0"/>
              <a:t>Class Diagrams (UML)</a:t>
            </a:r>
            <a:endParaRPr lang="en-MY" dirty="0"/>
          </a:p>
          <a:p>
            <a:endParaRPr lang="en-US" dirty="0"/>
          </a:p>
        </p:txBody>
      </p:sp>
    </p:spTree>
    <p:extLst>
      <p:ext uri="{BB962C8B-B14F-4D97-AF65-F5344CB8AC3E}">
        <p14:creationId xmlns:p14="http://schemas.microsoft.com/office/powerpoint/2010/main" val="4080312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4D49B-D052-DC26-7C61-75C105C1E292}"/>
              </a:ext>
            </a:extLst>
          </p:cNvPr>
          <p:cNvSpPr>
            <a:spLocks noGrp="1"/>
          </p:cNvSpPr>
          <p:nvPr>
            <p:ph type="title"/>
          </p:nvPr>
        </p:nvSpPr>
        <p:spPr/>
        <p:txBody>
          <a:bodyPr>
            <a:normAutofit/>
          </a:bodyPr>
          <a:lstStyle/>
          <a:p>
            <a:r>
              <a:rPr lang="en-MY" b="1" dirty="0"/>
              <a:t>Use Case Modelling and Scenario Descriptions</a:t>
            </a:r>
            <a:endParaRPr lang="en-US" dirty="0"/>
          </a:p>
        </p:txBody>
      </p:sp>
      <p:sp>
        <p:nvSpPr>
          <p:cNvPr id="3" name="Content Placeholder 2">
            <a:extLst>
              <a:ext uri="{FF2B5EF4-FFF2-40B4-BE49-F238E27FC236}">
                <a16:creationId xmlns:a16="http://schemas.microsoft.com/office/drawing/2014/main" id="{0817E652-1869-A1B5-B5FF-C2216A2032C1}"/>
              </a:ext>
            </a:extLst>
          </p:cNvPr>
          <p:cNvSpPr>
            <a:spLocks noGrp="1"/>
          </p:cNvSpPr>
          <p:nvPr>
            <p:ph idx="1"/>
          </p:nvPr>
        </p:nvSpPr>
        <p:spPr/>
        <p:txBody>
          <a:bodyPr/>
          <a:lstStyle/>
          <a:p>
            <a:pPr>
              <a:buFont typeface="Arial" panose="020B0604020202020204" pitchFamily="34" charset="0"/>
              <a:buChar char="•"/>
            </a:pPr>
            <a:r>
              <a:rPr lang="en-MY" b="1" dirty="0"/>
              <a:t>Use Case Diagram:</a:t>
            </a:r>
            <a:endParaRPr lang="en-MY" dirty="0"/>
          </a:p>
          <a:p>
            <a:pPr marL="742950" lvl="1" indent="-285750">
              <a:buFont typeface="Arial" panose="020B0604020202020204" pitchFamily="34" charset="0"/>
              <a:buChar char="•"/>
            </a:pPr>
            <a:r>
              <a:rPr lang="en-MY" dirty="0"/>
              <a:t>Captures interactions between users and the system.</a:t>
            </a:r>
          </a:p>
          <a:p>
            <a:pPr marL="742950" lvl="1" indent="-285750">
              <a:buFont typeface="Arial" panose="020B0604020202020204" pitchFamily="34" charset="0"/>
              <a:buChar char="•"/>
            </a:pPr>
            <a:r>
              <a:rPr lang="en-MY" dirty="0"/>
              <a:t>Identifies system functionality.</a:t>
            </a:r>
          </a:p>
          <a:p>
            <a:pPr>
              <a:buFont typeface="Arial" panose="020B0604020202020204" pitchFamily="34" charset="0"/>
              <a:buChar char="•"/>
            </a:pPr>
            <a:r>
              <a:rPr lang="en-MY" b="1" dirty="0"/>
              <a:t>Scenario Descriptions:</a:t>
            </a:r>
            <a:endParaRPr lang="en-MY" dirty="0"/>
          </a:p>
          <a:p>
            <a:pPr marL="742950" lvl="1" indent="-285750">
              <a:buFont typeface="Arial" panose="020B0604020202020204" pitchFamily="34" charset="0"/>
              <a:buChar char="•"/>
            </a:pPr>
            <a:r>
              <a:rPr lang="en-MY" dirty="0"/>
              <a:t>Details different paths in system operation (Normal, Alternative, Exception flows).</a:t>
            </a:r>
          </a:p>
          <a:p>
            <a:pPr marL="0" indent="0">
              <a:buNone/>
            </a:pPr>
            <a:endParaRPr lang="en-US" dirty="0"/>
          </a:p>
        </p:txBody>
      </p:sp>
    </p:spTree>
    <p:extLst>
      <p:ext uri="{BB962C8B-B14F-4D97-AF65-F5344CB8AC3E}">
        <p14:creationId xmlns:p14="http://schemas.microsoft.com/office/powerpoint/2010/main" val="1851118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diagram of a person with blue circles&#10;&#10;AI-generated content may be incorrect.">
            <a:extLst>
              <a:ext uri="{FF2B5EF4-FFF2-40B4-BE49-F238E27FC236}">
                <a16:creationId xmlns:a16="http://schemas.microsoft.com/office/drawing/2014/main" id="{ADF6FC7A-5162-E80C-A44B-AFDB7532A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192"/>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157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53891-2442-4587-A4C8-87FB14EB5188}"/>
              </a:ext>
            </a:extLst>
          </p:cNvPr>
          <p:cNvSpPr>
            <a:spLocks noGrp="1"/>
          </p:cNvSpPr>
          <p:nvPr>
            <p:ph type="title"/>
          </p:nvPr>
        </p:nvSpPr>
        <p:spPr/>
        <p:txBody>
          <a:bodyPr/>
          <a:lstStyle/>
          <a:p>
            <a:r>
              <a:rPr lang="en-MY" b="1" dirty="0"/>
              <a:t>Data Flow Diagrams (DFD)</a:t>
            </a:r>
            <a:endParaRPr lang="en-US" dirty="0"/>
          </a:p>
        </p:txBody>
      </p:sp>
      <p:sp>
        <p:nvSpPr>
          <p:cNvPr id="3" name="Content Placeholder 2">
            <a:extLst>
              <a:ext uri="{FF2B5EF4-FFF2-40B4-BE49-F238E27FC236}">
                <a16:creationId xmlns:a16="http://schemas.microsoft.com/office/drawing/2014/main" id="{06B87356-212C-4B93-AE82-87E73A43DD79}"/>
              </a:ext>
            </a:extLst>
          </p:cNvPr>
          <p:cNvSpPr>
            <a:spLocks noGrp="1"/>
          </p:cNvSpPr>
          <p:nvPr>
            <p:ph idx="1"/>
          </p:nvPr>
        </p:nvSpPr>
        <p:spPr/>
        <p:txBody>
          <a:bodyPr/>
          <a:lstStyle/>
          <a:p>
            <a:pPr>
              <a:buFont typeface="Arial" panose="020B0604020202020204" pitchFamily="34" charset="0"/>
              <a:buChar char="•"/>
            </a:pPr>
            <a:r>
              <a:rPr lang="en-MY" dirty="0"/>
              <a:t>Represents how data moves through a system.</a:t>
            </a:r>
          </a:p>
          <a:p>
            <a:pPr>
              <a:buFont typeface="Arial" panose="020B0604020202020204" pitchFamily="34" charset="0"/>
              <a:buChar char="•"/>
            </a:pPr>
            <a:r>
              <a:rPr lang="en-MY" b="1" dirty="0"/>
              <a:t>Components:</a:t>
            </a:r>
            <a:endParaRPr lang="en-MY" dirty="0"/>
          </a:p>
          <a:p>
            <a:pPr marL="742950" lvl="1" indent="-285750">
              <a:buFont typeface="Arial" panose="020B0604020202020204" pitchFamily="34" charset="0"/>
              <a:buChar char="•"/>
            </a:pPr>
            <a:r>
              <a:rPr lang="en-MY" b="1" dirty="0"/>
              <a:t>Processes</a:t>
            </a:r>
            <a:r>
              <a:rPr lang="en-MY" dirty="0"/>
              <a:t> (Circle)</a:t>
            </a:r>
          </a:p>
          <a:p>
            <a:pPr marL="742950" lvl="1" indent="-285750">
              <a:buFont typeface="Arial" panose="020B0604020202020204" pitchFamily="34" charset="0"/>
              <a:buChar char="•"/>
            </a:pPr>
            <a:r>
              <a:rPr lang="en-MY" b="1" dirty="0"/>
              <a:t>Data Stores</a:t>
            </a:r>
            <a:r>
              <a:rPr lang="en-MY" dirty="0"/>
              <a:t> (Rectangle)</a:t>
            </a:r>
          </a:p>
          <a:p>
            <a:pPr marL="742950" lvl="1" indent="-285750">
              <a:buFont typeface="Arial" panose="020B0604020202020204" pitchFamily="34" charset="0"/>
              <a:buChar char="•"/>
            </a:pPr>
            <a:r>
              <a:rPr lang="en-MY" b="1" dirty="0"/>
              <a:t>External Entities</a:t>
            </a:r>
            <a:r>
              <a:rPr lang="en-MY" dirty="0"/>
              <a:t> (Square)</a:t>
            </a:r>
          </a:p>
          <a:p>
            <a:pPr marL="742950" lvl="1" indent="-285750">
              <a:buFont typeface="Arial" panose="020B0604020202020204" pitchFamily="34" charset="0"/>
              <a:buChar char="•"/>
            </a:pPr>
            <a:r>
              <a:rPr lang="en-MY" b="1" dirty="0"/>
              <a:t>Data Flows</a:t>
            </a:r>
            <a:r>
              <a:rPr lang="en-MY" dirty="0"/>
              <a:t> (Arrows)</a:t>
            </a:r>
          </a:p>
        </p:txBody>
      </p:sp>
    </p:spTree>
    <p:extLst>
      <p:ext uri="{BB962C8B-B14F-4D97-AF65-F5344CB8AC3E}">
        <p14:creationId xmlns:p14="http://schemas.microsoft.com/office/powerpoint/2010/main" val="3120293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diagram of a company&#10;&#10;AI-generated content may be incorrect.">
            <a:extLst>
              <a:ext uri="{FF2B5EF4-FFF2-40B4-BE49-F238E27FC236}">
                <a16:creationId xmlns:a16="http://schemas.microsoft.com/office/drawing/2014/main" id="{B7FF0154-B1D1-68F9-05A5-20D46DA7A88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55303" y="643466"/>
            <a:ext cx="6081393"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19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A53D0-61C0-867C-A8B4-140095987446}"/>
              </a:ext>
            </a:extLst>
          </p:cNvPr>
          <p:cNvSpPr>
            <a:spLocks noGrp="1"/>
          </p:cNvSpPr>
          <p:nvPr>
            <p:ph type="title"/>
          </p:nvPr>
        </p:nvSpPr>
        <p:spPr/>
        <p:txBody>
          <a:bodyPr/>
          <a:lstStyle/>
          <a:p>
            <a:r>
              <a:rPr lang="en-MY" b="1" dirty="0"/>
              <a:t>Entity-Relationship Diagram (ERD)</a:t>
            </a:r>
            <a:endParaRPr lang="en-US" dirty="0"/>
          </a:p>
        </p:txBody>
      </p:sp>
      <p:sp>
        <p:nvSpPr>
          <p:cNvPr id="3" name="Content Placeholder 2">
            <a:extLst>
              <a:ext uri="{FF2B5EF4-FFF2-40B4-BE49-F238E27FC236}">
                <a16:creationId xmlns:a16="http://schemas.microsoft.com/office/drawing/2014/main" id="{AA5DEBE9-1121-A99E-3E17-B959382689C0}"/>
              </a:ext>
            </a:extLst>
          </p:cNvPr>
          <p:cNvSpPr>
            <a:spLocks noGrp="1"/>
          </p:cNvSpPr>
          <p:nvPr>
            <p:ph idx="1"/>
          </p:nvPr>
        </p:nvSpPr>
        <p:spPr/>
        <p:txBody>
          <a:bodyPr/>
          <a:lstStyle/>
          <a:p>
            <a:pPr>
              <a:buFont typeface="Arial" panose="020B0604020202020204" pitchFamily="34" charset="0"/>
              <a:buChar char="•"/>
            </a:pPr>
            <a:r>
              <a:rPr lang="en-MY" b="1" dirty="0"/>
              <a:t>Definition:</a:t>
            </a:r>
            <a:r>
              <a:rPr lang="en-MY" dirty="0"/>
              <a:t> Diagram that models database structure.</a:t>
            </a:r>
          </a:p>
          <a:p>
            <a:pPr>
              <a:buFont typeface="Arial" panose="020B0604020202020204" pitchFamily="34" charset="0"/>
              <a:buChar char="•"/>
            </a:pPr>
            <a:r>
              <a:rPr lang="en-MY" b="1" dirty="0"/>
              <a:t>Key Elements:</a:t>
            </a:r>
            <a:endParaRPr lang="en-MY" dirty="0"/>
          </a:p>
          <a:p>
            <a:pPr marL="742950" lvl="1" indent="-285750">
              <a:buFont typeface="Arial" panose="020B0604020202020204" pitchFamily="34" charset="0"/>
              <a:buChar char="•"/>
            </a:pPr>
            <a:r>
              <a:rPr lang="en-MY" dirty="0"/>
              <a:t>Entities (Objects like Students, Courses)</a:t>
            </a:r>
          </a:p>
          <a:p>
            <a:pPr marL="742950" lvl="1" indent="-285750">
              <a:buFont typeface="Arial" panose="020B0604020202020204" pitchFamily="34" charset="0"/>
              <a:buChar char="•"/>
            </a:pPr>
            <a:r>
              <a:rPr lang="en-MY" dirty="0"/>
              <a:t>Attributes (Properties like Student Name, Course Code)</a:t>
            </a:r>
          </a:p>
          <a:p>
            <a:pPr marL="742950" lvl="1" indent="-285750">
              <a:buFont typeface="Arial" panose="020B0604020202020204" pitchFamily="34" charset="0"/>
              <a:buChar char="•"/>
            </a:pPr>
            <a:r>
              <a:rPr lang="en-MY" dirty="0"/>
              <a:t>Relationships (Associations like Enrolled-In)</a:t>
            </a:r>
          </a:p>
        </p:txBody>
      </p:sp>
    </p:spTree>
    <p:extLst>
      <p:ext uri="{BB962C8B-B14F-4D97-AF65-F5344CB8AC3E}">
        <p14:creationId xmlns:p14="http://schemas.microsoft.com/office/powerpoint/2010/main" val="2561991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teacher&#10;&#10;AI-generated content may be incorrect.">
            <a:extLst>
              <a:ext uri="{FF2B5EF4-FFF2-40B4-BE49-F238E27FC236}">
                <a16:creationId xmlns:a16="http://schemas.microsoft.com/office/drawing/2014/main" id="{FE154063-4A46-3A1E-C5D4-C2E91287DE27}"/>
              </a:ext>
            </a:extLst>
          </p:cNvPr>
          <p:cNvPicPr>
            <a:picLocks noChangeAspect="1"/>
          </p:cNvPicPr>
          <p:nvPr/>
        </p:nvPicPr>
        <p:blipFill>
          <a:blip r:embed="rId2"/>
          <a:srcRect r="5315" b="-1"/>
          <a:stretch/>
        </p:blipFill>
        <p:spPr>
          <a:xfrm>
            <a:off x="20" y="1282"/>
            <a:ext cx="12191980" cy="6856718"/>
          </a:xfrm>
          <a:prstGeom prst="rect">
            <a:avLst/>
          </a:prstGeom>
        </p:spPr>
      </p:pic>
    </p:spTree>
    <p:extLst>
      <p:ext uri="{BB962C8B-B14F-4D97-AF65-F5344CB8AC3E}">
        <p14:creationId xmlns:p14="http://schemas.microsoft.com/office/powerpoint/2010/main" val="3276786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7EFFC-E25E-36F9-0D01-D54553275D84}"/>
              </a:ext>
            </a:extLst>
          </p:cNvPr>
          <p:cNvSpPr>
            <a:spLocks noGrp="1"/>
          </p:cNvSpPr>
          <p:nvPr>
            <p:ph type="title"/>
          </p:nvPr>
        </p:nvSpPr>
        <p:spPr/>
        <p:txBody>
          <a:bodyPr>
            <a:normAutofit/>
          </a:bodyPr>
          <a:lstStyle/>
          <a:p>
            <a:r>
              <a:rPr lang="en-MY" b="1" dirty="0"/>
              <a:t>Analysis for Understanding the Domain and Requirements</a:t>
            </a:r>
            <a:endParaRPr lang="en-US" dirty="0"/>
          </a:p>
        </p:txBody>
      </p:sp>
      <p:sp>
        <p:nvSpPr>
          <p:cNvPr id="3" name="Content Placeholder 2">
            <a:extLst>
              <a:ext uri="{FF2B5EF4-FFF2-40B4-BE49-F238E27FC236}">
                <a16:creationId xmlns:a16="http://schemas.microsoft.com/office/drawing/2014/main" id="{8F39381A-43A8-E2CF-0AB4-5C8F0E73985A}"/>
              </a:ext>
            </a:extLst>
          </p:cNvPr>
          <p:cNvSpPr>
            <a:spLocks noGrp="1"/>
          </p:cNvSpPr>
          <p:nvPr>
            <p:ph idx="1"/>
          </p:nvPr>
        </p:nvSpPr>
        <p:spPr/>
        <p:txBody>
          <a:bodyPr/>
          <a:lstStyle/>
          <a:p>
            <a:pPr>
              <a:buFont typeface="Arial" panose="020B0604020202020204" pitchFamily="34" charset="0"/>
              <a:buChar char="•"/>
            </a:pPr>
            <a:r>
              <a:rPr lang="en-MY" b="1" dirty="0"/>
              <a:t>Domain Analysis:</a:t>
            </a:r>
            <a:endParaRPr lang="en-MY" dirty="0"/>
          </a:p>
          <a:p>
            <a:pPr marL="742950" lvl="1" indent="-285750">
              <a:buFont typeface="Arial" panose="020B0604020202020204" pitchFamily="34" charset="0"/>
              <a:buChar char="•"/>
            </a:pPr>
            <a:r>
              <a:rPr lang="en-MY" dirty="0"/>
              <a:t>Identifying system environment, stakeholders, and constraints.</a:t>
            </a:r>
          </a:p>
          <a:p>
            <a:pPr marL="742950" lvl="1" indent="-285750">
              <a:buFont typeface="Arial" panose="020B0604020202020204" pitchFamily="34" charset="0"/>
              <a:buChar char="•"/>
            </a:pPr>
            <a:r>
              <a:rPr lang="en-MY" dirty="0"/>
              <a:t>Techniques: </a:t>
            </a:r>
            <a:r>
              <a:rPr lang="en-MY" b="1" dirty="0"/>
              <a:t>Interviews, Questionnaires, Document Analysis</a:t>
            </a:r>
            <a:r>
              <a:rPr lang="en-MY" dirty="0"/>
              <a:t>.</a:t>
            </a:r>
          </a:p>
          <a:p>
            <a:pPr>
              <a:buFont typeface="Arial" panose="020B0604020202020204" pitchFamily="34" charset="0"/>
              <a:buChar char="•"/>
            </a:pPr>
            <a:r>
              <a:rPr lang="en-MY" b="1" dirty="0"/>
              <a:t>Requirement Analysis Approaches:</a:t>
            </a:r>
            <a:endParaRPr lang="en-MY" dirty="0"/>
          </a:p>
          <a:p>
            <a:pPr marL="742950" lvl="1" indent="-285750">
              <a:buFont typeface="Arial" panose="020B0604020202020204" pitchFamily="34" charset="0"/>
              <a:buChar char="•"/>
            </a:pPr>
            <a:r>
              <a:rPr lang="en-MY" dirty="0"/>
              <a:t>Structured Analysis (DFD, ERD)</a:t>
            </a:r>
          </a:p>
          <a:p>
            <a:pPr marL="742950" lvl="1" indent="-285750">
              <a:buFont typeface="Arial" panose="020B0604020202020204" pitchFamily="34" charset="0"/>
              <a:buChar char="•"/>
            </a:pPr>
            <a:r>
              <a:rPr lang="en-MY" dirty="0"/>
              <a:t>Object-Oriented Analysis (UML Diagrams, Class Diagrams)</a:t>
            </a:r>
          </a:p>
        </p:txBody>
      </p:sp>
    </p:spTree>
    <p:extLst>
      <p:ext uri="{BB962C8B-B14F-4D97-AF65-F5344CB8AC3E}">
        <p14:creationId xmlns:p14="http://schemas.microsoft.com/office/powerpoint/2010/main" val="1353205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AC55-97F7-31A0-CB88-A57CB0011A3D}"/>
              </a:ext>
            </a:extLst>
          </p:cNvPr>
          <p:cNvSpPr>
            <a:spLocks noGrp="1"/>
          </p:cNvSpPr>
          <p:nvPr>
            <p:ph type="title"/>
          </p:nvPr>
        </p:nvSpPr>
        <p:spPr/>
        <p:txBody>
          <a:bodyPr/>
          <a:lstStyle/>
          <a:p>
            <a:r>
              <a:rPr lang="en-MY" b="1" dirty="0"/>
              <a:t>Use Case Description Format</a:t>
            </a:r>
            <a:endParaRPr lang="en-US" dirty="0"/>
          </a:p>
        </p:txBody>
      </p:sp>
      <p:sp>
        <p:nvSpPr>
          <p:cNvPr id="3" name="Content Placeholder 2">
            <a:extLst>
              <a:ext uri="{FF2B5EF4-FFF2-40B4-BE49-F238E27FC236}">
                <a16:creationId xmlns:a16="http://schemas.microsoft.com/office/drawing/2014/main" id="{C24D699F-57EE-5747-33D0-A834C94C46BE}"/>
              </a:ext>
            </a:extLst>
          </p:cNvPr>
          <p:cNvSpPr>
            <a:spLocks noGrp="1"/>
          </p:cNvSpPr>
          <p:nvPr>
            <p:ph idx="1"/>
          </p:nvPr>
        </p:nvSpPr>
        <p:spPr/>
        <p:txBody>
          <a:bodyPr/>
          <a:lstStyle/>
          <a:p>
            <a:pPr>
              <a:buFont typeface="Arial" panose="020B0604020202020204" pitchFamily="34" charset="0"/>
              <a:buChar char="•"/>
            </a:pPr>
            <a:r>
              <a:rPr lang="en-MY" b="1" dirty="0"/>
              <a:t>Use Case Name:</a:t>
            </a:r>
            <a:r>
              <a:rPr lang="en-MY" dirty="0"/>
              <a:t> Login Process</a:t>
            </a:r>
          </a:p>
          <a:p>
            <a:pPr>
              <a:buFont typeface="Arial" panose="020B0604020202020204" pitchFamily="34" charset="0"/>
              <a:buChar char="•"/>
            </a:pPr>
            <a:r>
              <a:rPr lang="en-MY" b="1" dirty="0"/>
              <a:t>Actors:</a:t>
            </a:r>
            <a:r>
              <a:rPr lang="en-MY" dirty="0"/>
              <a:t> User, Authentication System</a:t>
            </a:r>
          </a:p>
          <a:p>
            <a:pPr>
              <a:buFont typeface="Arial" panose="020B0604020202020204" pitchFamily="34" charset="0"/>
              <a:buChar char="•"/>
            </a:pPr>
            <a:r>
              <a:rPr lang="en-MY" b="1" dirty="0"/>
              <a:t>Preconditions:</a:t>
            </a:r>
            <a:r>
              <a:rPr lang="en-MY" dirty="0"/>
              <a:t> User must have an account</a:t>
            </a:r>
          </a:p>
          <a:p>
            <a:pPr>
              <a:buFont typeface="Arial" panose="020B0604020202020204" pitchFamily="34" charset="0"/>
              <a:buChar char="•"/>
            </a:pPr>
            <a:r>
              <a:rPr lang="en-MY" b="1" dirty="0"/>
              <a:t>Main Flow:</a:t>
            </a:r>
            <a:endParaRPr lang="en-MY" dirty="0"/>
          </a:p>
          <a:p>
            <a:pPr marL="742950" lvl="1" indent="-285750">
              <a:buFont typeface="Arial" panose="020B0604020202020204" pitchFamily="34" charset="0"/>
              <a:buChar char="•"/>
            </a:pPr>
            <a:r>
              <a:rPr lang="en-MY" dirty="0"/>
              <a:t>User enters username and password.</a:t>
            </a:r>
          </a:p>
          <a:p>
            <a:pPr marL="742950" lvl="1" indent="-285750">
              <a:buFont typeface="Arial" panose="020B0604020202020204" pitchFamily="34" charset="0"/>
              <a:buChar char="•"/>
            </a:pPr>
            <a:r>
              <a:rPr lang="en-MY" dirty="0"/>
              <a:t>System verifies credentials.</a:t>
            </a:r>
          </a:p>
          <a:p>
            <a:pPr marL="742950" lvl="1" indent="-285750">
              <a:buFont typeface="Arial" panose="020B0604020202020204" pitchFamily="34" charset="0"/>
              <a:buChar char="•"/>
            </a:pPr>
            <a:r>
              <a:rPr lang="en-MY" dirty="0"/>
              <a:t>User is granted access.</a:t>
            </a:r>
          </a:p>
          <a:p>
            <a:pPr>
              <a:buFont typeface="Arial" panose="020B0604020202020204" pitchFamily="34" charset="0"/>
              <a:buChar char="•"/>
            </a:pPr>
            <a:r>
              <a:rPr lang="en-MY" b="1" dirty="0"/>
              <a:t>Alternative Flow:</a:t>
            </a:r>
            <a:r>
              <a:rPr lang="en-MY" dirty="0"/>
              <a:t> Wrong password → Show error message.</a:t>
            </a:r>
          </a:p>
        </p:txBody>
      </p:sp>
    </p:spTree>
    <p:extLst>
      <p:ext uri="{BB962C8B-B14F-4D97-AF65-F5344CB8AC3E}">
        <p14:creationId xmlns:p14="http://schemas.microsoft.com/office/powerpoint/2010/main" val="378584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ADE92-3432-683C-1F14-10FBE66AF5AC}"/>
              </a:ext>
            </a:extLst>
          </p:cNvPr>
          <p:cNvSpPr>
            <a:spLocks noGrp="1"/>
          </p:cNvSpPr>
          <p:nvPr>
            <p:ph type="title"/>
          </p:nvPr>
        </p:nvSpPr>
        <p:spPr/>
        <p:txBody>
          <a:bodyPr/>
          <a:lstStyle/>
          <a:p>
            <a:r>
              <a:rPr lang="en-MY" b="1" dirty="0"/>
              <a:t>Formal Specification</a:t>
            </a:r>
            <a:endParaRPr lang="en-US" dirty="0"/>
          </a:p>
        </p:txBody>
      </p:sp>
      <p:sp>
        <p:nvSpPr>
          <p:cNvPr id="3" name="Content Placeholder 2">
            <a:extLst>
              <a:ext uri="{FF2B5EF4-FFF2-40B4-BE49-F238E27FC236}">
                <a16:creationId xmlns:a16="http://schemas.microsoft.com/office/drawing/2014/main" id="{2616D5C1-7BE8-DA1B-7A12-D00A6A251C64}"/>
              </a:ext>
            </a:extLst>
          </p:cNvPr>
          <p:cNvSpPr>
            <a:spLocks noGrp="1"/>
          </p:cNvSpPr>
          <p:nvPr>
            <p:ph idx="1"/>
          </p:nvPr>
        </p:nvSpPr>
        <p:spPr/>
        <p:txBody>
          <a:bodyPr/>
          <a:lstStyle/>
          <a:p>
            <a:pPr>
              <a:buFont typeface="Arial" panose="020B0604020202020204" pitchFamily="34" charset="0"/>
              <a:buChar char="•"/>
            </a:pPr>
            <a:r>
              <a:rPr lang="en-MY" b="1" dirty="0"/>
              <a:t>Definition:</a:t>
            </a:r>
            <a:r>
              <a:rPr lang="en-MY" dirty="0"/>
              <a:t> Mathematically-based techniques to specify software requirements.</a:t>
            </a:r>
          </a:p>
          <a:p>
            <a:pPr>
              <a:buFont typeface="Arial" panose="020B0604020202020204" pitchFamily="34" charset="0"/>
              <a:buChar char="•"/>
            </a:pPr>
            <a:r>
              <a:rPr lang="en-MY" b="1" dirty="0"/>
              <a:t>Why is it useful?</a:t>
            </a:r>
            <a:endParaRPr lang="en-MY" dirty="0"/>
          </a:p>
          <a:p>
            <a:pPr marL="742950" lvl="1" indent="-285750">
              <a:buFont typeface="Arial" panose="020B0604020202020204" pitchFamily="34" charset="0"/>
              <a:buChar char="•"/>
            </a:pPr>
            <a:r>
              <a:rPr lang="en-MY" dirty="0"/>
              <a:t>Removes ambiguity.</a:t>
            </a:r>
          </a:p>
          <a:p>
            <a:pPr marL="742950" lvl="1" indent="-285750">
              <a:buFont typeface="Arial" panose="020B0604020202020204" pitchFamily="34" charset="0"/>
              <a:buChar char="•"/>
            </a:pPr>
            <a:r>
              <a:rPr lang="en-MY" dirty="0"/>
              <a:t>Improves verification and validation.</a:t>
            </a:r>
          </a:p>
          <a:p>
            <a:pPr>
              <a:buFont typeface="Arial" panose="020B0604020202020204" pitchFamily="34" charset="0"/>
              <a:buChar char="•"/>
            </a:pPr>
            <a:r>
              <a:rPr lang="en-MY" b="1" dirty="0"/>
              <a:t>Common Methods:</a:t>
            </a:r>
            <a:endParaRPr lang="en-MY" dirty="0"/>
          </a:p>
          <a:p>
            <a:pPr marL="742950" lvl="1" indent="-285750">
              <a:buFont typeface="Arial" panose="020B0604020202020204" pitchFamily="34" charset="0"/>
              <a:buChar char="•"/>
            </a:pPr>
            <a:r>
              <a:rPr lang="en-MY" b="1" dirty="0"/>
              <a:t>Z-Notation, B-Method, VDM (Vienna Development Method)</a:t>
            </a:r>
            <a:endParaRPr lang="en-MY" dirty="0"/>
          </a:p>
        </p:txBody>
      </p:sp>
    </p:spTree>
    <p:extLst>
      <p:ext uri="{BB962C8B-B14F-4D97-AF65-F5344CB8AC3E}">
        <p14:creationId xmlns:p14="http://schemas.microsoft.com/office/powerpoint/2010/main" val="215727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7703-3897-E14B-925F-883DBD8F8FBB}"/>
              </a:ext>
            </a:extLst>
          </p:cNvPr>
          <p:cNvSpPr>
            <a:spLocks noGrp="1"/>
          </p:cNvSpPr>
          <p:nvPr>
            <p:ph type="title"/>
          </p:nvPr>
        </p:nvSpPr>
        <p:spPr/>
        <p:txBody>
          <a:bodyPr/>
          <a:lstStyle/>
          <a:p>
            <a:r>
              <a:rPr lang="en-MY" b="1" dirty="0"/>
              <a:t>Benefits of Using Formal Specification</a:t>
            </a:r>
            <a:endParaRPr lang="en-US" dirty="0"/>
          </a:p>
        </p:txBody>
      </p:sp>
      <p:sp>
        <p:nvSpPr>
          <p:cNvPr id="3" name="Content Placeholder 2">
            <a:extLst>
              <a:ext uri="{FF2B5EF4-FFF2-40B4-BE49-F238E27FC236}">
                <a16:creationId xmlns:a16="http://schemas.microsoft.com/office/drawing/2014/main" id="{05DF95FE-9463-335E-77EE-91A4BA3C8931}"/>
              </a:ext>
            </a:extLst>
          </p:cNvPr>
          <p:cNvSpPr>
            <a:spLocks noGrp="1"/>
          </p:cNvSpPr>
          <p:nvPr>
            <p:ph idx="1"/>
          </p:nvPr>
        </p:nvSpPr>
        <p:spPr/>
        <p:txBody>
          <a:bodyPr/>
          <a:lstStyle/>
          <a:p>
            <a:pPr>
              <a:buFont typeface="Arial" panose="020B0604020202020204" pitchFamily="34" charset="0"/>
              <a:buChar char="•"/>
            </a:pPr>
            <a:r>
              <a:rPr lang="en-MY" dirty="0"/>
              <a:t>Precise and unambiguous.</a:t>
            </a:r>
          </a:p>
          <a:p>
            <a:pPr>
              <a:buFont typeface="Arial" panose="020B0604020202020204" pitchFamily="34" charset="0"/>
              <a:buChar char="•"/>
            </a:pPr>
            <a:r>
              <a:rPr lang="en-MY" dirty="0"/>
              <a:t>Reduces misinterpretation.</a:t>
            </a:r>
          </a:p>
          <a:p>
            <a:pPr>
              <a:buFont typeface="Arial" panose="020B0604020202020204" pitchFamily="34" charset="0"/>
              <a:buChar char="•"/>
            </a:pPr>
            <a:r>
              <a:rPr lang="en-MY" dirty="0"/>
              <a:t>Helps with system validation before development.</a:t>
            </a:r>
          </a:p>
        </p:txBody>
      </p:sp>
    </p:spTree>
    <p:extLst>
      <p:ext uri="{BB962C8B-B14F-4D97-AF65-F5344CB8AC3E}">
        <p14:creationId xmlns:p14="http://schemas.microsoft.com/office/powerpoint/2010/main" val="3319282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A8D9-EE3E-EBD9-3458-96F20A3E0312}"/>
              </a:ext>
            </a:extLst>
          </p:cNvPr>
          <p:cNvSpPr>
            <a:spLocks noGrp="1"/>
          </p:cNvSpPr>
          <p:nvPr>
            <p:ph type="title"/>
          </p:nvPr>
        </p:nvSpPr>
        <p:spPr/>
        <p:txBody>
          <a:bodyPr/>
          <a:lstStyle/>
          <a:p>
            <a:r>
              <a:rPr lang="en-MY" b="1" dirty="0"/>
              <a:t>Challenges in Requirements Analysis</a:t>
            </a:r>
            <a:endParaRPr lang="en-US" dirty="0"/>
          </a:p>
        </p:txBody>
      </p:sp>
      <p:sp>
        <p:nvSpPr>
          <p:cNvPr id="3" name="Content Placeholder 2">
            <a:extLst>
              <a:ext uri="{FF2B5EF4-FFF2-40B4-BE49-F238E27FC236}">
                <a16:creationId xmlns:a16="http://schemas.microsoft.com/office/drawing/2014/main" id="{829CF935-0A7A-16D9-856D-77DFEC8B1B36}"/>
              </a:ext>
            </a:extLst>
          </p:cNvPr>
          <p:cNvSpPr>
            <a:spLocks noGrp="1"/>
          </p:cNvSpPr>
          <p:nvPr>
            <p:ph idx="1"/>
          </p:nvPr>
        </p:nvSpPr>
        <p:spPr/>
        <p:txBody>
          <a:bodyPr/>
          <a:lstStyle/>
          <a:p>
            <a:pPr>
              <a:buFont typeface="Arial" panose="020B0604020202020204" pitchFamily="34" charset="0"/>
              <a:buChar char="•"/>
            </a:pPr>
            <a:r>
              <a:rPr lang="en-MY" b="1" dirty="0"/>
              <a:t>Common Issues:</a:t>
            </a:r>
            <a:endParaRPr lang="en-MY" dirty="0"/>
          </a:p>
          <a:p>
            <a:pPr marL="742950" lvl="1" indent="-285750">
              <a:buFont typeface="Arial" panose="020B0604020202020204" pitchFamily="34" charset="0"/>
              <a:buChar char="•"/>
            </a:pPr>
            <a:r>
              <a:rPr lang="en-MY" dirty="0"/>
              <a:t>Unclear or vague requirements.</a:t>
            </a:r>
          </a:p>
          <a:p>
            <a:pPr marL="742950" lvl="1" indent="-285750">
              <a:buFont typeface="Arial" panose="020B0604020202020204" pitchFamily="34" charset="0"/>
              <a:buChar char="•"/>
            </a:pPr>
            <a:r>
              <a:rPr lang="en-MY" dirty="0"/>
              <a:t>Changing requirements.</a:t>
            </a:r>
          </a:p>
          <a:p>
            <a:pPr marL="742950" lvl="1" indent="-285750">
              <a:buFont typeface="Arial" panose="020B0604020202020204" pitchFamily="34" charset="0"/>
              <a:buChar char="•"/>
            </a:pPr>
            <a:r>
              <a:rPr lang="en-MY" dirty="0"/>
              <a:t>Conflicting stakeholder interests.</a:t>
            </a:r>
          </a:p>
          <a:p>
            <a:pPr>
              <a:buFont typeface="Arial" panose="020B0604020202020204" pitchFamily="34" charset="0"/>
              <a:buChar char="•"/>
            </a:pPr>
            <a:r>
              <a:rPr lang="en-MY" b="1" dirty="0"/>
              <a:t>How to overcome them?</a:t>
            </a:r>
            <a:endParaRPr lang="en-MY" dirty="0"/>
          </a:p>
          <a:p>
            <a:pPr marL="742950" lvl="1" indent="-285750">
              <a:buFont typeface="Arial" panose="020B0604020202020204" pitchFamily="34" charset="0"/>
              <a:buChar char="•"/>
            </a:pPr>
            <a:r>
              <a:rPr lang="en-MY" dirty="0"/>
              <a:t>Regular communication with stakeholders.</a:t>
            </a:r>
          </a:p>
          <a:p>
            <a:pPr marL="742950" lvl="1" indent="-285750">
              <a:buFont typeface="Arial" panose="020B0604020202020204" pitchFamily="34" charset="0"/>
              <a:buChar char="•"/>
            </a:pPr>
            <a:r>
              <a:rPr lang="en-MY" dirty="0"/>
              <a:t>Using prototypes and visual models.</a:t>
            </a:r>
          </a:p>
        </p:txBody>
      </p:sp>
    </p:spTree>
    <p:extLst>
      <p:ext uri="{BB962C8B-B14F-4D97-AF65-F5344CB8AC3E}">
        <p14:creationId xmlns:p14="http://schemas.microsoft.com/office/powerpoint/2010/main" val="2346384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48D4-C6E5-D7AB-85ED-5101633531DF}"/>
              </a:ext>
            </a:extLst>
          </p:cNvPr>
          <p:cNvSpPr>
            <a:spLocks noGrp="1"/>
          </p:cNvSpPr>
          <p:nvPr>
            <p:ph type="title"/>
          </p:nvPr>
        </p:nvSpPr>
        <p:spPr/>
        <p:txBody>
          <a:bodyPr>
            <a:normAutofit/>
          </a:bodyPr>
          <a:lstStyle/>
          <a:p>
            <a:r>
              <a:rPr lang="en-MY" b="1" dirty="0"/>
              <a:t>Real-World Example – Software Requirement Failure</a:t>
            </a:r>
            <a:endParaRPr lang="en-US" dirty="0"/>
          </a:p>
        </p:txBody>
      </p:sp>
      <p:sp>
        <p:nvSpPr>
          <p:cNvPr id="3" name="Content Placeholder 2">
            <a:extLst>
              <a:ext uri="{FF2B5EF4-FFF2-40B4-BE49-F238E27FC236}">
                <a16:creationId xmlns:a16="http://schemas.microsoft.com/office/drawing/2014/main" id="{18E107CB-3684-5419-DC8D-38C1404AB910}"/>
              </a:ext>
            </a:extLst>
          </p:cNvPr>
          <p:cNvSpPr>
            <a:spLocks noGrp="1"/>
          </p:cNvSpPr>
          <p:nvPr>
            <p:ph idx="1"/>
          </p:nvPr>
        </p:nvSpPr>
        <p:spPr/>
        <p:txBody>
          <a:bodyPr/>
          <a:lstStyle/>
          <a:p>
            <a:r>
              <a:rPr lang="en-MY" b="1" dirty="0"/>
              <a:t>Case Study:</a:t>
            </a:r>
            <a:r>
              <a:rPr lang="en-MY" dirty="0"/>
              <a:t> London Ambulance System Failure</a:t>
            </a:r>
          </a:p>
          <a:p>
            <a:pPr lvl="1"/>
            <a:r>
              <a:rPr lang="en-MY" dirty="0"/>
              <a:t>System designed without clear requirements.</a:t>
            </a:r>
          </a:p>
          <a:p>
            <a:pPr lvl="1"/>
            <a:r>
              <a:rPr lang="en-MY" dirty="0"/>
              <a:t>Lack of proper analysis led to incorrect dispatching.</a:t>
            </a:r>
          </a:p>
          <a:p>
            <a:pPr lvl="1"/>
            <a:r>
              <a:rPr lang="en-MY" dirty="0"/>
              <a:t>Lesson: Proper requirement engineering prevents system failures.</a:t>
            </a:r>
          </a:p>
          <a:p>
            <a:endParaRPr lang="en-US" dirty="0"/>
          </a:p>
        </p:txBody>
      </p:sp>
    </p:spTree>
    <p:extLst>
      <p:ext uri="{BB962C8B-B14F-4D97-AF65-F5344CB8AC3E}">
        <p14:creationId xmlns:p14="http://schemas.microsoft.com/office/powerpoint/2010/main" val="1797213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948F-D73C-4197-7B11-F2D3AED1D0D4}"/>
              </a:ext>
            </a:extLst>
          </p:cNvPr>
          <p:cNvSpPr>
            <a:spLocks noGrp="1"/>
          </p:cNvSpPr>
          <p:nvPr>
            <p:ph type="title"/>
          </p:nvPr>
        </p:nvSpPr>
        <p:spPr/>
        <p:txBody>
          <a:bodyPr>
            <a:normAutofit/>
          </a:bodyPr>
          <a:lstStyle/>
          <a:p>
            <a:r>
              <a:rPr lang="en-MY" b="1" dirty="0"/>
              <a:t>Industry Best Practices in Requirements Engineering</a:t>
            </a:r>
            <a:endParaRPr lang="en-US" dirty="0"/>
          </a:p>
        </p:txBody>
      </p:sp>
      <p:sp>
        <p:nvSpPr>
          <p:cNvPr id="3" name="Content Placeholder 2">
            <a:extLst>
              <a:ext uri="{FF2B5EF4-FFF2-40B4-BE49-F238E27FC236}">
                <a16:creationId xmlns:a16="http://schemas.microsoft.com/office/drawing/2014/main" id="{C1E75E96-327E-AF99-B9CB-A2BA259BB08B}"/>
              </a:ext>
            </a:extLst>
          </p:cNvPr>
          <p:cNvSpPr>
            <a:spLocks noGrp="1"/>
          </p:cNvSpPr>
          <p:nvPr>
            <p:ph idx="1"/>
          </p:nvPr>
        </p:nvSpPr>
        <p:spPr/>
        <p:txBody>
          <a:bodyPr/>
          <a:lstStyle/>
          <a:p>
            <a:pPr>
              <a:buFont typeface="Arial" panose="020B0604020202020204" pitchFamily="34" charset="0"/>
              <a:buChar char="•"/>
            </a:pPr>
            <a:r>
              <a:rPr lang="en-MY" b="1" dirty="0"/>
              <a:t>Define SMART Requirements:</a:t>
            </a:r>
            <a:endParaRPr lang="en-MY" dirty="0"/>
          </a:p>
          <a:p>
            <a:pPr marL="742950" lvl="1" indent="-285750">
              <a:buFont typeface="Arial" panose="020B0604020202020204" pitchFamily="34" charset="0"/>
              <a:buChar char="•"/>
            </a:pPr>
            <a:r>
              <a:rPr lang="en-MY" dirty="0"/>
              <a:t>Specific, Measurable, Achievable, Relevant, Time-bound.</a:t>
            </a:r>
          </a:p>
          <a:p>
            <a:pPr>
              <a:buFont typeface="Arial" panose="020B0604020202020204" pitchFamily="34" charset="0"/>
              <a:buChar char="•"/>
            </a:pPr>
            <a:r>
              <a:rPr lang="en-MY" b="1" dirty="0"/>
              <a:t>Use Requirement Management Tools:</a:t>
            </a:r>
            <a:endParaRPr lang="en-MY" dirty="0"/>
          </a:p>
          <a:p>
            <a:pPr marL="742950" lvl="1" indent="-285750">
              <a:buFont typeface="Arial" panose="020B0604020202020204" pitchFamily="34" charset="0"/>
              <a:buChar char="•"/>
            </a:pPr>
            <a:r>
              <a:rPr lang="en-MY" dirty="0"/>
              <a:t>JIRA, IBM Rational DOORS, </a:t>
            </a:r>
            <a:r>
              <a:rPr lang="en-MY" dirty="0" err="1"/>
              <a:t>ReqSuite</a:t>
            </a:r>
            <a:r>
              <a:rPr lang="en-MY" dirty="0"/>
              <a:t>.</a:t>
            </a:r>
          </a:p>
          <a:p>
            <a:pPr marL="0" indent="0">
              <a:buNone/>
            </a:pPr>
            <a:endParaRPr lang="en-US" dirty="0"/>
          </a:p>
        </p:txBody>
      </p:sp>
    </p:spTree>
    <p:extLst>
      <p:ext uri="{BB962C8B-B14F-4D97-AF65-F5344CB8AC3E}">
        <p14:creationId xmlns:p14="http://schemas.microsoft.com/office/powerpoint/2010/main" val="771469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905C-597D-DB37-4490-96C1ECF2A659}"/>
              </a:ext>
            </a:extLst>
          </p:cNvPr>
          <p:cNvSpPr>
            <a:spLocks noGrp="1"/>
          </p:cNvSpPr>
          <p:nvPr>
            <p:ph type="title"/>
          </p:nvPr>
        </p:nvSpPr>
        <p:spPr/>
        <p:txBody>
          <a:bodyPr/>
          <a:lstStyle/>
          <a:p>
            <a:r>
              <a:rPr lang="en-MY" b="1" dirty="0"/>
              <a:t>Summary</a:t>
            </a:r>
            <a:endParaRPr lang="en-US" dirty="0"/>
          </a:p>
        </p:txBody>
      </p:sp>
      <p:sp>
        <p:nvSpPr>
          <p:cNvPr id="3" name="Content Placeholder 2">
            <a:extLst>
              <a:ext uri="{FF2B5EF4-FFF2-40B4-BE49-F238E27FC236}">
                <a16:creationId xmlns:a16="http://schemas.microsoft.com/office/drawing/2014/main" id="{69A7BED7-3353-62AB-D2C2-79DF05881F5E}"/>
              </a:ext>
            </a:extLst>
          </p:cNvPr>
          <p:cNvSpPr>
            <a:spLocks noGrp="1"/>
          </p:cNvSpPr>
          <p:nvPr>
            <p:ph idx="1"/>
          </p:nvPr>
        </p:nvSpPr>
        <p:spPr/>
        <p:txBody>
          <a:bodyPr/>
          <a:lstStyle/>
          <a:p>
            <a:pPr>
              <a:buFont typeface="Arial" panose="020B0604020202020204" pitchFamily="34" charset="0"/>
              <a:buChar char="•"/>
            </a:pPr>
            <a:r>
              <a:rPr lang="en-MY" b="1" dirty="0"/>
              <a:t>Requirement Analysis</a:t>
            </a:r>
            <a:r>
              <a:rPr lang="en-MY" dirty="0"/>
              <a:t> ensures clear, complete, and correct requirements.</a:t>
            </a:r>
          </a:p>
          <a:p>
            <a:pPr>
              <a:buFont typeface="Arial" panose="020B0604020202020204" pitchFamily="34" charset="0"/>
              <a:buChar char="•"/>
            </a:pPr>
            <a:r>
              <a:rPr lang="en-MY" b="1" dirty="0" err="1"/>
              <a:t>Modeling</a:t>
            </a:r>
            <a:r>
              <a:rPr lang="en-MY" b="1" dirty="0"/>
              <a:t> Techniques</a:t>
            </a:r>
            <a:r>
              <a:rPr lang="en-MY" dirty="0"/>
              <a:t> help visualize requirements for better understanding.</a:t>
            </a:r>
          </a:p>
          <a:p>
            <a:pPr>
              <a:buFont typeface="Arial" panose="020B0604020202020204" pitchFamily="34" charset="0"/>
              <a:buChar char="•"/>
            </a:pPr>
            <a:r>
              <a:rPr lang="en-MY" b="1" dirty="0"/>
              <a:t>Use Case </a:t>
            </a:r>
            <a:r>
              <a:rPr lang="en-MY" b="1" dirty="0" err="1"/>
              <a:t>Modeling</a:t>
            </a:r>
            <a:r>
              <a:rPr lang="en-MY" dirty="0"/>
              <a:t> captures user interactions.</a:t>
            </a:r>
          </a:p>
          <a:p>
            <a:pPr>
              <a:buFont typeface="Arial" panose="020B0604020202020204" pitchFamily="34" charset="0"/>
              <a:buChar char="•"/>
            </a:pPr>
            <a:r>
              <a:rPr lang="en-MY" b="1" dirty="0"/>
              <a:t>Formal Specification</a:t>
            </a:r>
            <a:r>
              <a:rPr lang="en-MY" dirty="0"/>
              <a:t> provides a rigorous, mathematical approach to defining requirements.</a:t>
            </a:r>
          </a:p>
        </p:txBody>
      </p:sp>
    </p:spTree>
    <p:extLst>
      <p:ext uri="{BB962C8B-B14F-4D97-AF65-F5344CB8AC3E}">
        <p14:creationId xmlns:p14="http://schemas.microsoft.com/office/powerpoint/2010/main" val="1395226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BF6F-64ED-F21B-9EF9-485E766B6AC9}"/>
              </a:ext>
            </a:extLst>
          </p:cNvPr>
          <p:cNvSpPr>
            <a:spLocks noGrp="1"/>
          </p:cNvSpPr>
          <p:nvPr>
            <p:ph type="title"/>
          </p:nvPr>
        </p:nvSpPr>
        <p:spPr/>
        <p:txBody>
          <a:bodyPr/>
          <a:lstStyle/>
          <a:p>
            <a:r>
              <a:rPr lang="en-US" dirty="0"/>
              <a:t>End of Topic 3</a:t>
            </a:r>
          </a:p>
        </p:txBody>
      </p:sp>
      <p:sp>
        <p:nvSpPr>
          <p:cNvPr id="3" name="Text Placeholder 2">
            <a:extLst>
              <a:ext uri="{FF2B5EF4-FFF2-40B4-BE49-F238E27FC236}">
                <a16:creationId xmlns:a16="http://schemas.microsoft.com/office/drawing/2014/main" id="{928BEEFA-11E8-DC87-23B6-E444C7BFE51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52794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4598</Words>
  <Application>Microsoft Office PowerPoint</Application>
  <PresentationFormat>宽屏</PresentationFormat>
  <Paragraphs>473</Paragraphs>
  <Slides>79</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79</vt:i4>
      </vt:variant>
    </vt:vector>
  </HeadingPairs>
  <TitlesOfParts>
    <vt:vector size="83" baseType="lpstr">
      <vt:lpstr>Aptos</vt:lpstr>
      <vt:lpstr>Aptos Display</vt:lpstr>
      <vt:lpstr>Arial</vt:lpstr>
      <vt:lpstr>Office Theme</vt:lpstr>
      <vt:lpstr>EC3290 – Software Requirements Engineering</vt:lpstr>
      <vt:lpstr>Introduction to Software Engineering</vt:lpstr>
      <vt:lpstr>Software Development Lifecycle (SDLC) Overview</vt:lpstr>
      <vt:lpstr>Importance of Processes in Software Development</vt:lpstr>
      <vt:lpstr>Relationship Between Software Processes and Requirements</vt:lpstr>
      <vt:lpstr>Definition of Requirements Engineering</vt:lpstr>
      <vt:lpstr>Role of Requirements Engineering</vt:lpstr>
      <vt:lpstr>Importance of Requirements Engineering</vt:lpstr>
      <vt:lpstr>Challenges in Requirements Engineering</vt:lpstr>
      <vt:lpstr>Challenges in Requirements Engineering</vt:lpstr>
      <vt:lpstr>Overview of Requirements Engineering Activities</vt:lpstr>
      <vt:lpstr>Elicitation</vt:lpstr>
      <vt:lpstr>Analysis</vt:lpstr>
      <vt:lpstr>MoSCoW Method – Must Have</vt:lpstr>
      <vt:lpstr>MoSCoW Method – Should Have</vt:lpstr>
      <vt:lpstr>MoSCoW Method – Could Have</vt:lpstr>
      <vt:lpstr>MoSCoW Method – Won’t Have</vt:lpstr>
      <vt:lpstr>Specification</vt:lpstr>
      <vt:lpstr>Validation</vt:lpstr>
      <vt:lpstr>Management</vt:lpstr>
      <vt:lpstr>Introduction to Types of Requirements</vt:lpstr>
      <vt:lpstr>Functional Requirements</vt:lpstr>
      <vt:lpstr>Functional Requirements</vt:lpstr>
      <vt:lpstr>Non-Functional Requirements</vt:lpstr>
      <vt:lpstr>Non-Functional Requirements</vt:lpstr>
      <vt:lpstr>Comparison: Functional vs. Non-Functional Requirements</vt:lpstr>
      <vt:lpstr>Importance of Clear Requirements</vt:lpstr>
      <vt:lpstr>What Makes a Good Requirement?</vt:lpstr>
      <vt:lpstr>Common Pitfalls in Writing Requirements</vt:lpstr>
      <vt:lpstr>Using Templates and Standards</vt:lpstr>
      <vt:lpstr>Examples of Well-Written Requirements</vt:lpstr>
      <vt:lpstr>Techniques to Improve Requirement Quality</vt:lpstr>
      <vt:lpstr>End of Topic 1</vt:lpstr>
      <vt:lpstr>EC3290 – Software Requirements Engineering</vt:lpstr>
      <vt:lpstr>Requirements Inception</vt:lpstr>
      <vt:lpstr>Domain Understanding</vt:lpstr>
      <vt:lpstr>Product Vision</vt:lpstr>
      <vt:lpstr>Defining the Scope</vt:lpstr>
      <vt:lpstr>Requirements Elicitation</vt:lpstr>
      <vt:lpstr>Interview Technique</vt:lpstr>
      <vt:lpstr>Structured Interview</vt:lpstr>
      <vt:lpstr>Semi-Structured Interview:</vt:lpstr>
      <vt:lpstr>Unstructured Interview:</vt:lpstr>
      <vt:lpstr>Benefits of each:</vt:lpstr>
      <vt:lpstr>Preparing for an Interview</vt:lpstr>
      <vt:lpstr>Conducting an Interview</vt:lpstr>
      <vt:lpstr>Benefits and Limitations</vt:lpstr>
      <vt:lpstr>Questionnaire Technique</vt:lpstr>
      <vt:lpstr>Examples</vt:lpstr>
      <vt:lpstr>Benefits and Limitations</vt:lpstr>
      <vt:lpstr>Observation Technique</vt:lpstr>
      <vt:lpstr>Direct Observation</vt:lpstr>
      <vt:lpstr>Participants Observations</vt:lpstr>
      <vt:lpstr>Benefits and Limitations</vt:lpstr>
      <vt:lpstr>Document Reading Technique</vt:lpstr>
      <vt:lpstr>Benefits and Limitations</vt:lpstr>
      <vt:lpstr>Requirements Documentation</vt:lpstr>
      <vt:lpstr>Requirements Documentation</vt:lpstr>
      <vt:lpstr>End of Chapter 2</vt:lpstr>
      <vt:lpstr>EC3290 – Software Requirements Engineering</vt:lpstr>
      <vt:lpstr>Learning Objectives</vt:lpstr>
      <vt:lpstr>Introduction to Requirements Analysis</vt:lpstr>
      <vt:lpstr>Description vs. Specification</vt:lpstr>
      <vt:lpstr>Requirements Modelling Techniques</vt:lpstr>
      <vt:lpstr>Use Case Modelling and Scenario Descriptions</vt:lpstr>
      <vt:lpstr>PowerPoint 演示文稿</vt:lpstr>
      <vt:lpstr>Data Flow Diagrams (DFD)</vt:lpstr>
      <vt:lpstr>PowerPoint 演示文稿</vt:lpstr>
      <vt:lpstr>Entity-Relationship Diagram (ERD)</vt:lpstr>
      <vt:lpstr>PowerPoint 演示文稿</vt:lpstr>
      <vt:lpstr>Analysis for Understanding the Domain and Requirements</vt:lpstr>
      <vt:lpstr>Use Case Description Format</vt:lpstr>
      <vt:lpstr>Formal Specification</vt:lpstr>
      <vt:lpstr>Benefits of Using Formal Specification</vt:lpstr>
      <vt:lpstr>Challenges in Requirements Analysis</vt:lpstr>
      <vt:lpstr>Real-World Example – Software Requirement Failure</vt:lpstr>
      <vt:lpstr>Industry Best Practices in Requirements Engineering</vt:lpstr>
      <vt:lpstr>Summary</vt:lpstr>
      <vt:lpstr>End of Topic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Izrulfizal Saufihamizal Bin Ibrahim</dc:creator>
  <cp:lastModifiedBy>Jeff Sia Yu Heng</cp:lastModifiedBy>
  <cp:revision>88</cp:revision>
  <dcterms:created xsi:type="dcterms:W3CDTF">2024-10-29T01:28:20Z</dcterms:created>
  <dcterms:modified xsi:type="dcterms:W3CDTF">2025-04-29T04:28:43Z</dcterms:modified>
</cp:coreProperties>
</file>