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–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97"/>
    <p:restoredTop sz="94751"/>
  </p:normalViewPr>
  <p:slideViewPr>
    <p:cSldViewPr snapToGrid="0">
      <p:cViewPr varScale="1">
        <p:scale>
          <a:sx n="119" d="100"/>
          <a:sy n="119" d="100"/>
        </p:scale>
        <p:origin x="5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5CD02-4727-3C62-E41A-E635C75A3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AC760B-3ABF-956B-767D-8FD08C31F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014FE-44E9-774A-B434-AB905B203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8DBC-5224-F543-B2C9-102A40BEBD07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D48D2-D414-C6B2-7D3A-FC77C0334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6CD53-9002-21A1-5B09-326489F7D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695E1-F5CB-8044-B4F1-8E91BA21D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99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F51D4-E982-4091-3828-66BCE766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0FF4-4DE0-2FC0-9A90-DAD970E37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3B138-94AD-BCFF-67F6-8675772A5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8DBC-5224-F543-B2C9-102A40BEBD07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ECDEC-43A5-193B-9E35-CE1284CA9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9CD0-FB42-9893-4331-BF9A7C26E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695E1-F5CB-8044-B4F1-8E91BA21D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67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8A2D3-61CC-EC6F-6555-7BF77565C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EDEF9-97F3-CF09-4FDB-08EC3BC7F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B53BC-8176-0C0C-FDCE-D8F0ECCC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8DBC-5224-F543-B2C9-102A40BEBD07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AA552-B071-F04F-C9B0-26B72571F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913BD-BA10-B53E-DF7A-55ACA085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695E1-F5CB-8044-B4F1-8E91BA21D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604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5E019-844C-6E35-3AE6-EE433DD87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9492A-2E09-5D7A-0934-2CC2B000FD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AA295-14A2-9B1A-3502-49E891854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D62A5-B36A-251F-9481-9D4FEE55E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8DBC-5224-F543-B2C9-102A40BEBD07}" type="datetimeFigureOut">
              <a:rPr lang="en-US" smtClean="0"/>
              <a:t>4/9/25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D6D0A-CCB1-8BA6-3CE4-E15DCA96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A9642-88D1-E5F5-A990-3B3FDF902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695E1-F5CB-8044-B4F1-8E91BA21D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888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19197-5734-CB18-DB13-CFC2F210F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38FE9-D2D8-44CD-4E1E-6BFB3A00E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61D5CA-EAD3-5231-34BC-AA8DE6F09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AA7858-04A2-D3D3-DE28-8FD29A38EC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DF2693-B930-1958-C454-76E975B423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51C36A-11CC-DC28-EB85-019589A29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8DBC-5224-F543-B2C9-102A40BEBD07}" type="datetimeFigureOut">
              <a:rPr lang="en-US" smtClean="0"/>
              <a:t>4/9/25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EB525A-1B97-1D25-B084-D6739C41A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33EB04-097E-FC85-8CD3-FD21B99C6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695E1-F5CB-8044-B4F1-8E91BA21D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561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1122F-5B6A-3BFD-FFD4-DD5CAD1F3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FEA704-EC27-9907-F006-63A7D8C0B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8DBC-5224-F543-B2C9-102A40BEBD07}" type="datetimeFigureOut">
              <a:rPr lang="en-US" smtClean="0"/>
              <a:t>4/9/25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2A68F6-7187-7F30-A7FB-1BE619934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CE1F51-36F1-44E3-7FE7-8F59671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695E1-F5CB-8044-B4F1-8E91BA21D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331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C7A5F2-82FB-AA1F-CA8D-D39926741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8DBC-5224-F543-B2C9-102A40BEBD07}" type="datetimeFigureOut">
              <a:rPr lang="en-US" smtClean="0"/>
              <a:t>4/9/25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3F87DC-1B1F-7E5B-0310-D8C04CC9F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C2110-5C40-F1C3-C98A-6FA5CA66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695E1-F5CB-8044-B4F1-8E91BA21D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81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CE1CA-2B3E-A7D4-600C-67964385E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4EB0-F6DE-8B06-B248-BEC7D286A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3FD7F-1362-CA68-9DCB-F4C44CEBD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1A290-7697-B5DD-6331-ABFC5947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8DBC-5224-F543-B2C9-102A40BEBD07}" type="datetimeFigureOut">
              <a:rPr lang="en-US" smtClean="0"/>
              <a:t>4/9/25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3FD13-2043-8406-AEF3-1601292F8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91B86-6490-3BCF-A8B1-4D4FB8634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695E1-F5CB-8044-B4F1-8E91BA21D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208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25E5E-F634-3068-7DDB-56E61D59B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DEFED9-1386-7345-8FFD-A62AD60CE9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17EB44-7AF2-E82E-8E66-C7EC10BF9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0C659-08AE-76EE-1B46-C5465232D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8DBC-5224-F543-B2C9-102A40BEBD07}" type="datetimeFigureOut">
              <a:rPr lang="en-US" smtClean="0"/>
              <a:t>4/9/25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E3AA-E33E-13D1-F4FE-604DEBF47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3C22B9-C2CD-176A-50F2-EE62D59C4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695E1-F5CB-8044-B4F1-8E91BA21D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122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FAA21-9D6E-BC33-13FE-B31C016BC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F8E8F-2233-7E1B-1BF7-F790FBE99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7E879-FB51-CB52-3291-D9DF11101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8DBC-5224-F543-B2C9-102A40BEBD07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2D922-3105-3CA7-BDA3-EF81C7AC8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6CFD5-2CFD-DE52-AE25-4DDF922E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695E1-F5CB-8044-B4F1-8E91BA21D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454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C34D38-6B73-BF69-9EF1-47BBBEBA7D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B57A7-E466-52FD-B3A4-D72E84F01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E37AF-C1AD-C915-3929-0843E3F51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88DBC-5224-F543-B2C9-102A40BEBD07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7BE05-A930-F98E-0D36-953B26D4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053C8-A458-43B1-BDB5-9DEBCD077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695E1-F5CB-8044-B4F1-8E91BA21D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63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85C190-AE91-C542-C4CF-3D95B1EDD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A61D2-0499-C51B-7D93-17065E440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6A4B4-5E15-3704-0AAB-FD7A682E66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E88DBC-5224-F543-B2C9-102A40BEBD07}" type="datetimeFigureOut">
              <a:rPr lang="en-US" smtClean="0"/>
              <a:t>4/9/25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F80A5-C8F0-F366-AE5C-D6B189F19B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FD4F0-EA82-2292-7B22-9340751FE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6695E1-F5CB-8044-B4F1-8E91BA21D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341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525E7-508F-1EA8-0A07-3BC82B759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753" y="1122363"/>
            <a:ext cx="12011247" cy="2387600"/>
          </a:xfrm>
        </p:spPr>
        <p:txBody>
          <a:bodyPr/>
          <a:lstStyle/>
          <a:p>
            <a:r>
              <a:rPr lang="en-US" dirty="0"/>
              <a:t>EC3290 – Software Requirements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66ABDB-95C3-5663-AD26-89954274A2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b="1" u="sng" dirty="0"/>
              <a:t>Topic 5 – </a:t>
            </a:r>
            <a:r>
              <a:rPr lang="en-MY" b="1" u="sng" dirty="0"/>
              <a:t>Requirement Evolution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3477311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77C5B-690D-3B1B-2872-7E79C092F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Learning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6040A-165C-E13F-A6C2-45D83D8B7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4351338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en-MY" dirty="0"/>
              <a:t>	This session provides a complete overview of how to manage evolving requirements in software development. You will understand the lifecycle of a requirement and how to manage it effectively as situations change.</a:t>
            </a:r>
          </a:p>
          <a:p>
            <a:pPr>
              <a:buNone/>
            </a:pPr>
            <a:r>
              <a:rPr lang="en-MY" b="1" dirty="0"/>
              <a:t>Key Points:</a:t>
            </a: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Understand the evolving nature of software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Learn to apply requirements traceability techniques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Practice prioritization methods like </a:t>
            </a:r>
            <a:r>
              <a:rPr lang="en-MY" dirty="0" err="1"/>
              <a:t>MoSCoW</a:t>
            </a:r>
            <a:r>
              <a:rPr lang="en-MY" dirty="0"/>
              <a:t> and Kano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Explore how to manage changes using baselines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Understand the value of reusing requirements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014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B139D-4761-A2EF-6B10-3C9F62276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Introduction to Requirements Evolution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76850-0843-60B3-2F0C-0C9AEA273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dirty="0"/>
              <a:t>Software requirements are not static. They must adapt to changing environments, new stakeholder needs, and unforeseen challenges. Requirements evolution is a natural part of the software lifecycle.</a:t>
            </a:r>
          </a:p>
          <a:p>
            <a:pPr>
              <a:buFont typeface="Arial" panose="020B0604020202020204" pitchFamily="34" charset="0"/>
              <a:buChar char="•"/>
            </a:pP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Requirements change due to business and technical drivers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The need for flexibility in planning and documentation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Helps avoid outdated or irrelevant product features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953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A66F8-2C53-E32F-50F2-E6A0026CB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What Causes Requirements to Evolve?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4DBE5-071E-E3E2-5940-822D77026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dirty="0"/>
              <a:t>Several internal and external factors influence the need to update software requirements. These changes can have significant impacts on project scope and delivery.</a:t>
            </a:r>
          </a:p>
          <a:p>
            <a:pPr>
              <a:buNone/>
            </a:pPr>
            <a:r>
              <a:rPr lang="en-MY" b="1" dirty="0"/>
              <a:t>Key Causes:</a:t>
            </a:r>
            <a:endParaRPr lang="en-MY" dirty="0"/>
          </a:p>
          <a:p>
            <a:pPr lvl="1"/>
            <a:r>
              <a:rPr lang="en-MY" dirty="0"/>
              <a:t>Stakeholder feedback</a:t>
            </a:r>
          </a:p>
          <a:p>
            <a:pPr lvl="1"/>
            <a:r>
              <a:rPr lang="en-MY" dirty="0"/>
              <a:t>Regulatory updates</a:t>
            </a:r>
          </a:p>
          <a:p>
            <a:pPr lvl="1"/>
            <a:r>
              <a:rPr lang="en-MY" dirty="0"/>
              <a:t>Competitive market demands</a:t>
            </a:r>
          </a:p>
          <a:p>
            <a:pPr lvl="1"/>
            <a:r>
              <a:rPr lang="en-MY" dirty="0"/>
              <a:t>Technical limitations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138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931BD-DBAB-0E07-9CB9-3CEB91511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Real-World Example - Mobile Banking App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CA0AB-DB6C-172B-9FE2-41BEDE09E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dirty="0"/>
              <a:t>A mobile banking app initially supports only local transactions. Later, the client requests international transfer functionality due to business expansion. Requirements evolve to include exchange rates, compliance checks, and international APIs.</a:t>
            </a:r>
          </a:p>
          <a:p>
            <a:pPr>
              <a:buNone/>
            </a:pPr>
            <a:r>
              <a:rPr lang="en-MY" b="1" dirty="0"/>
              <a:t>Key Points:</a:t>
            </a:r>
            <a:endParaRPr lang="en-MY" dirty="0"/>
          </a:p>
          <a:p>
            <a:pPr lvl="1"/>
            <a:r>
              <a:rPr lang="en-MY" dirty="0"/>
              <a:t>Reflects how growth changes user needs</a:t>
            </a:r>
          </a:p>
          <a:p>
            <a:pPr lvl="1"/>
            <a:r>
              <a:rPr lang="en-MY" dirty="0"/>
              <a:t>Shows how even small additions can trigger complex changes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04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1DB1A-A835-F308-48B4-4B0C3CF96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Requirements Traceability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9B168-FB11-3A39-F98C-845E935F8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dirty="0"/>
              <a:t>Traceability helps track each requirement from origin to deployment. It ensures nothing is missed and every stakeholder need is fulfilled.</a:t>
            </a:r>
          </a:p>
          <a:p>
            <a:pPr>
              <a:buNone/>
            </a:pPr>
            <a:r>
              <a:rPr lang="en-MY" b="1" dirty="0"/>
              <a:t>Key Points:</a:t>
            </a:r>
            <a:endParaRPr lang="en-MY" dirty="0"/>
          </a:p>
          <a:p>
            <a:pPr lvl="1"/>
            <a:r>
              <a:rPr lang="en-MY" dirty="0"/>
              <a:t>Supports impact analysis and auditing</a:t>
            </a:r>
          </a:p>
          <a:p>
            <a:pPr lvl="1"/>
            <a:r>
              <a:rPr lang="en-MY" dirty="0"/>
              <a:t>Links requirements to design, code, and tests</a:t>
            </a:r>
          </a:p>
          <a:p>
            <a:pPr lvl="1"/>
            <a:r>
              <a:rPr lang="en-MY" dirty="0"/>
              <a:t>Improves accountability and verification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830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002B5-577B-68E1-23D2-0E4B6E8F9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Types of Traceability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AA47A-62B8-E6AC-1304-7C95BB3E6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Forward Traceability: Requirement → Test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Backward Traceability: Test → Requirement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Bidirectional Traceability: Both directions</a:t>
            </a:r>
          </a:p>
        </p:txBody>
      </p:sp>
    </p:spTree>
    <p:extLst>
      <p:ext uri="{BB962C8B-B14F-4D97-AF65-F5344CB8AC3E}">
        <p14:creationId xmlns:p14="http://schemas.microsoft.com/office/powerpoint/2010/main" val="2003105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71B7E-5E7E-62C1-B4E8-5AD029519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Traceability Example - Password Reset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0FC58-C1DC-4667-47D4-C24FD59EE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dirty="0"/>
              <a:t>A requirement like "User resets password via OTP" can be traced through design documents, code modules, and test cases.</a:t>
            </a:r>
          </a:p>
          <a:p>
            <a:pPr>
              <a:buNone/>
            </a:pPr>
            <a:r>
              <a:rPr lang="en-MY" b="1" dirty="0"/>
              <a:t>Trace Links:</a:t>
            </a: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Design: OTP input interface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Code: </a:t>
            </a:r>
            <a:r>
              <a:rPr lang="en-MY" dirty="0" err="1"/>
              <a:t>otp_reset.py</a:t>
            </a: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Test: TC003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Deploy: Version 1.2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168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8A3A9-966D-1138-39E5-DEDE2C266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Tools for Traceability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B6D38-9A32-7046-6B98-F2FCE51F8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IBM DOORS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Jira with Xray/Zephyr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Jama Connect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 err="1"/>
              <a:t>ReQtest</a:t>
            </a:r>
            <a:endParaRPr lang="en-MY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324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AC416-A5CF-FE1C-C107-BF5211652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Requirements Prioritization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922E9-1B83-8527-8451-074BDC82F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dirty="0"/>
              <a:t>Not all requirements are created equal. Prioritization helps teams focus on delivering the highest value first.</a:t>
            </a:r>
          </a:p>
          <a:p>
            <a:pPr>
              <a:buNone/>
            </a:pPr>
            <a:r>
              <a:rPr lang="en-MY" b="1" dirty="0"/>
              <a:t>Benefits:</a:t>
            </a: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Aligns with business goals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Manages scope effectively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Enhances decision-making in trade-offs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670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E07D2-D028-9A8F-8BDE-845CBFFC1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 err="1"/>
              <a:t>MoSCoW</a:t>
            </a:r>
            <a:r>
              <a:rPr lang="en-MY" b="1" dirty="0"/>
              <a:t> Technique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4B2E8-19F7-EB9C-B626-5BE1D1E21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dirty="0" err="1"/>
              <a:t>MoSCoW</a:t>
            </a:r>
            <a:r>
              <a:rPr lang="en-MY" dirty="0"/>
              <a:t> is a simple but effective prioritization method.</a:t>
            </a:r>
          </a:p>
          <a:p>
            <a:pPr>
              <a:buNone/>
            </a:pPr>
            <a:r>
              <a:rPr lang="en-MY" b="1" dirty="0"/>
              <a:t>Categories:</a:t>
            </a:r>
            <a:endParaRPr lang="en-MY" dirty="0"/>
          </a:p>
          <a:p>
            <a:pPr lvl="1"/>
            <a:r>
              <a:rPr lang="en-MY" dirty="0"/>
              <a:t>Must have: Essential</a:t>
            </a:r>
          </a:p>
          <a:p>
            <a:pPr lvl="1"/>
            <a:r>
              <a:rPr lang="en-MY" dirty="0"/>
              <a:t>Should have: Important</a:t>
            </a:r>
          </a:p>
          <a:p>
            <a:pPr lvl="1"/>
            <a:r>
              <a:rPr lang="en-MY" dirty="0"/>
              <a:t>Could have: Nice to have</a:t>
            </a:r>
          </a:p>
          <a:p>
            <a:pPr lvl="1"/>
            <a:r>
              <a:rPr lang="en-MY" dirty="0"/>
              <a:t>Won’t have: Out of scope (for now)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799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60388-84BE-3877-CA50-8A92AC1C6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Kano Model and 100-Dollar 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6752C-CCEC-E45E-E237-F0CFD3A82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b="1" dirty="0"/>
              <a:t>Kano Categories:</a:t>
            </a:r>
            <a:endParaRPr lang="en-MY" dirty="0"/>
          </a:p>
          <a:p>
            <a:pPr lvl="1"/>
            <a:r>
              <a:rPr lang="en-MY" dirty="0"/>
              <a:t>Basic Needs</a:t>
            </a:r>
          </a:p>
          <a:p>
            <a:pPr lvl="1"/>
            <a:r>
              <a:rPr lang="en-MY" dirty="0"/>
              <a:t>Performance Features</a:t>
            </a:r>
          </a:p>
          <a:p>
            <a:pPr lvl="1"/>
            <a:r>
              <a:rPr lang="en-MY" dirty="0"/>
              <a:t>Delighters</a:t>
            </a:r>
          </a:p>
          <a:p>
            <a:pPr>
              <a:buNone/>
            </a:pPr>
            <a:r>
              <a:rPr lang="en-MY" b="1" dirty="0"/>
              <a:t>100-Dollar Test:</a:t>
            </a:r>
            <a:endParaRPr lang="en-MY" dirty="0"/>
          </a:p>
          <a:p>
            <a:pPr lvl="1"/>
            <a:r>
              <a:rPr lang="en-MY" dirty="0"/>
              <a:t>Allocate imaginary budget to requirements</a:t>
            </a:r>
          </a:p>
          <a:p>
            <a:pPr lvl="1"/>
            <a:r>
              <a:rPr lang="en-MY" dirty="0"/>
              <a:t>Reflects perceived stakeholder value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604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8CEB-9885-85D8-4009-77E879ABF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Value vs. Complexity Matrix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CF71D-1441-10A1-758D-EA8528F76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dirty="0"/>
              <a:t>Helps visualize the trade-off between value and implementation difficulty.</a:t>
            </a:r>
          </a:p>
          <a:p>
            <a:pPr>
              <a:buNone/>
            </a:pPr>
            <a:r>
              <a:rPr lang="en-MY" b="1" dirty="0"/>
              <a:t>Quadrants:</a:t>
            </a:r>
            <a:endParaRPr lang="en-MY" dirty="0"/>
          </a:p>
          <a:p>
            <a:pPr lvl="1"/>
            <a:r>
              <a:rPr lang="en-MY" dirty="0"/>
              <a:t>High value, low effort: Prioritize</a:t>
            </a:r>
          </a:p>
          <a:p>
            <a:pPr lvl="1"/>
            <a:r>
              <a:rPr lang="en-MY" dirty="0"/>
              <a:t>High value, high effort: Plan with caution</a:t>
            </a:r>
          </a:p>
          <a:p>
            <a:pPr lvl="1"/>
            <a:r>
              <a:rPr lang="en-MY" dirty="0"/>
              <a:t>Low value, low effort: Consider</a:t>
            </a:r>
          </a:p>
          <a:p>
            <a:pPr lvl="1"/>
            <a:r>
              <a:rPr lang="en-MY" dirty="0"/>
              <a:t>Low value, high effort: Avoid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595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3FD28C-149F-EDBC-E78D-23C920335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MY" b="1" dirty="0"/>
              <a:t>Example - Mobile Banking App Features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9D16E7-7B8A-34D4-C9FE-C62383BFF9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8365974"/>
              </p:ext>
            </p:extLst>
          </p:nvPr>
        </p:nvGraphicFramePr>
        <p:xfrm>
          <a:off x="838200" y="1953313"/>
          <a:ext cx="10515600" cy="4303434"/>
        </p:xfrm>
        <a:graphic>
          <a:graphicData uri="http://schemas.openxmlformats.org/drawingml/2006/table">
            <a:tbl>
              <a:tblPr/>
              <a:tblGrid>
                <a:gridCol w="6689781">
                  <a:extLst>
                    <a:ext uri="{9D8B030D-6E8A-4147-A177-3AD203B41FA5}">
                      <a16:colId xmlns:a16="http://schemas.microsoft.com/office/drawing/2014/main" val="1735639742"/>
                    </a:ext>
                  </a:extLst>
                </a:gridCol>
                <a:gridCol w="3825819">
                  <a:extLst>
                    <a:ext uri="{9D8B030D-6E8A-4147-A177-3AD203B41FA5}">
                      <a16:colId xmlns:a16="http://schemas.microsoft.com/office/drawing/2014/main" val="2638583986"/>
                    </a:ext>
                  </a:extLst>
                </a:gridCol>
              </a:tblGrid>
              <a:tr h="717239">
                <a:tc>
                  <a:txBody>
                    <a:bodyPr/>
                    <a:lstStyle/>
                    <a:p>
                      <a:r>
                        <a:rPr lang="en-MY" sz="3200"/>
                        <a:t>Feature</a:t>
                      </a:r>
                    </a:p>
                  </a:txBody>
                  <a:tcPr marL="163009" marR="163009" marT="81504" marB="81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3200"/>
                        <a:t>Priority</a:t>
                      </a:r>
                    </a:p>
                  </a:txBody>
                  <a:tcPr marL="163009" marR="163009" marT="81504" marB="81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223589"/>
                  </a:ext>
                </a:extLst>
              </a:tr>
              <a:tr h="717239">
                <a:tc>
                  <a:txBody>
                    <a:bodyPr/>
                    <a:lstStyle/>
                    <a:p>
                      <a:r>
                        <a:rPr lang="en-MY" sz="3200"/>
                        <a:t>Login/Signup</a:t>
                      </a:r>
                    </a:p>
                  </a:txBody>
                  <a:tcPr marL="163009" marR="163009" marT="81504" marB="81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3200"/>
                        <a:t>Must</a:t>
                      </a:r>
                    </a:p>
                  </a:txBody>
                  <a:tcPr marL="163009" marR="163009" marT="81504" marB="81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600361"/>
                  </a:ext>
                </a:extLst>
              </a:tr>
              <a:tr h="717239">
                <a:tc>
                  <a:txBody>
                    <a:bodyPr/>
                    <a:lstStyle/>
                    <a:p>
                      <a:r>
                        <a:rPr lang="en-MY" sz="3200"/>
                        <a:t>View Balance</a:t>
                      </a:r>
                    </a:p>
                  </a:txBody>
                  <a:tcPr marL="163009" marR="163009" marT="81504" marB="81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3200"/>
                        <a:t>Must</a:t>
                      </a:r>
                    </a:p>
                  </a:txBody>
                  <a:tcPr marL="163009" marR="163009" marT="81504" marB="81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029820"/>
                  </a:ext>
                </a:extLst>
              </a:tr>
              <a:tr h="717239">
                <a:tc>
                  <a:txBody>
                    <a:bodyPr/>
                    <a:lstStyle/>
                    <a:p>
                      <a:r>
                        <a:rPr lang="en-MY" sz="3200"/>
                        <a:t>Fund Transfer</a:t>
                      </a:r>
                    </a:p>
                  </a:txBody>
                  <a:tcPr marL="163009" marR="163009" marT="81504" marB="81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3200"/>
                        <a:t>Should</a:t>
                      </a:r>
                    </a:p>
                  </a:txBody>
                  <a:tcPr marL="163009" marR="163009" marT="81504" marB="81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771474"/>
                  </a:ext>
                </a:extLst>
              </a:tr>
              <a:tr h="717239">
                <a:tc>
                  <a:txBody>
                    <a:bodyPr/>
                    <a:lstStyle/>
                    <a:p>
                      <a:r>
                        <a:rPr lang="en-MY" sz="3200"/>
                        <a:t>Budget Planner</a:t>
                      </a:r>
                    </a:p>
                  </a:txBody>
                  <a:tcPr marL="163009" marR="163009" marT="81504" marB="81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3200"/>
                        <a:t>Could</a:t>
                      </a:r>
                    </a:p>
                  </a:txBody>
                  <a:tcPr marL="163009" marR="163009" marT="81504" marB="81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110626"/>
                  </a:ext>
                </a:extLst>
              </a:tr>
              <a:tr h="717239">
                <a:tc>
                  <a:txBody>
                    <a:bodyPr/>
                    <a:lstStyle/>
                    <a:p>
                      <a:r>
                        <a:rPr lang="en-MY" sz="3200"/>
                        <a:t>Crypto Trading</a:t>
                      </a:r>
                    </a:p>
                  </a:txBody>
                  <a:tcPr marL="163009" marR="163009" marT="81504" marB="81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3200" dirty="0"/>
                        <a:t>Won’t</a:t>
                      </a:r>
                    </a:p>
                  </a:txBody>
                  <a:tcPr marL="163009" marR="163009" marT="81504" marB="815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727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5661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85758-F382-4D2D-FE98-127F52173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Why Requirements Change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952AF-0E66-26D0-8E1B-276188C88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dirty="0"/>
              <a:t>Change is inevitable in software development. Recognizing and managing change is critical.</a:t>
            </a:r>
          </a:p>
          <a:p>
            <a:pPr>
              <a:buNone/>
            </a:pPr>
            <a:r>
              <a:rPr lang="en-MY" b="1" dirty="0"/>
              <a:t>Reasons:</a:t>
            </a:r>
            <a:endParaRPr lang="en-MY" dirty="0"/>
          </a:p>
          <a:p>
            <a:pPr lvl="1"/>
            <a:r>
              <a:rPr lang="en-MY" dirty="0"/>
              <a:t>New insights or feedback</a:t>
            </a:r>
          </a:p>
          <a:p>
            <a:pPr lvl="1"/>
            <a:r>
              <a:rPr lang="en-MY" dirty="0"/>
              <a:t>Legal compliance</a:t>
            </a:r>
          </a:p>
          <a:p>
            <a:pPr lvl="1"/>
            <a:r>
              <a:rPr lang="en-MY" dirty="0"/>
              <a:t>Feature gaps</a:t>
            </a:r>
          </a:p>
          <a:p>
            <a:pPr lvl="1"/>
            <a:r>
              <a:rPr lang="en-MY" dirty="0"/>
              <a:t>New technologies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752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97CEE-DD1A-8DCB-90F1-CAEE4BE8E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Change Management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0169F-B4CD-C9B2-CB65-E06166E6F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b="1" dirty="0"/>
              <a:t>Steps:</a:t>
            </a:r>
            <a:endParaRPr lang="en-MY" dirty="0"/>
          </a:p>
          <a:p>
            <a:pPr lvl="1">
              <a:buFont typeface="+mj-lt"/>
              <a:buAutoNum type="arabicPeriod"/>
            </a:pPr>
            <a:r>
              <a:rPr lang="en-MY" dirty="0"/>
              <a:t>Submit change request</a:t>
            </a:r>
          </a:p>
          <a:p>
            <a:pPr lvl="1">
              <a:buFont typeface="+mj-lt"/>
              <a:buAutoNum type="arabicPeriod"/>
            </a:pPr>
            <a:r>
              <a:rPr lang="en-MY" dirty="0" err="1"/>
              <a:t>Analyze</a:t>
            </a:r>
            <a:r>
              <a:rPr lang="en-MY" dirty="0"/>
              <a:t> impact</a:t>
            </a:r>
          </a:p>
          <a:p>
            <a:pPr lvl="1">
              <a:buFont typeface="+mj-lt"/>
              <a:buAutoNum type="arabicPeriod"/>
            </a:pPr>
            <a:r>
              <a:rPr lang="en-MY" dirty="0"/>
              <a:t>Review with stakeholders</a:t>
            </a:r>
          </a:p>
          <a:p>
            <a:pPr lvl="1">
              <a:buFont typeface="+mj-lt"/>
              <a:buAutoNum type="arabicPeriod"/>
            </a:pPr>
            <a:r>
              <a:rPr lang="en-MY" dirty="0"/>
              <a:t>Approve or reject</a:t>
            </a:r>
          </a:p>
          <a:p>
            <a:pPr lvl="1">
              <a:buFont typeface="+mj-lt"/>
              <a:buAutoNum type="arabicPeriod"/>
            </a:pPr>
            <a:r>
              <a:rPr lang="en-MY" dirty="0"/>
              <a:t>Update baseline and notify team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70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B17F1-7820-487B-867D-85DA24290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Requirements Baselines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A91BD-8962-2BE9-952F-6EB9EA40B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dirty="0"/>
              <a:t>A baseline freezes the requirements at a given time. All future changes must follow formal procedures.</a:t>
            </a:r>
          </a:p>
          <a:p>
            <a:pPr>
              <a:buNone/>
            </a:pPr>
            <a:r>
              <a:rPr lang="en-MY" b="1" dirty="0"/>
              <a:t>Benefits:</a:t>
            </a: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Provides a reference point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Supports project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Controls scope creep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31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A0DC-66BD-A970-7ECA-730F85111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Configuration Management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F243D-7691-C18D-C6F0-1A5DC0440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MY" b="1" dirty="0"/>
              <a:t>Includes:</a:t>
            </a: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Version control (e.g., Git)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Change logs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Release notes</a:t>
            </a:r>
          </a:p>
          <a:p>
            <a:pPr>
              <a:buNone/>
            </a:pPr>
            <a:r>
              <a:rPr lang="en-MY" b="1" dirty="0"/>
              <a:t>Benefits:</a:t>
            </a: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Reduces confusion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Tracks evolution over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202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B916E-16CA-B405-8CF1-67E7F0E43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Reusing Requirements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36D83-B358-5BD4-ECFB-665390247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MY" dirty="0"/>
              <a:t>Reusability leads to efficiency, especially for common modules.</a:t>
            </a:r>
          </a:p>
          <a:p>
            <a:endParaRPr lang="en-US" dirty="0"/>
          </a:p>
          <a:p>
            <a:pPr>
              <a:buNone/>
            </a:pPr>
            <a:r>
              <a:rPr lang="en-MY" b="1" dirty="0"/>
              <a:t>Examples of Reusable Requirements:</a:t>
            </a: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Login 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Email notifications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Role-based access</a:t>
            </a:r>
          </a:p>
          <a:p>
            <a:pPr>
              <a:buNone/>
            </a:pPr>
            <a:r>
              <a:rPr lang="en-MY" b="1" dirty="0"/>
              <a:t>Advantages:</a:t>
            </a:r>
            <a:endParaRPr lang="en-MY" dirty="0"/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Saves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Improves reliability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988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F2A1-72A4-D251-39B8-4A5CE1AE4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Recap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4799F-E461-7AAA-D844-E457D5378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Requirements are living documents. Managing them means tracking, prioritizing, controlling, and reusing.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Traceability ensures visibility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Prioritization helps decisions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Change must be controlled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Baselines keep projects stable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Reuse builds on past 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367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1631</TotalTime>
  <Words>716</Words>
  <Application>Microsoft Macintosh PowerPoint</Application>
  <PresentationFormat>Widescreen</PresentationFormat>
  <Paragraphs>136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Theme</vt:lpstr>
      <vt:lpstr>EC3290 – Software Requirements Engineering</vt:lpstr>
      <vt:lpstr>Learning Objectives</vt:lpstr>
      <vt:lpstr>Introduction to Requirements Evolution</vt:lpstr>
      <vt:lpstr>What Causes Requirements to Evolve?</vt:lpstr>
      <vt:lpstr>Real-World Example - Mobile Banking App</vt:lpstr>
      <vt:lpstr>Requirements Traceability</vt:lpstr>
      <vt:lpstr>Types of Traceability</vt:lpstr>
      <vt:lpstr>Traceability Example - Password Reset</vt:lpstr>
      <vt:lpstr>Tools for Traceability</vt:lpstr>
      <vt:lpstr>Requirements Prioritization</vt:lpstr>
      <vt:lpstr>MoSCoW Technique</vt:lpstr>
      <vt:lpstr>Kano Model and 100-Dollar Test</vt:lpstr>
      <vt:lpstr>Value vs. Complexity Matrix</vt:lpstr>
      <vt:lpstr>Example - Mobile Banking App Features</vt:lpstr>
      <vt:lpstr>Why Requirements Change</vt:lpstr>
      <vt:lpstr>Change Management Process</vt:lpstr>
      <vt:lpstr>Requirements Baselines</vt:lpstr>
      <vt:lpstr>Configuration Management</vt:lpstr>
      <vt:lpstr>Reusing Requirements</vt:lpstr>
      <vt:lpstr>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Izrulfizal Saufihamizal Bin Ibrahim</dc:creator>
  <cp:lastModifiedBy>Izrulfizal Saufihamizal Bin Ibrahim</cp:lastModifiedBy>
  <cp:revision>127</cp:revision>
  <dcterms:created xsi:type="dcterms:W3CDTF">2024-10-29T01:28:20Z</dcterms:created>
  <dcterms:modified xsi:type="dcterms:W3CDTF">2025-04-09T01:56:55Z</dcterms:modified>
</cp:coreProperties>
</file>